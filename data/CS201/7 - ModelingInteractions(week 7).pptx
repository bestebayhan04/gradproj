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0" r:id="rId1"/>
  </p:sldMasterIdLst>
  <p:notesMasterIdLst>
    <p:notesMasterId r:id="rId82"/>
  </p:notesMasterIdLst>
  <p:handoutMasterIdLst>
    <p:handoutMasterId r:id="rId83"/>
  </p:handoutMasterIdLst>
  <p:sldIdLst>
    <p:sldId id="438" r:id="rId2"/>
    <p:sldId id="426" r:id="rId3"/>
    <p:sldId id="430" r:id="rId4"/>
    <p:sldId id="356" r:id="rId5"/>
    <p:sldId id="335" r:id="rId6"/>
    <p:sldId id="391" r:id="rId7"/>
    <p:sldId id="355" r:id="rId8"/>
    <p:sldId id="431" r:id="rId9"/>
    <p:sldId id="389" r:id="rId10"/>
    <p:sldId id="393" r:id="rId11"/>
    <p:sldId id="394" r:id="rId12"/>
    <p:sldId id="395" r:id="rId13"/>
    <p:sldId id="396" r:id="rId14"/>
    <p:sldId id="427" r:id="rId15"/>
    <p:sldId id="397" r:id="rId16"/>
    <p:sldId id="398" r:id="rId17"/>
    <p:sldId id="399" r:id="rId18"/>
    <p:sldId id="401" r:id="rId19"/>
    <p:sldId id="412" r:id="rId20"/>
    <p:sldId id="402" r:id="rId21"/>
    <p:sldId id="400" r:id="rId22"/>
    <p:sldId id="403" r:id="rId23"/>
    <p:sldId id="404" r:id="rId24"/>
    <p:sldId id="406" r:id="rId25"/>
    <p:sldId id="407" r:id="rId26"/>
    <p:sldId id="408" r:id="rId27"/>
    <p:sldId id="409" r:id="rId28"/>
    <p:sldId id="410" r:id="rId29"/>
    <p:sldId id="411" r:id="rId30"/>
    <p:sldId id="432" r:id="rId31"/>
    <p:sldId id="338" r:id="rId32"/>
    <p:sldId id="336" r:id="rId33"/>
    <p:sldId id="359" r:id="rId34"/>
    <p:sldId id="433" r:id="rId35"/>
    <p:sldId id="434" r:id="rId36"/>
    <p:sldId id="435" r:id="rId37"/>
    <p:sldId id="414" r:id="rId38"/>
    <p:sldId id="415" r:id="rId39"/>
    <p:sldId id="416" r:id="rId40"/>
    <p:sldId id="417" r:id="rId41"/>
    <p:sldId id="418" r:id="rId42"/>
    <p:sldId id="419" r:id="rId43"/>
    <p:sldId id="420" r:id="rId44"/>
    <p:sldId id="421" r:id="rId45"/>
    <p:sldId id="422" r:id="rId46"/>
    <p:sldId id="423" r:id="rId47"/>
    <p:sldId id="424" r:id="rId48"/>
    <p:sldId id="341" r:id="rId49"/>
    <p:sldId id="373" r:id="rId50"/>
    <p:sldId id="342" r:id="rId51"/>
    <p:sldId id="345" r:id="rId52"/>
    <p:sldId id="343" r:id="rId53"/>
    <p:sldId id="374" r:id="rId54"/>
    <p:sldId id="346" r:id="rId55"/>
    <p:sldId id="347" r:id="rId56"/>
    <p:sldId id="348" r:id="rId57"/>
    <p:sldId id="362" r:id="rId58"/>
    <p:sldId id="363" r:id="rId59"/>
    <p:sldId id="349" r:id="rId60"/>
    <p:sldId id="375" r:id="rId61"/>
    <p:sldId id="364" r:id="rId62"/>
    <p:sldId id="365" r:id="rId63"/>
    <p:sldId id="350" r:id="rId64"/>
    <p:sldId id="436" r:id="rId65"/>
    <p:sldId id="437" r:id="rId66"/>
    <p:sldId id="352" r:id="rId67"/>
    <p:sldId id="366" r:id="rId68"/>
    <p:sldId id="377" r:id="rId69"/>
    <p:sldId id="367" r:id="rId70"/>
    <p:sldId id="386" r:id="rId71"/>
    <p:sldId id="428" r:id="rId72"/>
    <p:sldId id="429" r:id="rId73"/>
    <p:sldId id="378" r:id="rId74"/>
    <p:sldId id="379" r:id="rId75"/>
    <p:sldId id="383" r:id="rId76"/>
    <p:sldId id="387" r:id="rId77"/>
    <p:sldId id="384" r:id="rId78"/>
    <p:sldId id="385" r:id="rId79"/>
    <p:sldId id="369" r:id="rId80"/>
    <p:sldId id="425" r:id="rId81"/>
  </p:sldIdLst>
  <p:sldSz cx="9144000" cy="6858000" type="screen4x3"/>
  <p:notesSz cx="6985000" cy="9282113"/>
  <p:defaultTextStyle>
    <a:defPPr>
      <a:defRPr lang="en-US"/>
    </a:defPPr>
    <a:lvl1pPr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Times" charset="0"/>
        <a:ea typeface="ＭＳ Ｐゴシック" charset="0"/>
        <a:cs typeface="ＭＳ Ｐゴシック" charset="0"/>
      </a:defRPr>
    </a:lvl5pPr>
    <a:lvl6pPr marL="2286000" algn="l" defTabSz="457200" rtl="0" eaLnBrk="1" latinLnBrk="0" hangingPunct="1">
      <a:defRPr sz="2400" kern="1200">
        <a:solidFill>
          <a:schemeClr val="tx1"/>
        </a:solidFill>
        <a:latin typeface="Times" charset="0"/>
        <a:ea typeface="ＭＳ Ｐゴシック" charset="0"/>
        <a:cs typeface="ＭＳ Ｐゴシック" charset="0"/>
      </a:defRPr>
    </a:lvl6pPr>
    <a:lvl7pPr marL="2743200" algn="l" defTabSz="457200" rtl="0" eaLnBrk="1" latinLnBrk="0" hangingPunct="1">
      <a:defRPr sz="2400" kern="1200">
        <a:solidFill>
          <a:schemeClr val="tx1"/>
        </a:solidFill>
        <a:latin typeface="Times" charset="0"/>
        <a:ea typeface="ＭＳ Ｐゴシック" charset="0"/>
        <a:cs typeface="ＭＳ Ｐゴシック" charset="0"/>
      </a:defRPr>
    </a:lvl7pPr>
    <a:lvl8pPr marL="3200400" algn="l" defTabSz="457200" rtl="0" eaLnBrk="1" latinLnBrk="0" hangingPunct="1">
      <a:defRPr sz="2400" kern="1200">
        <a:solidFill>
          <a:schemeClr val="tx1"/>
        </a:solidFill>
        <a:latin typeface="Times" charset="0"/>
        <a:ea typeface="ＭＳ Ｐゴシック" charset="0"/>
        <a:cs typeface="ＭＳ Ｐゴシック" charset="0"/>
      </a:defRPr>
    </a:lvl8pPr>
    <a:lvl9pPr marL="3657600" algn="l" defTabSz="457200" rtl="0" eaLnBrk="1" latinLnBrk="0" hangingPunct="1">
      <a:defRPr sz="2400" kern="1200">
        <a:solidFill>
          <a:schemeClr val="tx1"/>
        </a:solidFill>
        <a:latin typeface="Time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42"/>
    <p:restoredTop sz="60357"/>
  </p:normalViewPr>
  <p:slideViewPr>
    <p:cSldViewPr>
      <p:cViewPr>
        <p:scale>
          <a:sx n="73" d="100"/>
          <a:sy n="73" d="100"/>
        </p:scale>
        <p:origin x="72"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484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949" tIns="46474" rIns="92949" bIns="46474" numCol="1" anchor="t" anchorCtr="0" compatLnSpc="1">
            <a:prstTxWarp prst="textNoShape">
              <a:avLst/>
            </a:prstTxWarp>
          </a:bodyPr>
          <a:lstStyle>
            <a:lvl1pPr defTabSz="930275">
              <a:defRPr sz="1200">
                <a:latin typeface="Times" pitchFamily="1" charset="0"/>
                <a:ea typeface="+mn-ea"/>
                <a:cs typeface="+mn-cs"/>
              </a:defRPr>
            </a:lvl1pPr>
          </a:lstStyle>
          <a:p>
            <a:pPr>
              <a:defRPr/>
            </a:pPr>
            <a:endParaRPr lang="en-US"/>
          </a:p>
        </p:txBody>
      </p:sp>
      <p:sp>
        <p:nvSpPr>
          <p:cNvPr id="92163" name="Rectangle 3"/>
          <p:cNvSpPr>
            <a:spLocks noGrp="1" noChangeArrowheads="1"/>
          </p:cNvSpPr>
          <p:nvPr>
            <p:ph type="dt" sz="quarter" idx="1"/>
          </p:nvPr>
        </p:nvSpPr>
        <p:spPr bwMode="auto">
          <a:xfrm>
            <a:off x="3957638" y="0"/>
            <a:ext cx="3027362" cy="463550"/>
          </a:xfrm>
          <a:prstGeom prst="rect">
            <a:avLst/>
          </a:prstGeom>
          <a:noFill/>
          <a:ln w="9525">
            <a:noFill/>
            <a:miter lim="800000"/>
            <a:headEnd/>
            <a:tailEnd/>
          </a:ln>
          <a:effectLst/>
        </p:spPr>
        <p:txBody>
          <a:bodyPr vert="horz" wrap="square" lIns="92949" tIns="46474" rIns="92949" bIns="46474" numCol="1" anchor="t" anchorCtr="0" compatLnSpc="1">
            <a:prstTxWarp prst="textNoShape">
              <a:avLst/>
            </a:prstTxWarp>
          </a:bodyPr>
          <a:lstStyle>
            <a:lvl1pPr algn="r" defTabSz="930275">
              <a:defRPr sz="1200">
                <a:latin typeface="Times" pitchFamily="1" charset="0"/>
                <a:ea typeface="+mn-ea"/>
                <a:cs typeface="+mn-cs"/>
              </a:defRPr>
            </a:lvl1pPr>
          </a:lstStyle>
          <a:p>
            <a:pPr>
              <a:defRPr/>
            </a:pPr>
            <a:endParaRPr lang="en-US"/>
          </a:p>
        </p:txBody>
      </p:sp>
      <p:sp>
        <p:nvSpPr>
          <p:cNvPr id="92164" name="Rectangle 4"/>
          <p:cNvSpPr>
            <a:spLocks noGrp="1" noChangeArrowheads="1"/>
          </p:cNvSpPr>
          <p:nvPr>
            <p:ph type="ftr" sz="quarter" idx="2"/>
          </p:nvPr>
        </p:nvSpPr>
        <p:spPr bwMode="auto">
          <a:xfrm>
            <a:off x="0" y="8818563"/>
            <a:ext cx="3027363" cy="463550"/>
          </a:xfrm>
          <a:prstGeom prst="rect">
            <a:avLst/>
          </a:prstGeom>
          <a:noFill/>
          <a:ln w="9525">
            <a:noFill/>
            <a:miter lim="800000"/>
            <a:headEnd/>
            <a:tailEnd/>
          </a:ln>
          <a:effectLst/>
        </p:spPr>
        <p:txBody>
          <a:bodyPr vert="horz" wrap="square" lIns="92949" tIns="46474" rIns="92949" bIns="46474" numCol="1" anchor="b" anchorCtr="0" compatLnSpc="1">
            <a:prstTxWarp prst="textNoShape">
              <a:avLst/>
            </a:prstTxWarp>
          </a:bodyPr>
          <a:lstStyle>
            <a:lvl1pPr defTabSz="930275">
              <a:defRPr sz="1200">
                <a:latin typeface="Times" pitchFamily="1" charset="0"/>
                <a:ea typeface="+mn-ea"/>
                <a:cs typeface="+mn-cs"/>
              </a:defRPr>
            </a:lvl1pPr>
          </a:lstStyle>
          <a:p>
            <a:pPr>
              <a:defRPr/>
            </a:pPr>
            <a:endParaRPr lang="en-US"/>
          </a:p>
        </p:txBody>
      </p:sp>
      <p:sp>
        <p:nvSpPr>
          <p:cNvPr id="92165" name="Rectangle 5"/>
          <p:cNvSpPr>
            <a:spLocks noGrp="1" noChangeArrowheads="1"/>
          </p:cNvSpPr>
          <p:nvPr>
            <p:ph type="sldNum" sz="quarter" idx="3"/>
          </p:nvPr>
        </p:nvSpPr>
        <p:spPr bwMode="auto">
          <a:xfrm>
            <a:off x="3957638" y="8818563"/>
            <a:ext cx="3027362" cy="463550"/>
          </a:xfrm>
          <a:prstGeom prst="rect">
            <a:avLst/>
          </a:prstGeom>
          <a:noFill/>
          <a:ln w="9525">
            <a:noFill/>
            <a:miter lim="800000"/>
            <a:headEnd/>
            <a:tailEnd/>
          </a:ln>
          <a:effectLst/>
        </p:spPr>
        <p:txBody>
          <a:bodyPr vert="horz" wrap="square" lIns="92949" tIns="46474" rIns="92949" bIns="46474" numCol="1" anchor="b" anchorCtr="0" compatLnSpc="1">
            <a:prstTxWarp prst="textNoShape">
              <a:avLst/>
            </a:prstTxWarp>
          </a:bodyPr>
          <a:lstStyle>
            <a:lvl1pPr algn="r" defTabSz="930275">
              <a:defRPr sz="1200"/>
            </a:lvl1pPr>
          </a:lstStyle>
          <a:p>
            <a:fld id="{89B1CCCF-6ABE-A24E-893C-6CB0A61CA417}" type="slidenum">
              <a:rPr lang="en-US"/>
              <a:pPr/>
              <a:t>‹#›</a:t>
            </a:fld>
            <a:endParaRPr lang="en-US"/>
          </a:p>
        </p:txBody>
      </p:sp>
    </p:spTree>
    <p:extLst>
      <p:ext uri="{BB962C8B-B14F-4D97-AF65-F5344CB8AC3E}">
        <p14:creationId xmlns:p14="http://schemas.microsoft.com/office/powerpoint/2010/main" val="1939256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27363" cy="463550"/>
          </a:xfrm>
          <a:prstGeom prst="rect">
            <a:avLst/>
          </a:prstGeom>
          <a:noFill/>
          <a:ln w="9525">
            <a:noFill/>
            <a:miter lim="800000"/>
            <a:headEnd/>
            <a:tailEnd/>
          </a:ln>
          <a:effectLst/>
        </p:spPr>
        <p:txBody>
          <a:bodyPr vert="horz" wrap="square" lIns="92949" tIns="46474" rIns="92949" bIns="46474" numCol="1" anchor="t" anchorCtr="0" compatLnSpc="1">
            <a:prstTxWarp prst="textNoShape">
              <a:avLst/>
            </a:prstTxWarp>
          </a:bodyPr>
          <a:lstStyle>
            <a:lvl1pPr defTabSz="930275">
              <a:defRPr sz="1200">
                <a:latin typeface="Times" pitchFamily="1" charset="0"/>
                <a:ea typeface="+mn-ea"/>
                <a:cs typeface="+mn-cs"/>
              </a:defRPr>
            </a:lvl1pPr>
          </a:lstStyle>
          <a:p>
            <a:pPr>
              <a:defRPr/>
            </a:pPr>
            <a:endParaRPr lang="en-US"/>
          </a:p>
        </p:txBody>
      </p:sp>
      <p:sp>
        <p:nvSpPr>
          <p:cNvPr id="10243" name="Rectangle 3"/>
          <p:cNvSpPr>
            <a:spLocks noGrp="1" noChangeArrowheads="1"/>
          </p:cNvSpPr>
          <p:nvPr>
            <p:ph type="dt" idx="1"/>
          </p:nvPr>
        </p:nvSpPr>
        <p:spPr bwMode="auto">
          <a:xfrm>
            <a:off x="3957638" y="0"/>
            <a:ext cx="3027362" cy="463550"/>
          </a:xfrm>
          <a:prstGeom prst="rect">
            <a:avLst/>
          </a:prstGeom>
          <a:noFill/>
          <a:ln w="9525">
            <a:noFill/>
            <a:miter lim="800000"/>
            <a:headEnd/>
            <a:tailEnd/>
          </a:ln>
          <a:effectLst/>
        </p:spPr>
        <p:txBody>
          <a:bodyPr vert="horz" wrap="square" lIns="92949" tIns="46474" rIns="92949" bIns="46474" numCol="1" anchor="t" anchorCtr="0" compatLnSpc="1">
            <a:prstTxWarp prst="textNoShape">
              <a:avLst/>
            </a:prstTxWarp>
          </a:bodyPr>
          <a:lstStyle>
            <a:lvl1pPr algn="r" defTabSz="930275">
              <a:defRPr sz="1200">
                <a:latin typeface="Times" pitchFamily="1" charset="0"/>
                <a:ea typeface="+mn-ea"/>
                <a:cs typeface="+mn-cs"/>
              </a:defRPr>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71575" y="696913"/>
            <a:ext cx="4641850" cy="3479800"/>
          </a:xfrm>
          <a:prstGeom prst="rect">
            <a:avLst/>
          </a:prstGeom>
          <a:noFill/>
          <a:ln w="9525">
            <a:solidFill>
              <a:srgbClr val="000000"/>
            </a:solidFill>
            <a:miter lim="800000"/>
            <a:headEnd/>
            <a:tailEnd/>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Lst>
        </p:spPr>
      </p:sp>
      <p:sp>
        <p:nvSpPr>
          <p:cNvPr id="10245" name="Rectangle 5"/>
          <p:cNvSpPr>
            <a:spLocks noGrp="1" noChangeArrowheads="1"/>
          </p:cNvSpPr>
          <p:nvPr>
            <p:ph type="body" sz="quarter" idx="3"/>
          </p:nvPr>
        </p:nvSpPr>
        <p:spPr bwMode="auto">
          <a:xfrm>
            <a:off x="931863" y="4408488"/>
            <a:ext cx="5121275" cy="4176712"/>
          </a:xfrm>
          <a:prstGeom prst="rect">
            <a:avLst/>
          </a:prstGeom>
          <a:noFill/>
          <a:ln w="9525">
            <a:noFill/>
            <a:miter lim="800000"/>
            <a:headEnd/>
            <a:tailEnd/>
          </a:ln>
          <a:effectLst/>
        </p:spPr>
        <p:txBody>
          <a:bodyPr vert="horz" wrap="square" lIns="92949" tIns="46474" rIns="92949" bIns="4647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0" y="8818563"/>
            <a:ext cx="3027363" cy="463550"/>
          </a:xfrm>
          <a:prstGeom prst="rect">
            <a:avLst/>
          </a:prstGeom>
          <a:noFill/>
          <a:ln w="9525">
            <a:noFill/>
            <a:miter lim="800000"/>
            <a:headEnd/>
            <a:tailEnd/>
          </a:ln>
          <a:effectLst/>
        </p:spPr>
        <p:txBody>
          <a:bodyPr vert="horz" wrap="square" lIns="92949" tIns="46474" rIns="92949" bIns="46474" numCol="1" anchor="b" anchorCtr="0" compatLnSpc="1">
            <a:prstTxWarp prst="textNoShape">
              <a:avLst/>
            </a:prstTxWarp>
          </a:bodyPr>
          <a:lstStyle>
            <a:lvl1pPr defTabSz="930275">
              <a:defRPr sz="1200">
                <a:latin typeface="Times" pitchFamily="1" charset="0"/>
                <a:ea typeface="+mn-ea"/>
                <a:cs typeface="+mn-cs"/>
              </a:defRPr>
            </a:lvl1pPr>
          </a:lstStyle>
          <a:p>
            <a:pPr>
              <a:defRPr/>
            </a:pPr>
            <a:endParaRPr lang="en-US"/>
          </a:p>
        </p:txBody>
      </p:sp>
      <p:sp>
        <p:nvSpPr>
          <p:cNvPr id="10247" name="Rectangle 7"/>
          <p:cNvSpPr>
            <a:spLocks noGrp="1" noChangeArrowheads="1"/>
          </p:cNvSpPr>
          <p:nvPr>
            <p:ph type="sldNum" sz="quarter" idx="5"/>
          </p:nvPr>
        </p:nvSpPr>
        <p:spPr bwMode="auto">
          <a:xfrm>
            <a:off x="3957638" y="8818563"/>
            <a:ext cx="3027362" cy="463550"/>
          </a:xfrm>
          <a:prstGeom prst="rect">
            <a:avLst/>
          </a:prstGeom>
          <a:noFill/>
          <a:ln w="9525">
            <a:noFill/>
            <a:miter lim="800000"/>
            <a:headEnd/>
            <a:tailEnd/>
          </a:ln>
          <a:effectLst/>
        </p:spPr>
        <p:txBody>
          <a:bodyPr vert="horz" wrap="square" lIns="92949" tIns="46474" rIns="92949" bIns="46474" numCol="1" anchor="b" anchorCtr="0" compatLnSpc="1">
            <a:prstTxWarp prst="textNoShape">
              <a:avLst/>
            </a:prstTxWarp>
          </a:bodyPr>
          <a:lstStyle>
            <a:lvl1pPr algn="r" defTabSz="930275">
              <a:defRPr sz="1200"/>
            </a:lvl1pPr>
          </a:lstStyle>
          <a:p>
            <a:fld id="{C73769BF-1932-1C4E-B3FD-45F1C54575D4}" type="slidenum">
              <a:rPr lang="en-US"/>
              <a:pPr/>
              <a:t>‹#›</a:t>
            </a:fld>
            <a:endParaRPr lang="en-US"/>
          </a:p>
        </p:txBody>
      </p:sp>
    </p:spTree>
    <p:extLst>
      <p:ext uri="{BB962C8B-B14F-4D97-AF65-F5344CB8AC3E}">
        <p14:creationId xmlns:p14="http://schemas.microsoft.com/office/powerpoint/2010/main" val="33565434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 charset="0"/>
        <a:ea typeface="ＭＳ Ｐゴシック" pitchFamily="-1" charset="-128"/>
        <a:cs typeface="ＭＳ Ｐゴシック" pitchFamily="-1" charset="-128"/>
      </a:defRPr>
    </a:lvl1pPr>
    <a:lvl2pPr marL="457200" algn="l" rtl="0" eaLnBrk="0" fontAlgn="base" hangingPunct="0">
      <a:spcBef>
        <a:spcPct val="30000"/>
      </a:spcBef>
      <a:spcAft>
        <a:spcPct val="0"/>
      </a:spcAft>
      <a:defRPr sz="1200" kern="1200">
        <a:solidFill>
          <a:schemeClr val="tx1"/>
        </a:solidFill>
        <a:latin typeface="Times" pitchFamily="1"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pitchFamily="1"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pitchFamily="1"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pitchFamily="1"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400">
                <a:solidFill>
                  <a:schemeClr val="tx1"/>
                </a:solidFill>
                <a:latin typeface="Times New Roman" charset="0"/>
                <a:ea typeface="ＭＳ Ｐゴシック" charset="0"/>
                <a:cs typeface="ＭＳ Ｐゴシック" charset="0"/>
              </a:defRPr>
            </a:lvl1pPr>
            <a:lvl2pPr marL="37931725" indent="-37474525" eaLnBrk="0" hangingPunct="0">
              <a:defRPr sz="2400">
                <a:solidFill>
                  <a:schemeClr val="tx1"/>
                </a:solidFill>
                <a:latin typeface="Times New Roman" charset="0"/>
                <a:ea typeface="ＭＳ Ｐゴシック" charset="0"/>
              </a:defRPr>
            </a:lvl2pPr>
            <a:lvl3pPr eaLnBrk="0" hangingPunct="0">
              <a:defRPr sz="2400">
                <a:solidFill>
                  <a:schemeClr val="tx1"/>
                </a:solidFill>
                <a:latin typeface="Times New Roman" charset="0"/>
                <a:ea typeface="ＭＳ Ｐゴシック" charset="0"/>
              </a:defRPr>
            </a:lvl3pPr>
            <a:lvl4pPr eaLnBrk="0" hangingPunct="0">
              <a:defRPr sz="2400">
                <a:solidFill>
                  <a:schemeClr val="tx1"/>
                </a:solidFill>
                <a:latin typeface="Times New Roman" charset="0"/>
                <a:ea typeface="ＭＳ Ｐゴシック" charset="0"/>
              </a:defRPr>
            </a:lvl4pPr>
            <a:lvl5pPr eaLnBrk="0" hangingPunct="0">
              <a:defRPr sz="2400">
                <a:solidFill>
                  <a:schemeClr val="tx1"/>
                </a:solidFill>
                <a:latin typeface="Times New Roman" charset="0"/>
                <a:ea typeface="ＭＳ Ｐゴシック" charset="0"/>
              </a:defRPr>
            </a:lvl5pPr>
            <a:lvl6pPr marL="457200" eaLnBrk="0" fontAlgn="base" hangingPunct="0">
              <a:spcBef>
                <a:spcPct val="0"/>
              </a:spcBef>
              <a:spcAft>
                <a:spcPct val="0"/>
              </a:spcAft>
              <a:defRPr sz="2400">
                <a:solidFill>
                  <a:schemeClr val="tx1"/>
                </a:solidFill>
                <a:latin typeface="Times New Roman" charset="0"/>
                <a:ea typeface="ＭＳ Ｐゴシック" charset="0"/>
              </a:defRPr>
            </a:lvl6pPr>
            <a:lvl7pPr marL="914400" eaLnBrk="0" fontAlgn="base" hangingPunct="0">
              <a:spcBef>
                <a:spcPct val="0"/>
              </a:spcBef>
              <a:spcAft>
                <a:spcPct val="0"/>
              </a:spcAft>
              <a:defRPr sz="2400">
                <a:solidFill>
                  <a:schemeClr val="tx1"/>
                </a:solidFill>
                <a:latin typeface="Times New Roman" charset="0"/>
                <a:ea typeface="ＭＳ Ｐゴシック" charset="0"/>
              </a:defRPr>
            </a:lvl7pPr>
            <a:lvl8pPr marL="1371600" eaLnBrk="0" fontAlgn="base" hangingPunct="0">
              <a:spcBef>
                <a:spcPct val="0"/>
              </a:spcBef>
              <a:spcAft>
                <a:spcPct val="0"/>
              </a:spcAft>
              <a:defRPr sz="2400">
                <a:solidFill>
                  <a:schemeClr val="tx1"/>
                </a:solidFill>
                <a:latin typeface="Times New Roman" charset="0"/>
                <a:ea typeface="ＭＳ Ｐゴシック" charset="0"/>
              </a:defRPr>
            </a:lvl8pPr>
            <a:lvl9pPr marL="1828800" eaLnBrk="0" fontAlgn="base" hangingPunct="0">
              <a:spcBef>
                <a:spcPct val="0"/>
              </a:spcBef>
              <a:spcAft>
                <a:spcPct val="0"/>
              </a:spcAft>
              <a:defRPr sz="2400">
                <a:solidFill>
                  <a:schemeClr val="tx1"/>
                </a:solidFill>
                <a:latin typeface="Times New Roman" charset="0"/>
                <a:ea typeface="ＭＳ Ｐゴシック" charset="0"/>
              </a:defRPr>
            </a:lvl9pPr>
          </a:lstStyle>
          <a:p>
            <a:fld id="{FEBA1993-29E7-B544-A7AD-32AFD37CE757}" type="slidenum">
              <a:rPr lang="en-US" sz="1200">
                <a:latin typeface="Times" charset="0"/>
              </a:rPr>
              <a:pPr/>
              <a:t>1</a:t>
            </a:fld>
            <a:endParaRPr lang="en-US" sz="1200">
              <a:latin typeface="Times" charset="0"/>
            </a:endParaRPr>
          </a:p>
        </p:txBody>
      </p:sp>
      <p:sp>
        <p:nvSpPr>
          <p:cNvPr id="15363" name="Rectangle 2"/>
          <p:cNvSpPr>
            <a:spLocks noGrp="1" noRot="1" noChangeAspect="1" noChangeArrowheads="1" noTextEdit="1"/>
          </p:cNvSpPr>
          <p:nvPr>
            <p:ph type="sldImg"/>
          </p:nvPr>
        </p:nvSpPr>
        <p:spPr>
          <a:xfrm>
            <a:off x="1173163" y="696913"/>
            <a:ext cx="4638675" cy="3479800"/>
          </a:xfrm>
          <a:ln/>
        </p:spPr>
      </p:sp>
      <p:sp>
        <p:nvSpPr>
          <p:cNvPr id="1536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tr-TR">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15509448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xfrm>
            <a:off x="1173163" y="696913"/>
            <a:ext cx="4638675" cy="3479800"/>
          </a:xfrm>
          <a:ln/>
        </p:spPr>
      </p:sp>
      <p:sp>
        <p:nvSpPr>
          <p:cNvPr id="2150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latin typeface="Times" charset="0"/>
              <a:ea typeface="ＭＳ Ｐゴシック" charset="0"/>
              <a:cs typeface="ＭＳ Ｐゴシック"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73163" y="696913"/>
            <a:ext cx="4638675" cy="3479800"/>
          </a:xfrm>
          <a:ln/>
        </p:spPr>
      </p:sp>
      <p:sp>
        <p:nvSpPr>
          <p:cNvPr id="23555"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Modeling Interactions and Behavior</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The focus is on </a:t>
            </a:r>
            <a:r>
              <a:rPr lang="en-US" b="1" i="0" u="none" strike="noStrike" dirty="0">
                <a:solidFill>
                  <a:srgbClr val="000000"/>
                </a:solidFill>
                <a:effectLst/>
              </a:rPr>
              <a:t>dynamic modeling</a:t>
            </a:r>
            <a:r>
              <a:rPr lang="en-US" b="0" i="0" u="none" strike="noStrike" dirty="0">
                <a:solidFill>
                  <a:srgbClr val="000000"/>
                </a:solidFill>
                <a:effectLst/>
              </a:rPr>
              <a:t> of a system. While static models (like class diagrams) focus on the structure, dynamic models illustrate how parts of the system interact and respond to events.</a:t>
            </a:r>
          </a:p>
          <a:p>
            <a:pPr algn="l">
              <a:buFont typeface="Arial" panose="020B0604020202020204" pitchFamily="34" charset="0"/>
              <a:buChar char="•"/>
            </a:pPr>
            <a:r>
              <a:rPr lang="en-US" b="1" i="0" u="none" strike="noStrike" dirty="0">
                <a:solidFill>
                  <a:srgbClr val="000000"/>
                </a:solidFill>
                <a:effectLst/>
              </a:rPr>
              <a:t>Interaction modeling</a:t>
            </a:r>
            <a:r>
              <a:rPr lang="en-US" b="0" i="0" u="none" strike="noStrike" dirty="0">
                <a:solidFill>
                  <a:srgbClr val="000000"/>
                </a:solidFill>
                <a:effectLst/>
              </a:rPr>
              <a:t> shows how actors (users or systems) and objects exchange messages to achieve specific tasks.</a:t>
            </a:r>
          </a:p>
          <a:p>
            <a:pPr algn="l">
              <a:buFont typeface="Arial" panose="020B0604020202020204" pitchFamily="34" charset="0"/>
              <a:buChar char="•"/>
            </a:pPr>
            <a:r>
              <a:rPr lang="en-US" b="1" i="0" u="none" strike="noStrike" dirty="0">
                <a:solidFill>
                  <a:srgbClr val="000000"/>
                </a:solidFill>
                <a:effectLst/>
              </a:rPr>
              <a:t>Behavior modeling</a:t>
            </a:r>
            <a:r>
              <a:rPr lang="en-US" b="0" i="0" u="none" strike="noStrike" dirty="0">
                <a:solidFill>
                  <a:srgbClr val="000000"/>
                </a:solidFill>
                <a:effectLst/>
              </a:rPr>
              <a:t> demonstrates how a system or an object reacts to a series of events and transitions between different states.</a:t>
            </a:r>
          </a:p>
          <a:p>
            <a:pPr algn="l"/>
            <a:r>
              <a:rPr lang="en-US" b="1" i="0" u="none" strike="noStrike" dirty="0">
                <a:solidFill>
                  <a:srgbClr val="000000"/>
                </a:solidFill>
                <a:effectLst/>
              </a:rPr>
              <a:t>Additional Info</a:t>
            </a:r>
            <a:r>
              <a:rPr lang="en-US" b="0" i="0" u="none" strike="noStrike" dirty="0">
                <a:solidFill>
                  <a:srgbClr val="000000"/>
                </a:solidFill>
                <a:effectLst/>
              </a:rPr>
              <a:t>: Dynamic models are crucial in understanding the real-time operations of a system, such as user flows or system responses.</a:t>
            </a:r>
          </a:p>
          <a:p>
            <a:endParaRPr lang="tr-TR" dirty="0">
              <a:latin typeface="Times" charset="0"/>
              <a:ea typeface="ＭＳ Ｐゴシック" charset="0"/>
              <a:cs typeface="ＭＳ Ｐゴシック" charset="0"/>
            </a:endParaRPr>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25603" name="Rectangle 2"/>
          <p:cNvSpPr>
            <a:spLocks noGrp="1" noRot="1" noChangeAspect="1" noChangeArrowheads="1" noTextEdit="1"/>
          </p:cNvSpPr>
          <p:nvPr>
            <p:ph type="sldImg"/>
          </p:nvPr>
        </p:nvSpPr>
        <p:spPr>
          <a:xfrm>
            <a:off x="1173163" y="696913"/>
            <a:ext cx="4638675" cy="3479800"/>
          </a:xfrm>
          <a:ln/>
        </p:spPr>
      </p:sp>
      <p:sp>
        <p:nvSpPr>
          <p:cNvPr id="2560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Creating Interaction Diagrams</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Interaction diagrams can be of two types:</a:t>
            </a:r>
          </a:p>
          <a:p>
            <a:pPr marL="742950" lvl="1" indent="-285750" algn="l">
              <a:buFont typeface="Arial" panose="020B0604020202020204" pitchFamily="34" charset="0"/>
              <a:buChar char="•"/>
            </a:pPr>
            <a:r>
              <a:rPr lang="en-US" b="1" i="0" u="none" strike="noStrike" dirty="0">
                <a:solidFill>
                  <a:srgbClr val="000000"/>
                </a:solidFill>
                <a:effectLst/>
              </a:rPr>
              <a:t>Sequence Diagrams</a:t>
            </a:r>
            <a:r>
              <a:rPr lang="en-US" b="0" i="0" u="none" strike="noStrike" dirty="0">
                <a:solidFill>
                  <a:srgbClr val="000000"/>
                </a:solidFill>
                <a:effectLst/>
              </a:rPr>
              <a:t>: Focus on the sequence of messages exchanged during a task.</a:t>
            </a:r>
          </a:p>
          <a:p>
            <a:pPr marL="742950" lvl="1" indent="-285750" algn="l">
              <a:buFont typeface="Arial" panose="020B0604020202020204" pitchFamily="34" charset="0"/>
              <a:buChar char="•"/>
            </a:pPr>
            <a:r>
              <a:rPr lang="en-US" b="1" i="0" u="none" strike="noStrike" dirty="0">
                <a:solidFill>
                  <a:srgbClr val="000000"/>
                </a:solidFill>
                <a:effectLst/>
              </a:rPr>
              <a:t>Communication Diagrams</a:t>
            </a:r>
            <a:r>
              <a:rPr lang="en-US" b="0" i="0" u="none" strike="noStrike" dirty="0">
                <a:solidFill>
                  <a:srgbClr val="000000"/>
                </a:solidFill>
                <a:effectLst/>
              </a:rPr>
              <a:t>: Highlight object collaboration to complete interactions.</a:t>
            </a:r>
          </a:p>
          <a:p>
            <a:pPr algn="l"/>
            <a:r>
              <a:rPr lang="en-US" b="1" i="0" u="none" strike="noStrike" dirty="0">
                <a:solidFill>
                  <a:srgbClr val="000000"/>
                </a:solidFill>
                <a:effectLst/>
              </a:rPr>
              <a:t>Additional Info</a:t>
            </a:r>
            <a:r>
              <a:rPr lang="en-US" b="0" i="0" u="none" strike="noStrike" dirty="0">
                <a:solidFill>
                  <a:srgbClr val="000000"/>
                </a:solidFill>
                <a:effectLst/>
              </a:rPr>
              <a:t>: Both diagrams help in visualizing system dynamics but are used for slightly different purposes depending on the focus—sequence (order of interactions) vs. collaboration.</a:t>
            </a:r>
          </a:p>
          <a:p>
            <a:pPr algn="l"/>
            <a:endParaRPr lang="en-US" b="0" i="0" u="none" strike="noStrike" dirty="0">
              <a:solidFill>
                <a:srgbClr val="000000"/>
              </a:solidFill>
              <a:effectLst/>
            </a:endParaRPr>
          </a:p>
          <a:p>
            <a:pPr algn="l"/>
            <a:r>
              <a:rPr lang="en-US" b="1" i="0" u="none" strike="noStrike" dirty="0">
                <a:solidFill>
                  <a:srgbClr val="000000"/>
                </a:solidFill>
                <a:effectLst/>
              </a:rPr>
              <a:t>Turkish Explanation:</a:t>
            </a:r>
          </a:p>
          <a:p>
            <a:pPr algn="l">
              <a:buFont typeface="Arial" panose="020B0604020202020204" pitchFamily="34" charset="0"/>
              <a:buChar char="•"/>
            </a:pPr>
            <a:r>
              <a:rPr lang="en-US" b="0" i="0" u="none" strike="noStrike" dirty="0" err="1">
                <a:solidFill>
                  <a:srgbClr val="000000"/>
                </a:solidFill>
                <a:effectLst/>
              </a:rPr>
              <a:t>Etkileşim</a:t>
            </a:r>
            <a:r>
              <a:rPr lang="en-US" b="0" i="0" u="none" strike="noStrike" dirty="0">
                <a:solidFill>
                  <a:srgbClr val="000000"/>
                </a:solidFill>
                <a:effectLst/>
              </a:rPr>
              <a:t> </a:t>
            </a:r>
            <a:r>
              <a:rPr lang="en-US" b="0" i="0" u="none" strike="noStrike" dirty="0" err="1">
                <a:solidFill>
                  <a:srgbClr val="000000"/>
                </a:solidFill>
                <a:effectLst/>
              </a:rPr>
              <a:t>diyagramları</a:t>
            </a:r>
            <a:r>
              <a:rPr lang="en-US" b="0" i="0" u="none" strike="noStrike" dirty="0">
                <a:solidFill>
                  <a:srgbClr val="000000"/>
                </a:solidFill>
                <a:effectLst/>
              </a:rPr>
              <a:t> </a:t>
            </a:r>
            <a:r>
              <a:rPr lang="en-US" b="0" i="0" u="none" strike="noStrike" dirty="0" err="1">
                <a:solidFill>
                  <a:srgbClr val="000000"/>
                </a:solidFill>
                <a:effectLst/>
              </a:rPr>
              <a:t>iki</a:t>
            </a:r>
            <a:r>
              <a:rPr lang="en-US" b="0" i="0" u="none" strike="noStrike" dirty="0">
                <a:solidFill>
                  <a:srgbClr val="000000"/>
                </a:solidFill>
                <a:effectLst/>
              </a:rPr>
              <a:t> </a:t>
            </a:r>
            <a:r>
              <a:rPr lang="en-US" b="0" i="0" u="none" strike="noStrike" dirty="0" err="1">
                <a:solidFill>
                  <a:srgbClr val="000000"/>
                </a:solidFill>
                <a:effectLst/>
              </a:rPr>
              <a:t>türdür</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err="1">
                <a:solidFill>
                  <a:srgbClr val="000000"/>
                </a:solidFill>
                <a:effectLst/>
              </a:rPr>
              <a:t>Sıra</a:t>
            </a:r>
            <a:r>
              <a:rPr lang="en-US" b="1" i="0" u="none" strike="noStrike" dirty="0">
                <a:solidFill>
                  <a:srgbClr val="000000"/>
                </a:solidFill>
                <a:effectLst/>
              </a:rPr>
              <a:t> </a:t>
            </a:r>
            <a:r>
              <a:rPr lang="en-US" b="1" i="0" u="none" strike="noStrike" dirty="0" err="1">
                <a:solidFill>
                  <a:srgbClr val="000000"/>
                </a:solidFill>
                <a:effectLst/>
              </a:rPr>
              <a:t>Diyagramları</a:t>
            </a:r>
            <a:r>
              <a:rPr lang="en-US" b="1" i="0" u="none" strike="noStrike" dirty="0">
                <a:solidFill>
                  <a:srgbClr val="000000"/>
                </a:solidFill>
                <a:effectLst/>
              </a:rPr>
              <a:t> (Sequence Diagrams)</a:t>
            </a:r>
            <a:r>
              <a:rPr lang="en-US" b="0" i="0" u="none" strike="noStrike" dirty="0">
                <a:solidFill>
                  <a:srgbClr val="000000"/>
                </a:solidFill>
                <a:effectLst/>
              </a:rPr>
              <a:t>: Bir </a:t>
            </a:r>
            <a:r>
              <a:rPr lang="en-US" b="0" i="0" u="none" strike="noStrike" dirty="0" err="1">
                <a:solidFill>
                  <a:srgbClr val="000000"/>
                </a:solidFill>
                <a:effectLst/>
              </a:rPr>
              <a:t>görevi</a:t>
            </a:r>
            <a:r>
              <a:rPr lang="en-US" b="0" i="0" u="none" strike="noStrike" dirty="0">
                <a:solidFill>
                  <a:srgbClr val="000000"/>
                </a:solidFill>
                <a:effectLst/>
              </a:rPr>
              <a:t> </a:t>
            </a:r>
            <a:r>
              <a:rPr lang="en-US" b="0" i="0" u="none" strike="noStrike" dirty="0" err="1">
                <a:solidFill>
                  <a:srgbClr val="000000"/>
                </a:solidFill>
                <a:effectLst/>
              </a:rPr>
              <a:t>gerçekleştirirken</a:t>
            </a:r>
            <a:r>
              <a:rPr lang="en-US" b="0" i="0" u="none" strike="noStrike" dirty="0">
                <a:solidFill>
                  <a:srgbClr val="000000"/>
                </a:solidFill>
                <a:effectLst/>
              </a:rPr>
              <a:t> </a:t>
            </a:r>
            <a:r>
              <a:rPr lang="en-US" b="0" i="0" u="none" strike="noStrike" dirty="0" err="1">
                <a:solidFill>
                  <a:srgbClr val="000000"/>
                </a:solidFill>
                <a:effectLst/>
              </a:rPr>
              <a:t>değiş</a:t>
            </a:r>
            <a:r>
              <a:rPr lang="en-US" b="0" i="0" u="none" strike="noStrike" dirty="0">
                <a:solidFill>
                  <a:srgbClr val="000000"/>
                </a:solidFill>
                <a:effectLst/>
              </a:rPr>
              <a:t> </a:t>
            </a:r>
            <a:r>
              <a:rPr lang="en-US" b="0" i="0" u="none" strike="noStrike" dirty="0" err="1">
                <a:solidFill>
                  <a:srgbClr val="000000"/>
                </a:solidFill>
                <a:effectLst/>
              </a:rPr>
              <a:t>tokuş</a:t>
            </a:r>
            <a:r>
              <a:rPr lang="en-US" b="0" i="0" u="none" strike="noStrike" dirty="0">
                <a:solidFill>
                  <a:srgbClr val="000000"/>
                </a:solidFill>
                <a:effectLst/>
              </a:rPr>
              <a:t> </a:t>
            </a:r>
            <a:r>
              <a:rPr lang="en-US" b="0" i="0" u="none" strike="noStrike" dirty="0" err="1">
                <a:solidFill>
                  <a:srgbClr val="000000"/>
                </a:solidFill>
                <a:effectLst/>
              </a:rPr>
              <a:t>edilen</a:t>
            </a:r>
            <a:r>
              <a:rPr lang="en-US" b="0" i="0" u="none" strike="noStrike" dirty="0">
                <a:solidFill>
                  <a:srgbClr val="000000"/>
                </a:solidFill>
                <a:effectLst/>
              </a:rPr>
              <a:t> </a:t>
            </a:r>
            <a:r>
              <a:rPr lang="en-US" b="0" i="0" u="none" strike="noStrike" dirty="0" err="1">
                <a:solidFill>
                  <a:srgbClr val="000000"/>
                </a:solidFill>
                <a:effectLst/>
              </a:rPr>
              <a:t>mesajların</a:t>
            </a:r>
            <a:r>
              <a:rPr lang="en-US" b="0" i="0" u="none" strike="noStrike" dirty="0">
                <a:solidFill>
                  <a:srgbClr val="000000"/>
                </a:solidFill>
                <a:effectLst/>
              </a:rPr>
              <a:t> </a:t>
            </a:r>
            <a:r>
              <a:rPr lang="en-US" b="0" i="0" u="none" strike="noStrike" dirty="0" err="1">
                <a:solidFill>
                  <a:srgbClr val="000000"/>
                </a:solidFill>
                <a:effectLst/>
              </a:rPr>
              <a:t>sırasını</a:t>
            </a:r>
            <a:r>
              <a:rPr lang="en-US" b="0" i="0" u="none" strike="noStrike" dirty="0">
                <a:solidFill>
                  <a:srgbClr val="000000"/>
                </a:solidFill>
                <a:effectLst/>
              </a:rPr>
              <a:t> </a:t>
            </a:r>
            <a:r>
              <a:rPr lang="en-US" b="0" i="0" u="none" strike="noStrike" dirty="0" err="1">
                <a:solidFill>
                  <a:srgbClr val="000000"/>
                </a:solidFill>
                <a:effectLst/>
              </a:rPr>
              <a:t>gösterir</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err="1">
                <a:solidFill>
                  <a:srgbClr val="000000"/>
                </a:solidFill>
                <a:effectLst/>
              </a:rPr>
              <a:t>İletişim</a:t>
            </a:r>
            <a:r>
              <a:rPr lang="en-US" b="1" i="0" u="none" strike="noStrike" dirty="0">
                <a:solidFill>
                  <a:srgbClr val="000000"/>
                </a:solidFill>
                <a:effectLst/>
              </a:rPr>
              <a:t> </a:t>
            </a:r>
            <a:r>
              <a:rPr lang="en-US" b="1" i="0" u="none" strike="noStrike" dirty="0" err="1">
                <a:solidFill>
                  <a:srgbClr val="000000"/>
                </a:solidFill>
                <a:effectLst/>
              </a:rPr>
              <a:t>Diyagramları</a:t>
            </a:r>
            <a:r>
              <a:rPr lang="en-US" b="1" i="0" u="none" strike="noStrike" dirty="0">
                <a:solidFill>
                  <a:srgbClr val="000000"/>
                </a:solidFill>
                <a:effectLst/>
              </a:rPr>
              <a:t> (Communication Diagrams)</a:t>
            </a:r>
            <a:r>
              <a:rPr lang="en-US" b="0" i="0" u="none" strike="noStrike" dirty="0">
                <a:solidFill>
                  <a:srgbClr val="000000"/>
                </a:solidFill>
                <a:effectLst/>
              </a:rPr>
              <a:t>: </a:t>
            </a:r>
            <a:r>
              <a:rPr lang="en-US" b="0" i="0" u="none" strike="noStrike" dirty="0" err="1">
                <a:solidFill>
                  <a:srgbClr val="000000"/>
                </a:solidFill>
                <a:effectLst/>
              </a:rPr>
              <a:t>Nesnelerin</a:t>
            </a:r>
            <a:r>
              <a:rPr lang="en-US" b="0" i="0" u="none" strike="noStrike" dirty="0">
                <a:solidFill>
                  <a:srgbClr val="000000"/>
                </a:solidFill>
                <a:effectLst/>
              </a:rPr>
              <a:t> </a:t>
            </a:r>
            <a:r>
              <a:rPr lang="en-US" b="0" i="0" u="none" strike="noStrike" dirty="0" err="1">
                <a:solidFill>
                  <a:srgbClr val="000000"/>
                </a:solidFill>
                <a:effectLst/>
              </a:rPr>
              <a:t>iş</a:t>
            </a:r>
            <a:r>
              <a:rPr lang="en-US" b="0" i="0" u="none" strike="noStrike" dirty="0">
                <a:solidFill>
                  <a:srgbClr val="000000"/>
                </a:solidFill>
                <a:effectLst/>
              </a:rPr>
              <a:t> </a:t>
            </a:r>
            <a:r>
              <a:rPr lang="en-US" b="0" i="0" u="none" strike="noStrike" dirty="0" err="1">
                <a:solidFill>
                  <a:srgbClr val="000000"/>
                </a:solidFill>
                <a:effectLst/>
              </a:rPr>
              <a:t>birliğini</a:t>
            </a:r>
            <a:r>
              <a:rPr lang="en-US" b="0" i="0" u="none" strike="noStrike" dirty="0">
                <a:solidFill>
                  <a:srgbClr val="000000"/>
                </a:solidFill>
                <a:effectLst/>
              </a:rPr>
              <a:t> </a:t>
            </a:r>
            <a:r>
              <a:rPr lang="en-US" b="0" i="0" u="none" strike="noStrike" dirty="0" err="1">
                <a:solidFill>
                  <a:srgbClr val="000000"/>
                </a:solidFill>
                <a:effectLst/>
              </a:rPr>
              <a:t>vurgular</a:t>
            </a:r>
            <a:r>
              <a:rPr lang="en-US" b="0" i="0" u="none" strike="noStrike" dirty="0">
                <a:solidFill>
                  <a:srgbClr val="000000"/>
                </a:solidFill>
                <a:effectLst/>
              </a:rPr>
              <a:t>.</a:t>
            </a:r>
          </a:p>
          <a:p>
            <a:pPr algn="l"/>
            <a:r>
              <a:rPr lang="en-US" b="1" i="0" u="none" strike="noStrike" dirty="0">
                <a:solidFill>
                  <a:srgbClr val="000000"/>
                </a:solidFill>
                <a:effectLst/>
              </a:rPr>
              <a:t>Ekstra Bilgi</a:t>
            </a:r>
            <a:r>
              <a:rPr lang="en-US" b="0" i="0" u="none" strike="noStrike" dirty="0">
                <a:solidFill>
                  <a:srgbClr val="000000"/>
                </a:solidFill>
                <a:effectLst/>
              </a:rPr>
              <a:t>: Her </a:t>
            </a:r>
            <a:r>
              <a:rPr lang="en-US" b="0" i="0" u="none" strike="noStrike" dirty="0" err="1">
                <a:solidFill>
                  <a:srgbClr val="000000"/>
                </a:solidFill>
                <a:effectLst/>
              </a:rPr>
              <a:t>iki</a:t>
            </a:r>
            <a:r>
              <a:rPr lang="en-US" b="0" i="0" u="none" strike="noStrike" dirty="0">
                <a:solidFill>
                  <a:srgbClr val="000000"/>
                </a:solidFill>
                <a:effectLst/>
              </a:rPr>
              <a:t> </a:t>
            </a:r>
            <a:r>
              <a:rPr lang="en-US" b="0" i="0" u="none" strike="noStrike" dirty="0" err="1">
                <a:solidFill>
                  <a:srgbClr val="000000"/>
                </a:solidFill>
                <a:effectLst/>
              </a:rPr>
              <a:t>diyagram</a:t>
            </a:r>
            <a:r>
              <a:rPr lang="en-US" b="0" i="0" u="none" strike="noStrike" dirty="0">
                <a:solidFill>
                  <a:srgbClr val="000000"/>
                </a:solidFill>
                <a:effectLst/>
              </a:rPr>
              <a:t> da </a:t>
            </a:r>
            <a:r>
              <a:rPr lang="en-US" b="0" i="0" u="none" strike="noStrike" dirty="0" err="1">
                <a:solidFill>
                  <a:srgbClr val="000000"/>
                </a:solidFill>
                <a:effectLst/>
              </a:rPr>
              <a:t>sistem</a:t>
            </a:r>
            <a:r>
              <a:rPr lang="en-US" b="0" i="0" u="none" strike="noStrike" dirty="0">
                <a:solidFill>
                  <a:srgbClr val="000000"/>
                </a:solidFill>
                <a:effectLst/>
              </a:rPr>
              <a:t> </a:t>
            </a:r>
            <a:r>
              <a:rPr lang="en-US" b="0" i="0" u="none" strike="noStrike" dirty="0" err="1">
                <a:solidFill>
                  <a:srgbClr val="000000"/>
                </a:solidFill>
                <a:effectLst/>
              </a:rPr>
              <a:t>dinamiklerini</a:t>
            </a:r>
            <a:r>
              <a:rPr lang="en-US" b="0" i="0" u="none" strike="noStrike" dirty="0">
                <a:solidFill>
                  <a:srgbClr val="000000"/>
                </a:solidFill>
                <a:effectLst/>
              </a:rPr>
              <a:t> </a:t>
            </a:r>
            <a:r>
              <a:rPr lang="en-US" b="0" i="0" u="none" strike="noStrike" dirty="0" err="1">
                <a:solidFill>
                  <a:srgbClr val="000000"/>
                </a:solidFill>
                <a:effectLst/>
              </a:rPr>
              <a:t>görselleştirmek</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kullanılır</a:t>
            </a:r>
            <a:r>
              <a:rPr lang="en-US" b="0" i="0" u="none" strike="noStrike" dirty="0">
                <a:solidFill>
                  <a:srgbClr val="000000"/>
                </a:solidFill>
                <a:effectLst/>
              </a:rPr>
              <a:t>, </a:t>
            </a:r>
            <a:r>
              <a:rPr lang="en-US" b="0" i="0" u="none" strike="noStrike" dirty="0" err="1">
                <a:solidFill>
                  <a:srgbClr val="000000"/>
                </a:solidFill>
                <a:effectLst/>
              </a:rPr>
              <a:t>ancak</a:t>
            </a:r>
            <a:r>
              <a:rPr lang="en-US" b="0" i="0" u="none" strike="noStrike" dirty="0">
                <a:solidFill>
                  <a:srgbClr val="000000"/>
                </a:solidFill>
                <a:effectLst/>
              </a:rPr>
              <a:t> </a:t>
            </a:r>
            <a:r>
              <a:rPr lang="en-US" b="0" i="0" u="none" strike="noStrike" dirty="0" err="1">
                <a:solidFill>
                  <a:srgbClr val="000000"/>
                </a:solidFill>
                <a:effectLst/>
              </a:rPr>
              <a:t>odak</a:t>
            </a:r>
            <a:r>
              <a:rPr lang="en-US" b="0" i="0" u="none" strike="noStrike" dirty="0">
                <a:solidFill>
                  <a:srgbClr val="000000"/>
                </a:solidFill>
                <a:effectLst/>
              </a:rPr>
              <a:t> </a:t>
            </a:r>
            <a:r>
              <a:rPr lang="en-US" b="0" i="0" u="none" strike="noStrike" dirty="0" err="1">
                <a:solidFill>
                  <a:srgbClr val="000000"/>
                </a:solidFill>
                <a:effectLst/>
              </a:rPr>
              <a:t>noktası</a:t>
            </a:r>
            <a:r>
              <a:rPr lang="en-US" b="0" i="0" u="none" strike="noStrike" dirty="0">
                <a:solidFill>
                  <a:srgbClr val="000000"/>
                </a:solidFill>
                <a:effectLst/>
              </a:rPr>
              <a:t> (</a:t>
            </a:r>
            <a:r>
              <a:rPr lang="en-US" b="0" i="0" u="none" strike="noStrike" dirty="0" err="1">
                <a:solidFill>
                  <a:srgbClr val="000000"/>
                </a:solidFill>
                <a:effectLst/>
              </a:rPr>
              <a:t>sıra</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iş</a:t>
            </a:r>
            <a:r>
              <a:rPr lang="en-US" b="0" i="0" u="none" strike="noStrike" dirty="0">
                <a:solidFill>
                  <a:srgbClr val="000000"/>
                </a:solidFill>
                <a:effectLst/>
              </a:rPr>
              <a:t> </a:t>
            </a:r>
            <a:r>
              <a:rPr lang="en-US" b="0" i="0" u="none" strike="noStrike" dirty="0" err="1">
                <a:solidFill>
                  <a:srgbClr val="000000"/>
                </a:solidFill>
                <a:effectLst/>
              </a:rPr>
              <a:t>birliği</a:t>
            </a:r>
            <a:r>
              <a:rPr lang="en-US" b="0" i="0" u="none" strike="noStrike" dirty="0">
                <a:solidFill>
                  <a:srgbClr val="000000"/>
                </a:solidFill>
                <a:effectLst/>
              </a:rPr>
              <a:t>) </a:t>
            </a:r>
            <a:r>
              <a:rPr lang="en-US" b="0" i="0" u="none" strike="noStrike" dirty="0" err="1">
                <a:solidFill>
                  <a:srgbClr val="000000"/>
                </a:solidFill>
                <a:effectLst/>
              </a:rPr>
              <a:t>farklıdır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27651" name="Rectangle 2"/>
          <p:cNvSpPr>
            <a:spLocks noGrp="1" noRot="1" noChangeAspect="1" noChangeArrowheads="1" noTextEdit="1"/>
          </p:cNvSpPr>
          <p:nvPr>
            <p:ph type="sldImg"/>
          </p:nvPr>
        </p:nvSpPr>
        <p:spPr>
          <a:xfrm>
            <a:off x="1173163" y="696913"/>
            <a:ext cx="4638675" cy="3479800"/>
          </a:xfrm>
          <a:ln/>
        </p:spPr>
      </p:sp>
      <p:sp>
        <p:nvSpPr>
          <p:cNvPr id="2765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3: Sequence Diagrams</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Show the sequence of messages exchanged among objects to complete a task.</a:t>
            </a:r>
          </a:p>
          <a:p>
            <a:pPr algn="l">
              <a:buFont typeface="Arial" panose="020B0604020202020204" pitchFamily="34" charset="0"/>
              <a:buChar char="•"/>
            </a:pPr>
            <a:r>
              <a:rPr lang="en-US" b="0" i="0" u="none" strike="noStrike" dirty="0">
                <a:solidFill>
                  <a:srgbClr val="000000"/>
                </a:solidFill>
                <a:effectLst/>
              </a:rPr>
              <a:t>Objects are represented horizontally, and time progresses vertically.</a:t>
            </a:r>
          </a:p>
          <a:p>
            <a:pPr algn="l">
              <a:buFont typeface="Arial" panose="020B0604020202020204" pitchFamily="34" charset="0"/>
              <a:buChar char="•"/>
            </a:pPr>
            <a:r>
              <a:rPr lang="en-US" b="0" i="0" u="none" strike="noStrike" dirty="0">
                <a:solidFill>
                  <a:srgbClr val="000000"/>
                </a:solidFill>
                <a:effectLst/>
              </a:rPr>
              <a:t>Key terms:</a:t>
            </a:r>
          </a:p>
          <a:p>
            <a:pPr marL="742950" lvl="1" indent="-285750" algn="l">
              <a:buFont typeface="Arial" panose="020B0604020202020204" pitchFamily="34" charset="0"/>
              <a:buChar char="•"/>
            </a:pPr>
            <a:r>
              <a:rPr lang="en-US" b="1" i="0" u="none" strike="noStrike" dirty="0">
                <a:solidFill>
                  <a:srgbClr val="000000"/>
                </a:solidFill>
                <a:effectLst/>
              </a:rPr>
              <a:t>Lifeline</a:t>
            </a:r>
            <a:r>
              <a:rPr lang="en-US" b="0" i="0" u="none" strike="noStrike" dirty="0">
                <a:solidFill>
                  <a:srgbClr val="000000"/>
                </a:solidFill>
                <a:effectLst/>
              </a:rPr>
              <a:t>: Represents the lifetime of an object or actor.</a:t>
            </a:r>
          </a:p>
          <a:p>
            <a:pPr marL="742950" lvl="1" indent="-285750" algn="l">
              <a:buFont typeface="Arial" panose="020B0604020202020204" pitchFamily="34" charset="0"/>
              <a:buChar char="•"/>
            </a:pPr>
            <a:r>
              <a:rPr lang="en-US" b="1" i="0" u="none" strike="noStrike" dirty="0">
                <a:solidFill>
                  <a:srgbClr val="000000"/>
                </a:solidFill>
                <a:effectLst/>
              </a:rPr>
              <a:t>Activation Box</a:t>
            </a:r>
            <a:r>
              <a:rPr lang="en-US" b="0" i="0" u="none" strike="noStrike" dirty="0">
                <a:solidFill>
                  <a:srgbClr val="000000"/>
                </a:solidFill>
                <a:effectLst/>
              </a:rPr>
              <a:t>: Indicates the time an object is active during the task.</a:t>
            </a:r>
          </a:p>
          <a:p>
            <a:pPr algn="l"/>
            <a:r>
              <a:rPr lang="en-US" b="1" i="0" u="none" strike="noStrike" dirty="0">
                <a:solidFill>
                  <a:srgbClr val="000000"/>
                </a:solidFill>
                <a:effectLst/>
              </a:rPr>
              <a:t>Example</a:t>
            </a:r>
            <a:r>
              <a:rPr lang="en-US" b="0" i="0" u="none" strike="noStrike" dirty="0">
                <a:solidFill>
                  <a:srgbClr val="000000"/>
                </a:solidFill>
                <a:effectLst/>
              </a:rPr>
              <a:t>: Imagine a shopping cart process—adding an item, calculating the total, and checking out. The sequence diagram would show these messages exchanged in order.</a:t>
            </a: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Turkish Explanation:</a:t>
            </a:r>
          </a:p>
          <a:p>
            <a:pPr algn="l">
              <a:buFont typeface="Arial" panose="020B0604020202020204" pitchFamily="34" charset="0"/>
              <a:buChar char="•"/>
            </a:pPr>
            <a:r>
              <a:rPr lang="en-US" b="0" i="0" u="none" strike="noStrike" dirty="0" err="1">
                <a:solidFill>
                  <a:srgbClr val="000000"/>
                </a:solidFill>
                <a:effectLst/>
              </a:rPr>
              <a:t>Nesneler</a:t>
            </a:r>
            <a:r>
              <a:rPr lang="en-US" b="0" i="0" u="none" strike="noStrike" dirty="0">
                <a:solidFill>
                  <a:srgbClr val="000000"/>
                </a:solidFill>
                <a:effectLst/>
              </a:rPr>
              <a:t> </a:t>
            </a:r>
            <a:r>
              <a:rPr lang="en-US" b="0" i="0" u="none" strike="noStrike" dirty="0" err="1">
                <a:solidFill>
                  <a:srgbClr val="000000"/>
                </a:solidFill>
                <a:effectLst/>
              </a:rPr>
              <a:t>arasında</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görevi</a:t>
            </a:r>
            <a:r>
              <a:rPr lang="en-US" b="0" i="0" u="none" strike="noStrike" dirty="0">
                <a:solidFill>
                  <a:srgbClr val="000000"/>
                </a:solidFill>
                <a:effectLst/>
              </a:rPr>
              <a:t> </a:t>
            </a:r>
            <a:r>
              <a:rPr lang="en-US" b="0" i="0" u="none" strike="noStrike" dirty="0" err="1">
                <a:solidFill>
                  <a:srgbClr val="000000"/>
                </a:solidFill>
                <a:effectLst/>
              </a:rPr>
              <a:t>tamamlamak</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değiş</a:t>
            </a:r>
            <a:r>
              <a:rPr lang="en-US" b="0" i="0" u="none" strike="noStrike" dirty="0">
                <a:solidFill>
                  <a:srgbClr val="000000"/>
                </a:solidFill>
                <a:effectLst/>
              </a:rPr>
              <a:t> </a:t>
            </a:r>
            <a:r>
              <a:rPr lang="en-US" b="0" i="0" u="none" strike="noStrike" dirty="0" err="1">
                <a:solidFill>
                  <a:srgbClr val="000000"/>
                </a:solidFill>
                <a:effectLst/>
              </a:rPr>
              <a:t>tokuş</a:t>
            </a:r>
            <a:r>
              <a:rPr lang="en-US" b="0" i="0" u="none" strike="noStrike" dirty="0">
                <a:solidFill>
                  <a:srgbClr val="000000"/>
                </a:solidFill>
                <a:effectLst/>
              </a:rPr>
              <a:t> </a:t>
            </a:r>
            <a:r>
              <a:rPr lang="en-US" b="0" i="0" u="none" strike="noStrike" dirty="0" err="1">
                <a:solidFill>
                  <a:srgbClr val="000000"/>
                </a:solidFill>
                <a:effectLst/>
              </a:rPr>
              <a:t>edilen</a:t>
            </a:r>
            <a:r>
              <a:rPr lang="en-US" b="0" i="0" u="none" strike="noStrike" dirty="0">
                <a:solidFill>
                  <a:srgbClr val="000000"/>
                </a:solidFill>
                <a:effectLst/>
              </a:rPr>
              <a:t> </a:t>
            </a:r>
            <a:r>
              <a:rPr lang="en-US" b="0" i="0" u="none" strike="noStrike" dirty="0" err="1">
                <a:solidFill>
                  <a:srgbClr val="000000"/>
                </a:solidFill>
                <a:effectLst/>
              </a:rPr>
              <a:t>mesajların</a:t>
            </a:r>
            <a:r>
              <a:rPr lang="en-US" b="0" i="0" u="none" strike="noStrike" dirty="0">
                <a:solidFill>
                  <a:srgbClr val="000000"/>
                </a:solidFill>
                <a:effectLst/>
              </a:rPr>
              <a:t> </a:t>
            </a:r>
            <a:r>
              <a:rPr lang="en-US" b="0" i="0" u="none" strike="noStrike" dirty="0" err="1">
                <a:solidFill>
                  <a:srgbClr val="000000"/>
                </a:solidFill>
                <a:effectLst/>
              </a:rPr>
              <a:t>sırasını</a:t>
            </a:r>
            <a:r>
              <a:rPr lang="en-US" b="0" i="0" u="none" strike="noStrike" dirty="0">
                <a:solidFill>
                  <a:srgbClr val="000000"/>
                </a:solidFill>
                <a:effectLst/>
              </a:rPr>
              <a:t> </a:t>
            </a:r>
            <a:r>
              <a:rPr lang="en-US" b="0" i="0" u="none" strike="noStrike" dirty="0" err="1">
                <a:solidFill>
                  <a:srgbClr val="000000"/>
                </a:solidFill>
                <a:effectLst/>
              </a:rPr>
              <a:t>gösterir</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err="1">
                <a:solidFill>
                  <a:srgbClr val="000000"/>
                </a:solidFill>
                <a:effectLst/>
              </a:rPr>
              <a:t>Nesneler</a:t>
            </a:r>
            <a:r>
              <a:rPr lang="en-US" b="0" i="0" u="none" strike="noStrike" dirty="0">
                <a:solidFill>
                  <a:srgbClr val="000000"/>
                </a:solidFill>
                <a:effectLst/>
              </a:rPr>
              <a:t> </a:t>
            </a:r>
            <a:r>
              <a:rPr lang="en-US" b="0" i="0" u="none" strike="noStrike" dirty="0" err="1">
                <a:solidFill>
                  <a:srgbClr val="000000"/>
                </a:solidFill>
                <a:effectLst/>
              </a:rPr>
              <a:t>yatay</a:t>
            </a:r>
            <a:r>
              <a:rPr lang="en-US" b="0" i="0" u="none" strike="noStrike" dirty="0">
                <a:solidFill>
                  <a:srgbClr val="000000"/>
                </a:solidFill>
                <a:effectLst/>
              </a:rPr>
              <a:t> </a:t>
            </a:r>
            <a:r>
              <a:rPr lang="en-US" b="0" i="0" u="none" strike="noStrike" dirty="0" err="1">
                <a:solidFill>
                  <a:srgbClr val="000000"/>
                </a:solidFill>
                <a:effectLst/>
              </a:rPr>
              <a:t>olarak</a:t>
            </a:r>
            <a:r>
              <a:rPr lang="en-US" b="0" i="0" u="none" strike="noStrike" dirty="0">
                <a:solidFill>
                  <a:srgbClr val="000000"/>
                </a:solidFill>
                <a:effectLst/>
              </a:rPr>
              <a:t> </a:t>
            </a:r>
            <a:r>
              <a:rPr lang="en-US" b="0" i="0" u="none" strike="noStrike" dirty="0" err="1">
                <a:solidFill>
                  <a:srgbClr val="000000"/>
                </a:solidFill>
                <a:effectLst/>
              </a:rPr>
              <a:t>yerleştirilir</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zaman </a:t>
            </a:r>
            <a:r>
              <a:rPr lang="en-US" b="0" i="0" u="none" strike="noStrike" dirty="0" err="1">
                <a:solidFill>
                  <a:srgbClr val="000000"/>
                </a:solidFill>
                <a:effectLst/>
              </a:rPr>
              <a:t>dikey</a:t>
            </a:r>
            <a:r>
              <a:rPr lang="en-US" b="0" i="0" u="none" strike="noStrike" dirty="0">
                <a:solidFill>
                  <a:srgbClr val="000000"/>
                </a:solidFill>
                <a:effectLst/>
              </a:rPr>
              <a:t> </a:t>
            </a:r>
            <a:r>
              <a:rPr lang="en-US" b="0" i="0" u="none" strike="noStrike" dirty="0" err="1">
                <a:solidFill>
                  <a:srgbClr val="000000"/>
                </a:solidFill>
                <a:effectLst/>
              </a:rPr>
              <a:t>olarak</a:t>
            </a:r>
            <a:r>
              <a:rPr lang="en-US" b="0" i="0" u="none" strike="noStrike" dirty="0">
                <a:solidFill>
                  <a:srgbClr val="000000"/>
                </a:solidFill>
                <a:effectLst/>
              </a:rPr>
              <a:t> </a:t>
            </a:r>
            <a:r>
              <a:rPr lang="en-US" b="0" i="0" u="none" strike="noStrike" dirty="0" err="1">
                <a:solidFill>
                  <a:srgbClr val="000000"/>
                </a:solidFill>
                <a:effectLst/>
              </a:rPr>
              <a:t>ilerler</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err="1">
                <a:solidFill>
                  <a:srgbClr val="000000"/>
                </a:solidFill>
                <a:effectLst/>
              </a:rPr>
              <a:t>Anahtar</a:t>
            </a:r>
            <a:r>
              <a:rPr lang="en-US" b="0" i="0" u="none" strike="noStrike" dirty="0">
                <a:solidFill>
                  <a:srgbClr val="000000"/>
                </a:solidFill>
                <a:effectLst/>
              </a:rPr>
              <a:t> </a:t>
            </a:r>
            <a:r>
              <a:rPr lang="en-US" b="0" i="0" u="none" strike="noStrike" dirty="0" err="1">
                <a:solidFill>
                  <a:srgbClr val="000000"/>
                </a:solidFill>
                <a:effectLst/>
              </a:rPr>
              <a:t>terimler</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err="1">
                <a:solidFill>
                  <a:srgbClr val="000000"/>
                </a:solidFill>
                <a:effectLst/>
              </a:rPr>
              <a:t>Yaşam</a:t>
            </a:r>
            <a:r>
              <a:rPr lang="en-US" b="1" i="0" u="none" strike="noStrike" dirty="0">
                <a:solidFill>
                  <a:srgbClr val="000000"/>
                </a:solidFill>
                <a:effectLst/>
              </a:rPr>
              <a:t> </a:t>
            </a:r>
            <a:r>
              <a:rPr lang="en-US" b="1" i="0" u="none" strike="noStrike" dirty="0" err="1">
                <a:solidFill>
                  <a:srgbClr val="000000"/>
                </a:solidFill>
                <a:effectLst/>
              </a:rPr>
              <a:t>Çizgisi</a:t>
            </a:r>
            <a:r>
              <a:rPr lang="en-US" b="1" i="0" u="none" strike="noStrike" dirty="0">
                <a:solidFill>
                  <a:srgbClr val="000000"/>
                </a:solidFill>
                <a:effectLst/>
              </a:rPr>
              <a:t> (Lifeline)</a:t>
            </a:r>
            <a:r>
              <a:rPr lang="en-US" b="0" i="0" u="none" strike="noStrike" dirty="0">
                <a:solidFill>
                  <a:srgbClr val="000000"/>
                </a:solidFill>
                <a:effectLst/>
              </a:rPr>
              <a:t>: Bir </a:t>
            </a:r>
            <a:r>
              <a:rPr lang="en-US" b="0" i="0" u="none" strike="noStrike" dirty="0" err="1">
                <a:solidFill>
                  <a:srgbClr val="000000"/>
                </a:solidFill>
                <a:effectLst/>
              </a:rPr>
              <a:t>nesnenin</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aktörün</a:t>
            </a:r>
            <a:r>
              <a:rPr lang="en-US" b="0" i="0" u="none" strike="noStrike" dirty="0">
                <a:solidFill>
                  <a:srgbClr val="000000"/>
                </a:solidFill>
                <a:effectLst/>
              </a:rPr>
              <a:t> </a:t>
            </a:r>
            <a:r>
              <a:rPr lang="en-US" b="0" i="0" u="none" strike="noStrike" dirty="0" err="1">
                <a:solidFill>
                  <a:srgbClr val="000000"/>
                </a:solidFill>
                <a:effectLst/>
              </a:rPr>
              <a:t>yaşam</a:t>
            </a:r>
            <a:r>
              <a:rPr lang="en-US" b="0" i="0" u="none" strike="noStrike" dirty="0">
                <a:solidFill>
                  <a:srgbClr val="000000"/>
                </a:solidFill>
                <a:effectLst/>
              </a:rPr>
              <a:t> </a:t>
            </a:r>
            <a:r>
              <a:rPr lang="en-US" b="0" i="0" u="none" strike="noStrike" dirty="0" err="1">
                <a:solidFill>
                  <a:srgbClr val="000000"/>
                </a:solidFill>
                <a:effectLst/>
              </a:rPr>
              <a:t>süresini</a:t>
            </a:r>
            <a:r>
              <a:rPr lang="en-US" b="0" i="0" u="none" strike="noStrike" dirty="0">
                <a:solidFill>
                  <a:srgbClr val="000000"/>
                </a:solidFill>
                <a:effectLst/>
              </a:rPr>
              <a:t> </a:t>
            </a:r>
            <a:r>
              <a:rPr lang="en-US" b="0" i="0" u="none" strike="noStrike" dirty="0" err="1">
                <a:solidFill>
                  <a:srgbClr val="000000"/>
                </a:solidFill>
                <a:effectLst/>
              </a:rPr>
              <a:t>temsil</a:t>
            </a:r>
            <a:r>
              <a:rPr lang="en-US" b="0" i="0" u="none" strike="noStrike" dirty="0">
                <a:solidFill>
                  <a:srgbClr val="000000"/>
                </a:solidFill>
                <a:effectLst/>
              </a:rPr>
              <a:t> </a:t>
            </a:r>
            <a:r>
              <a:rPr lang="en-US" b="0" i="0" u="none" strike="noStrike" dirty="0" err="1">
                <a:solidFill>
                  <a:srgbClr val="000000"/>
                </a:solidFill>
                <a:effectLst/>
              </a:rPr>
              <a:t>eder</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err="1">
                <a:solidFill>
                  <a:srgbClr val="000000"/>
                </a:solidFill>
                <a:effectLst/>
              </a:rPr>
              <a:t>Aktivasyon</a:t>
            </a:r>
            <a:r>
              <a:rPr lang="en-US" b="1" i="0" u="none" strike="noStrike" dirty="0">
                <a:solidFill>
                  <a:srgbClr val="000000"/>
                </a:solidFill>
                <a:effectLst/>
              </a:rPr>
              <a:t> </a:t>
            </a:r>
            <a:r>
              <a:rPr lang="en-US" b="1" i="0" u="none" strike="noStrike" dirty="0" err="1">
                <a:solidFill>
                  <a:srgbClr val="000000"/>
                </a:solidFill>
                <a:effectLst/>
              </a:rPr>
              <a:t>Kutusu</a:t>
            </a:r>
            <a:r>
              <a:rPr lang="en-US" b="1" i="0" u="none" strike="noStrike" dirty="0">
                <a:solidFill>
                  <a:srgbClr val="000000"/>
                </a:solidFill>
                <a:effectLst/>
              </a:rPr>
              <a:t> (Activation Box)</a:t>
            </a:r>
            <a:r>
              <a:rPr lang="en-US" b="0" i="0" u="none" strike="noStrike" dirty="0">
                <a:solidFill>
                  <a:srgbClr val="000000"/>
                </a:solidFill>
                <a:effectLst/>
              </a:rPr>
              <a:t>: Bir </a:t>
            </a:r>
            <a:r>
              <a:rPr lang="en-US" b="0" i="0" u="none" strike="noStrike" dirty="0" err="1">
                <a:solidFill>
                  <a:srgbClr val="000000"/>
                </a:solidFill>
                <a:effectLst/>
              </a:rPr>
              <a:t>nesnenin</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görev</a:t>
            </a:r>
            <a:r>
              <a:rPr lang="en-US" b="0" i="0" u="none" strike="noStrike" dirty="0">
                <a:solidFill>
                  <a:srgbClr val="000000"/>
                </a:solidFill>
                <a:effectLst/>
              </a:rPr>
              <a:t> </a:t>
            </a:r>
            <a:r>
              <a:rPr lang="en-US" b="0" i="0" u="none" strike="noStrike" dirty="0" err="1">
                <a:solidFill>
                  <a:srgbClr val="000000"/>
                </a:solidFill>
                <a:effectLst/>
              </a:rPr>
              <a:t>sırasında</a:t>
            </a:r>
            <a:r>
              <a:rPr lang="en-US" b="0" i="0" u="none" strike="noStrike" dirty="0">
                <a:solidFill>
                  <a:srgbClr val="000000"/>
                </a:solidFill>
                <a:effectLst/>
              </a:rPr>
              <a:t> </a:t>
            </a:r>
            <a:r>
              <a:rPr lang="en-US" b="0" i="0" u="none" strike="noStrike" dirty="0" err="1">
                <a:solidFill>
                  <a:srgbClr val="000000"/>
                </a:solidFill>
                <a:effectLst/>
              </a:rPr>
              <a:t>aktif</a:t>
            </a:r>
            <a:r>
              <a:rPr lang="en-US" b="0" i="0" u="none" strike="noStrike" dirty="0">
                <a:solidFill>
                  <a:srgbClr val="000000"/>
                </a:solidFill>
                <a:effectLst/>
              </a:rPr>
              <a:t> </a:t>
            </a:r>
            <a:r>
              <a:rPr lang="en-US" b="0" i="0" u="none" strike="noStrike" dirty="0" err="1">
                <a:solidFill>
                  <a:srgbClr val="000000"/>
                </a:solidFill>
                <a:effectLst/>
              </a:rPr>
              <a:t>olduğu</a:t>
            </a:r>
            <a:r>
              <a:rPr lang="en-US" b="0" i="0" u="none" strike="noStrike" dirty="0">
                <a:solidFill>
                  <a:srgbClr val="000000"/>
                </a:solidFill>
                <a:effectLst/>
              </a:rPr>
              <a:t> </a:t>
            </a:r>
            <a:r>
              <a:rPr lang="en-US" b="0" i="0" u="none" strike="noStrike" dirty="0" err="1">
                <a:solidFill>
                  <a:srgbClr val="000000"/>
                </a:solidFill>
                <a:effectLst/>
              </a:rPr>
              <a:t>süreyi</a:t>
            </a:r>
            <a:r>
              <a:rPr lang="en-US" b="0" i="0" u="none" strike="noStrike" dirty="0">
                <a:solidFill>
                  <a:srgbClr val="000000"/>
                </a:solidFill>
                <a:effectLst/>
              </a:rPr>
              <a:t> </a:t>
            </a:r>
            <a:r>
              <a:rPr lang="en-US" b="0" i="0" u="none" strike="noStrike" dirty="0" err="1">
                <a:solidFill>
                  <a:srgbClr val="000000"/>
                </a:solidFill>
                <a:effectLst/>
              </a:rPr>
              <a:t>gösterir</a:t>
            </a:r>
            <a:r>
              <a:rPr lang="en-US" b="0" i="0" u="none" strike="noStrike" dirty="0">
                <a:solidFill>
                  <a:srgbClr val="000000"/>
                </a:solidFill>
                <a:effectLst/>
              </a:rPr>
              <a:t>.</a:t>
            </a:r>
          </a:p>
          <a:p>
            <a:pPr algn="l"/>
            <a:r>
              <a:rPr lang="en-US" b="1" i="0" u="none" strike="noStrike" dirty="0" err="1">
                <a:solidFill>
                  <a:srgbClr val="000000"/>
                </a:solidFill>
                <a:effectLst/>
              </a:rPr>
              <a:t>Örnek</a:t>
            </a:r>
            <a:r>
              <a:rPr lang="en-US" b="0" i="0" u="none" strike="noStrike" dirty="0">
                <a:solidFill>
                  <a:srgbClr val="000000"/>
                </a:solidFill>
                <a:effectLst/>
              </a:rPr>
              <a:t>: </a:t>
            </a:r>
            <a:r>
              <a:rPr lang="en-US" b="0" i="0" u="none" strike="noStrike" dirty="0" err="1">
                <a:solidFill>
                  <a:srgbClr val="000000"/>
                </a:solidFill>
                <a:effectLst/>
              </a:rPr>
              <a:t>Alışveriş</a:t>
            </a:r>
            <a:r>
              <a:rPr lang="en-US" b="0" i="0" u="none" strike="noStrike" dirty="0">
                <a:solidFill>
                  <a:srgbClr val="000000"/>
                </a:solidFill>
                <a:effectLst/>
              </a:rPr>
              <a:t> </a:t>
            </a:r>
            <a:r>
              <a:rPr lang="en-US" b="0" i="0" u="none" strike="noStrike" dirty="0" err="1">
                <a:solidFill>
                  <a:srgbClr val="000000"/>
                </a:solidFill>
                <a:effectLst/>
              </a:rPr>
              <a:t>sepeti</a:t>
            </a:r>
            <a:r>
              <a:rPr lang="en-US" b="0" i="0" u="none" strike="noStrike" dirty="0">
                <a:solidFill>
                  <a:srgbClr val="000000"/>
                </a:solidFill>
                <a:effectLst/>
              </a:rPr>
              <a:t> </a:t>
            </a:r>
            <a:r>
              <a:rPr lang="en-US" b="0" i="0" u="none" strike="noStrike" dirty="0" err="1">
                <a:solidFill>
                  <a:srgbClr val="000000"/>
                </a:solidFill>
                <a:effectLst/>
              </a:rPr>
              <a:t>işlemini</a:t>
            </a:r>
            <a:r>
              <a:rPr lang="en-US" b="0" i="0" u="none" strike="noStrike" dirty="0">
                <a:solidFill>
                  <a:srgbClr val="000000"/>
                </a:solidFill>
                <a:effectLst/>
              </a:rPr>
              <a:t> </a:t>
            </a:r>
            <a:r>
              <a:rPr lang="en-US" b="0" i="0" u="none" strike="noStrike" dirty="0" err="1">
                <a:solidFill>
                  <a:srgbClr val="000000"/>
                </a:solidFill>
                <a:effectLst/>
              </a:rPr>
              <a:t>düşünün</a:t>
            </a:r>
            <a:r>
              <a:rPr lang="en-US" b="0" i="0" u="none" strike="noStrike" dirty="0">
                <a:solidFill>
                  <a:srgbClr val="000000"/>
                </a:solidFill>
                <a:effectLst/>
              </a:rPr>
              <a:t>—</a:t>
            </a:r>
            <a:r>
              <a:rPr lang="en-US" b="0" i="0" u="none" strike="noStrike" dirty="0" err="1">
                <a:solidFill>
                  <a:srgbClr val="000000"/>
                </a:solidFill>
                <a:effectLst/>
              </a:rPr>
              <a:t>ürün</a:t>
            </a:r>
            <a:r>
              <a:rPr lang="en-US" b="0" i="0" u="none" strike="noStrike" dirty="0">
                <a:solidFill>
                  <a:srgbClr val="000000"/>
                </a:solidFill>
                <a:effectLst/>
              </a:rPr>
              <a:t> </a:t>
            </a:r>
            <a:r>
              <a:rPr lang="en-US" b="0" i="0" u="none" strike="noStrike" dirty="0" err="1">
                <a:solidFill>
                  <a:srgbClr val="000000"/>
                </a:solidFill>
                <a:effectLst/>
              </a:rPr>
              <a:t>ekleme</a:t>
            </a:r>
            <a:r>
              <a:rPr lang="en-US" b="0" i="0" u="none" strike="noStrike" dirty="0">
                <a:solidFill>
                  <a:srgbClr val="000000"/>
                </a:solidFill>
                <a:effectLst/>
              </a:rPr>
              <a:t>, </a:t>
            </a:r>
            <a:r>
              <a:rPr lang="en-US" b="0" i="0" u="none" strike="noStrike" dirty="0" err="1">
                <a:solidFill>
                  <a:srgbClr val="000000"/>
                </a:solidFill>
                <a:effectLst/>
              </a:rPr>
              <a:t>toplamı</a:t>
            </a:r>
            <a:r>
              <a:rPr lang="en-US" b="0" i="0" u="none" strike="noStrike" dirty="0">
                <a:solidFill>
                  <a:srgbClr val="000000"/>
                </a:solidFill>
                <a:effectLst/>
              </a:rPr>
              <a:t> </a:t>
            </a:r>
            <a:r>
              <a:rPr lang="en-US" b="0" i="0" u="none" strike="noStrike" dirty="0" err="1">
                <a:solidFill>
                  <a:srgbClr val="000000"/>
                </a:solidFill>
                <a:effectLst/>
              </a:rPr>
              <a:t>hesaplama</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ödeme</a:t>
            </a:r>
            <a:r>
              <a:rPr lang="en-US" b="0" i="0" u="none" strike="noStrike" dirty="0">
                <a:solidFill>
                  <a:srgbClr val="000000"/>
                </a:solidFill>
                <a:effectLst/>
              </a:rPr>
              <a:t> </a:t>
            </a:r>
            <a:r>
              <a:rPr lang="en-US" b="0" i="0" u="none" strike="noStrike" dirty="0" err="1">
                <a:solidFill>
                  <a:srgbClr val="000000"/>
                </a:solidFill>
                <a:effectLst/>
              </a:rPr>
              <a:t>yapma</a:t>
            </a:r>
            <a:r>
              <a:rPr lang="en-US" b="0" i="0" u="none" strike="noStrike" dirty="0">
                <a:solidFill>
                  <a:srgbClr val="000000"/>
                </a:solidFill>
                <a:effectLst/>
              </a:rPr>
              <a:t>. </a:t>
            </a:r>
            <a:r>
              <a:rPr lang="en-US" b="0" i="0" u="none" strike="noStrike" dirty="0" err="1">
                <a:solidFill>
                  <a:srgbClr val="000000"/>
                </a:solidFill>
                <a:effectLst/>
              </a:rPr>
              <a:t>Sıra</a:t>
            </a:r>
            <a:r>
              <a:rPr lang="en-US" b="0" i="0" u="none" strike="noStrike" dirty="0">
                <a:solidFill>
                  <a:srgbClr val="000000"/>
                </a:solidFill>
                <a:effectLst/>
              </a:rPr>
              <a:t> </a:t>
            </a:r>
            <a:r>
              <a:rPr lang="en-US" b="0" i="0" u="none" strike="noStrike" dirty="0" err="1">
                <a:solidFill>
                  <a:srgbClr val="000000"/>
                </a:solidFill>
                <a:effectLst/>
              </a:rPr>
              <a:t>diyagramı</a:t>
            </a:r>
            <a:r>
              <a:rPr lang="en-US" b="0" i="0" u="none" strike="noStrike" dirty="0">
                <a:solidFill>
                  <a:srgbClr val="000000"/>
                </a:solidFill>
                <a:effectLst/>
              </a:rPr>
              <a:t> </a:t>
            </a:r>
            <a:r>
              <a:rPr lang="en-US" b="0" i="0" u="none" strike="noStrike" dirty="0" err="1">
                <a:solidFill>
                  <a:srgbClr val="000000"/>
                </a:solidFill>
                <a:effectLst/>
              </a:rPr>
              <a:t>bu</a:t>
            </a:r>
            <a:r>
              <a:rPr lang="en-US" b="0" i="0" u="none" strike="noStrike" dirty="0">
                <a:solidFill>
                  <a:srgbClr val="000000"/>
                </a:solidFill>
                <a:effectLst/>
              </a:rPr>
              <a:t> </a:t>
            </a:r>
            <a:r>
              <a:rPr lang="en-US" b="0" i="0" u="none" strike="noStrike" dirty="0" err="1">
                <a:solidFill>
                  <a:srgbClr val="000000"/>
                </a:solidFill>
                <a:effectLst/>
              </a:rPr>
              <a:t>mesajları</a:t>
            </a:r>
            <a:r>
              <a:rPr lang="en-US" b="0" i="0" u="none" strike="noStrike" dirty="0">
                <a:solidFill>
                  <a:srgbClr val="000000"/>
                </a:solidFill>
                <a:effectLst/>
              </a:rPr>
              <a:t> </a:t>
            </a:r>
            <a:r>
              <a:rPr lang="en-US" b="0" i="0" u="none" strike="noStrike" dirty="0" err="1">
                <a:solidFill>
                  <a:srgbClr val="000000"/>
                </a:solidFill>
                <a:effectLst/>
              </a:rPr>
              <a:t>sıralı</a:t>
            </a:r>
            <a:r>
              <a:rPr lang="en-US" b="0" i="0" u="none" strike="noStrike" dirty="0">
                <a:solidFill>
                  <a:srgbClr val="000000"/>
                </a:solidFill>
                <a:effectLst/>
              </a:rPr>
              <a:t> </a:t>
            </a:r>
            <a:r>
              <a:rPr lang="en-US" b="0" i="0" u="none" strike="noStrike" dirty="0" err="1">
                <a:solidFill>
                  <a:srgbClr val="000000"/>
                </a:solidFill>
                <a:effectLst/>
              </a:rPr>
              <a:t>şekilde</a:t>
            </a:r>
            <a:r>
              <a:rPr lang="en-US" b="0" i="0" u="none" strike="noStrike" dirty="0">
                <a:solidFill>
                  <a:srgbClr val="000000"/>
                </a:solidFill>
                <a:effectLst/>
              </a:rPr>
              <a:t> </a:t>
            </a:r>
            <a:r>
              <a:rPr lang="en-US" b="0" i="0" u="none" strike="noStrike" dirty="0" err="1">
                <a:solidFill>
                  <a:srgbClr val="000000"/>
                </a:solidFill>
                <a:effectLst/>
              </a:rPr>
              <a:t>gösterecektir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xfrm>
            <a:off x="1173163" y="696913"/>
            <a:ext cx="4638675" cy="3479800"/>
          </a:xfrm>
          <a:ln/>
        </p:spPr>
      </p:sp>
      <p:sp>
        <p:nvSpPr>
          <p:cNvPr id="2969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dirty="0">
              <a:latin typeface="Times" charset="0"/>
              <a:ea typeface="ＭＳ Ｐゴシック" charset="0"/>
              <a:cs typeface="ＭＳ Ｐゴシック" charset="0"/>
            </a:endParaRPr>
          </a:p>
        </p:txBody>
      </p:sp>
      <p:sp>
        <p:nvSpPr>
          <p:cNvPr id="2970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31747" name="Rectangle 2"/>
          <p:cNvSpPr>
            <a:spLocks noGrp="1" noRot="1" noChangeAspect="1" noChangeArrowheads="1" noTextEdit="1"/>
          </p:cNvSpPr>
          <p:nvPr>
            <p:ph type="sldImg"/>
          </p:nvPr>
        </p:nvSpPr>
        <p:spPr>
          <a:xfrm>
            <a:off x="1173163" y="696913"/>
            <a:ext cx="4638675" cy="3479800"/>
          </a:xfrm>
          <a:ln/>
        </p:spPr>
      </p:sp>
      <p:sp>
        <p:nvSpPr>
          <p:cNvPr id="31748"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4: Common Interaction Diagram Notations</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Objects and classes:</a:t>
            </a:r>
          </a:p>
          <a:p>
            <a:pPr marL="742950" lvl="1" indent="-285750" algn="l">
              <a:buFont typeface="Arial" panose="020B0604020202020204" pitchFamily="34" charset="0"/>
              <a:buChar char="•"/>
            </a:pPr>
            <a:r>
              <a:rPr lang="en-US" b="0" i="0" u="none" strike="noStrike" dirty="0">
                <a:solidFill>
                  <a:srgbClr val="000000"/>
                </a:solidFill>
                <a:effectLst/>
              </a:rPr>
              <a:t>Objects are shown with their name and class (underlined).</a:t>
            </a:r>
          </a:p>
          <a:p>
            <a:pPr marL="742950" lvl="1" indent="-285750" algn="l">
              <a:buFont typeface="Arial" panose="020B0604020202020204" pitchFamily="34" charset="0"/>
              <a:buChar char="•"/>
            </a:pPr>
            <a:r>
              <a:rPr lang="en-US" b="0" i="0" u="none" strike="noStrike" dirty="0">
                <a:solidFill>
                  <a:srgbClr val="000000"/>
                </a:solidFill>
                <a:effectLst/>
              </a:rPr>
              <a:t>Classes are represented as rectangles without underlining.</a:t>
            </a:r>
          </a:p>
          <a:p>
            <a:pPr algn="l"/>
            <a:r>
              <a:rPr lang="en-US" b="1" i="0" u="none" strike="noStrike" dirty="0">
                <a:solidFill>
                  <a:srgbClr val="000000"/>
                </a:solidFill>
                <a:effectLst/>
              </a:rPr>
              <a:t>Additional Info</a:t>
            </a:r>
            <a:r>
              <a:rPr lang="en-US" b="0" i="0" u="none" strike="noStrike" dirty="0">
                <a:solidFill>
                  <a:srgbClr val="000000"/>
                </a:solidFill>
                <a:effectLst/>
              </a:rPr>
              <a:t>: These notations ensure consistency in UML diagrams, making them universally understandable.</a:t>
            </a: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Turkish Explanation:</a:t>
            </a:r>
          </a:p>
          <a:p>
            <a:pPr algn="l">
              <a:buFont typeface="Arial" panose="020B0604020202020204" pitchFamily="34" charset="0"/>
              <a:buChar char="•"/>
            </a:pPr>
            <a:r>
              <a:rPr lang="en-US" b="0" i="0" u="none" strike="noStrike" dirty="0" err="1">
                <a:solidFill>
                  <a:srgbClr val="000000"/>
                </a:solidFill>
                <a:effectLst/>
              </a:rPr>
              <a:t>Nesneler</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sınıflar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Nesneler</a:t>
            </a:r>
            <a:r>
              <a:rPr lang="en-US" b="0" i="0" u="none" strike="noStrike" dirty="0">
                <a:solidFill>
                  <a:srgbClr val="000000"/>
                </a:solidFill>
                <a:effectLst/>
              </a:rPr>
              <a:t>, </a:t>
            </a:r>
            <a:r>
              <a:rPr lang="en-US" b="0" i="0" u="none" strike="noStrike" dirty="0" err="1">
                <a:solidFill>
                  <a:srgbClr val="000000"/>
                </a:solidFill>
                <a:effectLst/>
              </a:rPr>
              <a:t>adları</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sınıfları</a:t>
            </a:r>
            <a:r>
              <a:rPr lang="en-US" b="0" i="0" u="none" strike="noStrike" dirty="0">
                <a:solidFill>
                  <a:srgbClr val="000000"/>
                </a:solidFill>
                <a:effectLst/>
              </a:rPr>
              <a:t> (</a:t>
            </a:r>
            <a:r>
              <a:rPr lang="en-US" b="0" i="0" u="none" strike="noStrike" dirty="0" err="1">
                <a:solidFill>
                  <a:srgbClr val="000000"/>
                </a:solidFill>
                <a:effectLst/>
              </a:rPr>
              <a:t>altı</a:t>
            </a:r>
            <a:r>
              <a:rPr lang="en-US" b="0" i="0" u="none" strike="noStrike" dirty="0">
                <a:solidFill>
                  <a:srgbClr val="000000"/>
                </a:solidFill>
                <a:effectLst/>
              </a:rPr>
              <a:t> </a:t>
            </a:r>
            <a:r>
              <a:rPr lang="en-US" b="0" i="0" u="none" strike="noStrike" dirty="0" err="1">
                <a:solidFill>
                  <a:srgbClr val="000000"/>
                </a:solidFill>
                <a:effectLst/>
              </a:rPr>
              <a:t>çizili</a:t>
            </a:r>
            <a:r>
              <a:rPr lang="en-US" b="0" i="0" u="none" strike="noStrike" dirty="0">
                <a:solidFill>
                  <a:srgbClr val="000000"/>
                </a:solidFill>
                <a:effectLst/>
              </a:rPr>
              <a:t>) </a:t>
            </a:r>
            <a:r>
              <a:rPr lang="en-US" b="0" i="0" u="none" strike="noStrike" dirty="0" err="1">
                <a:solidFill>
                  <a:srgbClr val="000000"/>
                </a:solidFill>
                <a:effectLst/>
              </a:rPr>
              <a:t>ile</a:t>
            </a:r>
            <a:r>
              <a:rPr lang="en-US" b="0" i="0" u="none" strike="noStrike" dirty="0">
                <a:solidFill>
                  <a:srgbClr val="000000"/>
                </a:solidFill>
                <a:effectLst/>
              </a:rPr>
              <a:t> </a:t>
            </a:r>
            <a:r>
              <a:rPr lang="en-US" b="0" i="0" u="none" strike="noStrike" dirty="0" err="1">
                <a:solidFill>
                  <a:srgbClr val="000000"/>
                </a:solidFill>
                <a:effectLst/>
              </a:rPr>
              <a:t>gösterilir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Sınıflar</a:t>
            </a:r>
            <a:r>
              <a:rPr lang="en-US" b="0" i="0" u="none" strike="noStrike" dirty="0">
                <a:solidFill>
                  <a:srgbClr val="000000"/>
                </a:solidFill>
                <a:effectLst/>
              </a:rPr>
              <a:t>, </a:t>
            </a:r>
            <a:r>
              <a:rPr lang="en-US" b="0" i="0" u="none" strike="noStrike" dirty="0" err="1">
                <a:solidFill>
                  <a:srgbClr val="000000"/>
                </a:solidFill>
                <a:effectLst/>
              </a:rPr>
              <a:t>altı</a:t>
            </a:r>
            <a:r>
              <a:rPr lang="en-US" b="0" i="0" u="none" strike="noStrike" dirty="0">
                <a:solidFill>
                  <a:srgbClr val="000000"/>
                </a:solidFill>
                <a:effectLst/>
              </a:rPr>
              <a:t> </a:t>
            </a:r>
            <a:r>
              <a:rPr lang="en-US" b="0" i="0" u="none" strike="noStrike" dirty="0" err="1">
                <a:solidFill>
                  <a:srgbClr val="000000"/>
                </a:solidFill>
                <a:effectLst/>
              </a:rPr>
              <a:t>çizilmeden</a:t>
            </a:r>
            <a:r>
              <a:rPr lang="en-US" b="0" i="0" u="none" strike="noStrike" dirty="0">
                <a:solidFill>
                  <a:srgbClr val="000000"/>
                </a:solidFill>
                <a:effectLst/>
              </a:rPr>
              <a:t> </a:t>
            </a:r>
            <a:r>
              <a:rPr lang="en-US" b="0" i="0" u="none" strike="noStrike" dirty="0" err="1">
                <a:solidFill>
                  <a:srgbClr val="000000"/>
                </a:solidFill>
                <a:effectLst/>
              </a:rPr>
              <a:t>dikdörtgenler</a:t>
            </a:r>
            <a:r>
              <a:rPr lang="en-US" b="0" i="0" u="none" strike="noStrike" dirty="0">
                <a:solidFill>
                  <a:srgbClr val="000000"/>
                </a:solidFill>
                <a:effectLst/>
              </a:rPr>
              <a:t> </a:t>
            </a:r>
            <a:r>
              <a:rPr lang="en-US" b="0" i="0" u="none" strike="noStrike" dirty="0" err="1">
                <a:solidFill>
                  <a:srgbClr val="000000"/>
                </a:solidFill>
                <a:effectLst/>
              </a:rPr>
              <a:t>olarak</a:t>
            </a:r>
            <a:r>
              <a:rPr lang="en-US" b="0" i="0" u="none" strike="noStrike" dirty="0">
                <a:solidFill>
                  <a:srgbClr val="000000"/>
                </a:solidFill>
                <a:effectLst/>
              </a:rPr>
              <a:t> </a:t>
            </a:r>
            <a:r>
              <a:rPr lang="en-US" b="0" i="0" u="none" strike="noStrike" dirty="0" err="1">
                <a:solidFill>
                  <a:srgbClr val="000000"/>
                </a:solidFill>
                <a:effectLst/>
              </a:rPr>
              <a:t>gösterilir</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err="1">
                <a:solidFill>
                  <a:srgbClr val="000000"/>
                </a:solidFill>
                <a:effectLst/>
              </a:rPr>
              <a:t>Aktörler</a:t>
            </a:r>
            <a:r>
              <a:rPr lang="en-US" b="0" i="0" u="none" strike="noStrike" dirty="0">
                <a:solidFill>
                  <a:srgbClr val="000000"/>
                </a:solidFill>
                <a:effectLst/>
              </a:rPr>
              <a:t>: </a:t>
            </a:r>
            <a:r>
              <a:rPr lang="en-US" b="0" i="0" u="none" strike="noStrike" dirty="0" err="1">
                <a:solidFill>
                  <a:srgbClr val="000000"/>
                </a:solidFill>
                <a:effectLst/>
              </a:rPr>
              <a:t>Çöp</a:t>
            </a:r>
            <a:r>
              <a:rPr lang="en-US" b="0" i="0" u="none" strike="noStrike" dirty="0">
                <a:solidFill>
                  <a:srgbClr val="000000"/>
                </a:solidFill>
                <a:effectLst/>
              </a:rPr>
              <a:t> </a:t>
            </a:r>
            <a:r>
              <a:rPr lang="en-US" b="0" i="0" u="none" strike="noStrike" dirty="0" err="1">
                <a:solidFill>
                  <a:srgbClr val="000000"/>
                </a:solidFill>
                <a:effectLst/>
              </a:rPr>
              <a:t>adam</a:t>
            </a:r>
            <a:r>
              <a:rPr lang="en-US" b="0" i="0" u="none" strike="noStrike" dirty="0">
                <a:solidFill>
                  <a:srgbClr val="000000"/>
                </a:solidFill>
                <a:effectLst/>
              </a:rPr>
              <a:t> </a:t>
            </a:r>
            <a:r>
              <a:rPr lang="en-US" b="0" i="0" u="none" strike="noStrike" dirty="0" err="1">
                <a:solidFill>
                  <a:srgbClr val="000000"/>
                </a:solidFill>
                <a:effectLst/>
              </a:rPr>
              <a:t>sembolüyle</a:t>
            </a:r>
            <a:r>
              <a:rPr lang="en-US" b="0" i="0" u="none" strike="noStrike" dirty="0">
                <a:solidFill>
                  <a:srgbClr val="000000"/>
                </a:solidFill>
                <a:effectLst/>
              </a:rPr>
              <a:t> </a:t>
            </a:r>
            <a:r>
              <a:rPr lang="en-US" b="0" i="0" u="none" strike="noStrike" dirty="0" err="1">
                <a:solidFill>
                  <a:srgbClr val="000000"/>
                </a:solidFill>
                <a:effectLst/>
              </a:rPr>
              <a:t>temsil</a:t>
            </a:r>
            <a:r>
              <a:rPr lang="en-US" b="0" i="0" u="none" strike="noStrike" dirty="0">
                <a:solidFill>
                  <a:srgbClr val="000000"/>
                </a:solidFill>
                <a:effectLst/>
              </a:rPr>
              <a:t> </a:t>
            </a:r>
            <a:r>
              <a:rPr lang="en-US" b="0" i="0" u="none" strike="noStrike" dirty="0" err="1">
                <a:solidFill>
                  <a:srgbClr val="000000"/>
                </a:solidFill>
                <a:effectLst/>
              </a:rPr>
              <a:t>edilir</a:t>
            </a:r>
            <a:r>
              <a:rPr lang="en-US" b="0" i="0" u="none" strike="noStrike" dirty="0">
                <a:solidFill>
                  <a:srgbClr val="000000"/>
                </a:solidFill>
                <a:effectLst/>
              </a:rPr>
              <a:t> (</a:t>
            </a:r>
            <a:r>
              <a:rPr lang="en-US" b="0" i="0" u="none" strike="noStrike" dirty="0" err="1">
                <a:solidFill>
                  <a:srgbClr val="000000"/>
                </a:solidFill>
                <a:effectLst/>
              </a:rPr>
              <a:t>kullanım</a:t>
            </a:r>
            <a:r>
              <a:rPr lang="en-US" b="0" i="0" u="none" strike="noStrike" dirty="0">
                <a:solidFill>
                  <a:srgbClr val="000000"/>
                </a:solidFill>
                <a:effectLst/>
              </a:rPr>
              <a:t> </a:t>
            </a:r>
            <a:r>
              <a:rPr lang="en-US" b="0" i="0" u="none" strike="noStrike" dirty="0" err="1">
                <a:solidFill>
                  <a:srgbClr val="000000"/>
                </a:solidFill>
                <a:effectLst/>
              </a:rPr>
              <a:t>durumu</a:t>
            </a:r>
            <a:r>
              <a:rPr lang="en-US" b="0" i="0" u="none" strike="noStrike" dirty="0">
                <a:solidFill>
                  <a:srgbClr val="000000"/>
                </a:solidFill>
                <a:effectLst/>
              </a:rPr>
              <a:t> </a:t>
            </a:r>
            <a:r>
              <a:rPr lang="en-US" b="0" i="0" u="none" strike="noStrike" dirty="0" err="1">
                <a:solidFill>
                  <a:srgbClr val="000000"/>
                </a:solidFill>
                <a:effectLst/>
              </a:rPr>
              <a:t>diyagramlarından</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err="1">
                <a:solidFill>
                  <a:srgbClr val="000000"/>
                </a:solidFill>
                <a:effectLst/>
              </a:rPr>
              <a:t>Mesajlar</a:t>
            </a:r>
            <a:r>
              <a:rPr lang="en-US" b="0" i="0" u="none" strike="noStrike" dirty="0">
                <a:solidFill>
                  <a:srgbClr val="000000"/>
                </a:solidFill>
                <a:effectLst/>
              </a:rPr>
              <a:t>: </a:t>
            </a:r>
            <a:r>
              <a:rPr lang="en-US" b="0" i="0" u="none" strike="noStrike" dirty="0" err="1">
                <a:solidFill>
                  <a:srgbClr val="000000"/>
                </a:solidFill>
                <a:effectLst/>
              </a:rPr>
              <a:t>Aktivasyon</a:t>
            </a:r>
            <a:r>
              <a:rPr lang="en-US" b="0" i="0" u="none" strike="noStrike" dirty="0">
                <a:solidFill>
                  <a:srgbClr val="000000"/>
                </a:solidFill>
                <a:effectLst/>
              </a:rPr>
              <a:t> </a:t>
            </a:r>
            <a:r>
              <a:rPr lang="en-US" b="0" i="0" u="none" strike="noStrike" dirty="0" err="1">
                <a:solidFill>
                  <a:srgbClr val="000000"/>
                </a:solidFill>
                <a:effectLst/>
              </a:rPr>
              <a:t>kutuları</a:t>
            </a:r>
            <a:r>
              <a:rPr lang="en-US" b="0" i="0" u="none" strike="noStrike" dirty="0">
                <a:solidFill>
                  <a:srgbClr val="000000"/>
                </a:solidFill>
                <a:effectLst/>
              </a:rPr>
              <a:t> </a:t>
            </a:r>
            <a:r>
              <a:rPr lang="en-US" b="0" i="0" u="none" strike="noStrike" dirty="0" err="1">
                <a:solidFill>
                  <a:srgbClr val="000000"/>
                </a:solidFill>
                <a:effectLst/>
              </a:rPr>
              <a:t>arasında</a:t>
            </a:r>
            <a:r>
              <a:rPr lang="en-US" b="0" i="0" u="none" strike="noStrike" dirty="0">
                <a:solidFill>
                  <a:srgbClr val="000000"/>
                </a:solidFill>
                <a:effectLst/>
              </a:rPr>
              <a:t> </a:t>
            </a:r>
            <a:r>
              <a:rPr lang="en-US" b="0" i="0" u="none" strike="noStrike" dirty="0" err="1">
                <a:solidFill>
                  <a:srgbClr val="000000"/>
                </a:solidFill>
                <a:effectLst/>
              </a:rPr>
              <a:t>oklarla</a:t>
            </a:r>
            <a:r>
              <a:rPr lang="en-US" b="0" i="0" u="none" strike="noStrike" dirty="0">
                <a:solidFill>
                  <a:srgbClr val="000000"/>
                </a:solidFill>
                <a:effectLst/>
              </a:rPr>
              <a:t> </a:t>
            </a:r>
            <a:r>
              <a:rPr lang="en-US" b="0" i="0" u="none" strike="noStrike" dirty="0" err="1">
                <a:solidFill>
                  <a:srgbClr val="000000"/>
                </a:solidFill>
                <a:effectLst/>
              </a:rPr>
              <a:t>gösterilir</a:t>
            </a:r>
            <a:r>
              <a:rPr lang="en-US" b="0" i="0" u="none" strike="noStrike" dirty="0">
                <a:solidFill>
                  <a:srgbClr val="000000"/>
                </a:solidFill>
                <a:effectLst/>
              </a:rPr>
              <a:t>; </a:t>
            </a:r>
            <a:r>
              <a:rPr lang="en-US" b="0" i="0" u="none" strike="noStrike" dirty="0" err="1">
                <a:solidFill>
                  <a:srgbClr val="000000"/>
                </a:solidFill>
                <a:effectLst/>
              </a:rPr>
              <a:t>parametreler</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dönüş</a:t>
            </a:r>
            <a:r>
              <a:rPr lang="en-US" b="0" i="0" u="none" strike="noStrike" dirty="0">
                <a:solidFill>
                  <a:srgbClr val="000000"/>
                </a:solidFill>
                <a:effectLst/>
              </a:rPr>
              <a:t> </a:t>
            </a:r>
            <a:r>
              <a:rPr lang="en-US" b="0" i="0" u="none" strike="noStrike" dirty="0" err="1">
                <a:solidFill>
                  <a:srgbClr val="000000"/>
                </a:solidFill>
                <a:effectLst/>
              </a:rPr>
              <a:t>tipleri</a:t>
            </a:r>
            <a:r>
              <a:rPr lang="en-US" b="0" i="0" u="none" strike="noStrike" dirty="0">
                <a:solidFill>
                  <a:srgbClr val="000000"/>
                </a:solidFill>
                <a:effectLst/>
              </a:rPr>
              <a:t> </a:t>
            </a:r>
            <a:r>
              <a:rPr lang="en-US" b="0" i="0" u="none" strike="noStrike" dirty="0" err="1">
                <a:solidFill>
                  <a:srgbClr val="000000"/>
                </a:solidFill>
                <a:effectLst/>
              </a:rPr>
              <a:t>isteğe</a:t>
            </a:r>
            <a:r>
              <a:rPr lang="en-US" b="0" i="0" u="none" strike="noStrike" dirty="0">
                <a:solidFill>
                  <a:srgbClr val="000000"/>
                </a:solidFill>
                <a:effectLst/>
              </a:rPr>
              <a:t> </a:t>
            </a:r>
            <a:r>
              <a:rPr lang="en-US" b="0" i="0" u="none" strike="noStrike" dirty="0" err="1">
                <a:solidFill>
                  <a:srgbClr val="000000"/>
                </a:solidFill>
                <a:effectLst/>
              </a:rPr>
              <a:t>bağlıdır</a:t>
            </a:r>
            <a:r>
              <a:rPr lang="en-US" b="0" i="0" u="none" strike="noStrike" dirty="0">
                <a:solidFill>
                  <a:srgbClr val="000000"/>
                </a:solidFill>
                <a:effectLst/>
              </a:rPr>
              <a:t>.</a:t>
            </a:r>
          </a:p>
          <a:p>
            <a:pPr algn="l"/>
            <a:r>
              <a:rPr lang="en-US" b="1" i="0" u="none" strike="noStrike" dirty="0">
                <a:solidFill>
                  <a:srgbClr val="000000"/>
                </a:solidFill>
                <a:effectLst/>
              </a:rPr>
              <a:t>Ekstra Bilgi</a:t>
            </a:r>
            <a:r>
              <a:rPr lang="en-US" b="0" i="0" u="none" strike="noStrike" dirty="0">
                <a:solidFill>
                  <a:srgbClr val="000000"/>
                </a:solidFill>
                <a:effectLst/>
              </a:rPr>
              <a:t>: Bu </a:t>
            </a:r>
            <a:r>
              <a:rPr lang="en-US" b="0" i="0" u="none" strike="noStrike" dirty="0" err="1">
                <a:solidFill>
                  <a:srgbClr val="000000"/>
                </a:solidFill>
                <a:effectLst/>
              </a:rPr>
              <a:t>notasyonlar</a:t>
            </a:r>
            <a:r>
              <a:rPr lang="en-US" b="0" i="0" u="none" strike="noStrike" dirty="0">
                <a:solidFill>
                  <a:srgbClr val="000000"/>
                </a:solidFill>
                <a:effectLst/>
              </a:rPr>
              <a:t>, UML </a:t>
            </a:r>
            <a:r>
              <a:rPr lang="en-US" b="0" i="0" u="none" strike="noStrike" dirty="0" err="1">
                <a:solidFill>
                  <a:srgbClr val="000000"/>
                </a:solidFill>
                <a:effectLst/>
              </a:rPr>
              <a:t>diyagramlarında</a:t>
            </a:r>
            <a:r>
              <a:rPr lang="en-US" b="0" i="0" u="none" strike="noStrike" dirty="0">
                <a:solidFill>
                  <a:srgbClr val="000000"/>
                </a:solidFill>
                <a:effectLst/>
              </a:rPr>
              <a:t> </a:t>
            </a:r>
            <a:r>
              <a:rPr lang="en-US" b="0" i="0" u="none" strike="noStrike" dirty="0" err="1">
                <a:solidFill>
                  <a:srgbClr val="000000"/>
                </a:solidFill>
                <a:effectLst/>
              </a:rPr>
              <a:t>tutarlılık</a:t>
            </a:r>
            <a:r>
              <a:rPr lang="en-US" b="0" i="0" u="none" strike="noStrike" dirty="0">
                <a:solidFill>
                  <a:srgbClr val="000000"/>
                </a:solidFill>
                <a:effectLst/>
              </a:rPr>
              <a:t> </a:t>
            </a:r>
            <a:r>
              <a:rPr lang="en-US" b="0" i="0" u="none" strike="noStrike" dirty="0" err="1">
                <a:solidFill>
                  <a:srgbClr val="000000"/>
                </a:solidFill>
                <a:effectLst/>
              </a:rPr>
              <a:t>sağlar</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diyagramların</a:t>
            </a:r>
            <a:r>
              <a:rPr lang="en-US" b="0" i="0" u="none" strike="noStrike" dirty="0">
                <a:solidFill>
                  <a:srgbClr val="000000"/>
                </a:solidFill>
                <a:effectLst/>
              </a:rPr>
              <a:t> </a:t>
            </a:r>
            <a:r>
              <a:rPr lang="en-US" b="0" i="0" u="none" strike="noStrike" dirty="0" err="1">
                <a:solidFill>
                  <a:srgbClr val="000000"/>
                </a:solidFill>
                <a:effectLst/>
              </a:rPr>
              <a:t>evrensel</a:t>
            </a:r>
            <a:r>
              <a:rPr lang="en-US" b="0" i="0" u="none" strike="noStrike" dirty="0">
                <a:solidFill>
                  <a:srgbClr val="000000"/>
                </a:solidFill>
                <a:effectLst/>
              </a:rPr>
              <a:t> </a:t>
            </a:r>
            <a:r>
              <a:rPr lang="en-US" b="0" i="0" u="none" strike="noStrike" dirty="0" err="1">
                <a:solidFill>
                  <a:srgbClr val="000000"/>
                </a:solidFill>
                <a:effectLst/>
              </a:rPr>
              <a:t>olarak</a:t>
            </a:r>
            <a:r>
              <a:rPr lang="en-US" b="0" i="0" u="none" strike="noStrike" dirty="0">
                <a:solidFill>
                  <a:srgbClr val="000000"/>
                </a:solidFill>
                <a:effectLst/>
              </a:rPr>
              <a:t> </a:t>
            </a:r>
            <a:r>
              <a:rPr lang="en-US" b="0" i="0" u="none" strike="noStrike" dirty="0" err="1">
                <a:solidFill>
                  <a:srgbClr val="000000"/>
                </a:solidFill>
                <a:effectLst/>
              </a:rPr>
              <a:t>anlaşılmasını</a:t>
            </a:r>
            <a:r>
              <a:rPr lang="en-US" b="0" i="0" u="none" strike="noStrike" dirty="0">
                <a:solidFill>
                  <a:srgbClr val="000000"/>
                </a:solidFill>
                <a:effectLst/>
              </a:rPr>
              <a:t> </a:t>
            </a:r>
            <a:r>
              <a:rPr lang="en-US" b="0" i="0" u="none" strike="noStrike" dirty="0" err="1">
                <a:solidFill>
                  <a:srgbClr val="000000"/>
                </a:solidFill>
                <a:effectLst/>
              </a:rPr>
              <a:t>mümkün</a:t>
            </a:r>
            <a:r>
              <a:rPr lang="en-US" b="0" i="0" u="none" strike="noStrike" dirty="0">
                <a:solidFill>
                  <a:srgbClr val="000000"/>
                </a:solidFill>
                <a:effectLst/>
              </a:rPr>
              <a:t> </a:t>
            </a:r>
            <a:r>
              <a:rPr lang="en-US" b="0" i="0" u="none" strike="noStrike" dirty="0" err="1">
                <a:solidFill>
                  <a:srgbClr val="000000"/>
                </a:solidFill>
                <a:effectLst/>
              </a:rPr>
              <a:t>kılar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33795" name="Rectangle 2"/>
          <p:cNvSpPr>
            <a:spLocks noGrp="1" noRot="1" noChangeAspect="1" noChangeArrowheads="1" noTextEdit="1"/>
          </p:cNvSpPr>
          <p:nvPr>
            <p:ph type="sldImg"/>
          </p:nvPr>
        </p:nvSpPr>
        <p:spPr>
          <a:xfrm>
            <a:off x="1173163" y="696913"/>
            <a:ext cx="4638675" cy="3479800"/>
          </a:xfrm>
          <a:ln/>
        </p:spPr>
      </p:sp>
      <p:sp>
        <p:nvSpPr>
          <p:cNvPr id="3379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u="none" strike="noStrike" dirty="0">
                <a:solidFill>
                  <a:srgbClr val="000000"/>
                </a:solidFill>
                <a:effectLst/>
              </a:rPr>
              <a:t>Actors</a:t>
            </a:r>
            <a:r>
              <a:rPr lang="en-US" b="0" i="0" u="none" strike="noStrike" dirty="0">
                <a:solidFill>
                  <a:srgbClr val="000000"/>
                </a:solidFill>
                <a:effectLst/>
              </a:rPr>
              <a:t>: Represented using the stick figure symbol (from use case diagrams).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xfrm>
            <a:off x="1173163" y="696913"/>
            <a:ext cx="4638675" cy="3479800"/>
          </a:xfrm>
          <a:ln/>
        </p:spPr>
      </p:sp>
      <p:sp>
        <p:nvSpPr>
          <p:cNvPr id="35843"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1" i="0" u="none" strike="noStrike" dirty="0">
                <a:solidFill>
                  <a:srgbClr val="000000"/>
                </a:solidFill>
                <a:effectLst/>
              </a:rPr>
              <a:t>Messages</a:t>
            </a:r>
            <a:r>
              <a:rPr lang="en-US" b="0" i="0" u="none" strike="noStrike" dirty="0">
                <a:solidFill>
                  <a:srgbClr val="000000"/>
                </a:solidFill>
                <a:effectLst/>
              </a:rPr>
              <a:t>: Shown as arrows between activation boxes, with optional parameters and return types.</a:t>
            </a:r>
          </a:p>
          <a:p>
            <a:endParaRPr lang="tr-TR" dirty="0">
              <a:latin typeface="Times" charset="0"/>
              <a:ea typeface="ＭＳ Ｐゴシック" charset="0"/>
              <a:cs typeface="ＭＳ Ｐゴシック" charset="0"/>
            </a:endParaRPr>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1173163" y="696913"/>
            <a:ext cx="4638675" cy="3479800"/>
          </a:xfrm>
          <a:ln/>
        </p:spPr>
      </p:sp>
      <p:sp>
        <p:nvSpPr>
          <p:cNvPr id="37891"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5: Lifelines, Messages, and Replies</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1" i="0" u="none" strike="noStrike" dirty="0">
                <a:solidFill>
                  <a:srgbClr val="000000"/>
                </a:solidFill>
                <a:effectLst/>
              </a:rPr>
              <a:t>Lifelines</a:t>
            </a:r>
            <a:r>
              <a:rPr lang="en-US" b="0" i="0" u="none" strike="noStrike" dirty="0">
                <a:solidFill>
                  <a:srgbClr val="000000"/>
                </a:solidFill>
                <a:effectLst/>
              </a:rPr>
              <a:t>: Represent the existence of an object or actor over time in a sequence diagram.</a:t>
            </a:r>
          </a:p>
          <a:p>
            <a:pPr marL="742950" lvl="1" indent="-285750" algn="l">
              <a:buFont typeface="Arial" panose="020B0604020202020204" pitchFamily="34" charset="0"/>
              <a:buChar char="•"/>
            </a:pPr>
            <a:r>
              <a:rPr lang="en-US" b="0" i="0" u="none" strike="noStrike" dirty="0">
                <a:solidFill>
                  <a:srgbClr val="000000"/>
                </a:solidFill>
                <a:effectLst/>
              </a:rPr>
              <a:t>They are vertical dashed lines originating from the object's rectangle.</a:t>
            </a:r>
          </a:p>
          <a:p>
            <a:pPr algn="l">
              <a:buFont typeface="Arial" panose="020B0604020202020204" pitchFamily="34" charset="0"/>
              <a:buChar char="•"/>
            </a:pPr>
            <a:r>
              <a:rPr lang="en-US" b="1" i="0" u="none" strike="noStrike" dirty="0">
                <a:solidFill>
                  <a:srgbClr val="000000"/>
                </a:solidFill>
                <a:effectLst/>
              </a:rPr>
              <a:t>Messages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Represent communication between objects.</a:t>
            </a:r>
          </a:p>
          <a:p>
            <a:pPr marL="742950" lvl="1" indent="-285750" algn="l">
              <a:buFont typeface="Arial" panose="020B0604020202020204" pitchFamily="34" charset="0"/>
              <a:buChar char="•"/>
            </a:pPr>
            <a:r>
              <a:rPr lang="en-US" b="0" i="0" u="none" strike="noStrike" dirty="0">
                <a:solidFill>
                  <a:srgbClr val="000000"/>
                </a:solidFill>
                <a:effectLst/>
              </a:rPr>
              <a:t>Shown as arrows with optional syntax for return values, parameters, and types.</a:t>
            </a:r>
          </a:p>
          <a:p>
            <a:pPr algn="l">
              <a:buFont typeface="Arial" panose="020B0604020202020204" pitchFamily="34" charset="0"/>
              <a:buChar char="•"/>
            </a:pPr>
            <a:r>
              <a:rPr lang="en-US" b="1" i="0" u="none" strike="noStrike" dirty="0">
                <a:solidFill>
                  <a:srgbClr val="000000"/>
                </a:solidFill>
                <a:effectLst/>
              </a:rPr>
              <a:t>Replies or Return Values</a:t>
            </a:r>
            <a:r>
              <a:rPr lang="en-US" b="0" i="0" u="none" strike="noStrike" dirty="0">
                <a:solidFill>
                  <a:srgbClr val="000000"/>
                </a:solidFill>
                <a:effectLst/>
              </a:rPr>
              <a:t>: Can be illustrated in two ways:</a:t>
            </a:r>
          </a:p>
          <a:p>
            <a:pPr marL="742950" lvl="1" indent="-285750" algn="l">
              <a:buFont typeface="Arial" panose="020B0604020202020204" pitchFamily="34" charset="0"/>
              <a:buChar char="•"/>
            </a:pPr>
            <a:r>
              <a:rPr lang="en-US" b="0" i="0" u="none" strike="noStrike" dirty="0">
                <a:solidFill>
                  <a:srgbClr val="000000"/>
                </a:solidFill>
                <a:effectLst/>
              </a:rPr>
              <a:t>With explicit return arrows.</a:t>
            </a:r>
          </a:p>
          <a:p>
            <a:pPr marL="742950" lvl="1" indent="-285750" algn="l">
              <a:buFont typeface="Arial" panose="020B0604020202020204" pitchFamily="34" charset="0"/>
              <a:buChar char="•"/>
            </a:pPr>
            <a:r>
              <a:rPr lang="en-US" b="0" i="0" u="none" strike="noStrike" dirty="0">
                <a:solidFill>
                  <a:srgbClr val="000000"/>
                </a:solidFill>
                <a:effectLst/>
              </a:rPr>
              <a:t>Embedded in the message syntax.</a:t>
            </a:r>
          </a:p>
          <a:p>
            <a:pPr algn="l"/>
            <a:r>
              <a:rPr lang="en-US" b="1" i="0" u="none" strike="noStrike" dirty="0">
                <a:solidFill>
                  <a:srgbClr val="000000"/>
                </a:solidFill>
                <a:effectLst/>
              </a:rPr>
              <a:t>Additional Info</a:t>
            </a:r>
            <a:r>
              <a:rPr lang="en-US" b="0" i="0" u="none" strike="noStrike" dirty="0">
                <a:solidFill>
                  <a:srgbClr val="000000"/>
                </a:solidFill>
                <a:effectLst/>
              </a:rPr>
              <a:t>: Lifelines and messages help visualize how the system works during specific tasks, especially for debugging or understanding dependencies.</a:t>
            </a: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Turkish Explanation:</a:t>
            </a:r>
          </a:p>
          <a:p>
            <a:pPr algn="l">
              <a:buFont typeface="Arial" panose="020B0604020202020204" pitchFamily="34" charset="0"/>
              <a:buChar char="•"/>
            </a:pPr>
            <a:r>
              <a:rPr lang="en-US" b="1" i="0" u="none" strike="noStrike" dirty="0" err="1">
                <a:solidFill>
                  <a:srgbClr val="000000"/>
                </a:solidFill>
                <a:effectLst/>
              </a:rPr>
              <a:t>Yaşam</a:t>
            </a:r>
            <a:r>
              <a:rPr lang="en-US" b="1" i="0" u="none" strike="noStrike" dirty="0">
                <a:solidFill>
                  <a:srgbClr val="000000"/>
                </a:solidFill>
                <a:effectLst/>
              </a:rPr>
              <a:t> </a:t>
            </a:r>
            <a:r>
              <a:rPr lang="en-US" b="1" i="0" u="none" strike="noStrike" dirty="0" err="1">
                <a:solidFill>
                  <a:srgbClr val="000000"/>
                </a:solidFill>
                <a:effectLst/>
              </a:rPr>
              <a:t>Çizgileri</a:t>
            </a:r>
            <a:r>
              <a:rPr lang="en-US" b="1" i="0" u="none" strike="noStrike" dirty="0">
                <a:solidFill>
                  <a:srgbClr val="000000"/>
                </a:solidFill>
                <a:effectLst/>
              </a:rPr>
              <a:t> (Lifelines)</a:t>
            </a:r>
            <a:r>
              <a:rPr lang="en-US" b="0" i="0" u="none" strike="noStrike" dirty="0">
                <a:solidFill>
                  <a:srgbClr val="000000"/>
                </a:solidFill>
                <a:effectLst/>
              </a:rPr>
              <a:t>: </a:t>
            </a:r>
            <a:r>
              <a:rPr lang="en-US" b="0" i="0" u="none" strike="noStrike" dirty="0" err="1">
                <a:solidFill>
                  <a:srgbClr val="000000"/>
                </a:solidFill>
                <a:effectLst/>
              </a:rPr>
              <a:t>Sıra</a:t>
            </a:r>
            <a:r>
              <a:rPr lang="en-US" b="0" i="0" u="none" strike="noStrike" dirty="0">
                <a:solidFill>
                  <a:srgbClr val="000000"/>
                </a:solidFill>
                <a:effectLst/>
              </a:rPr>
              <a:t> </a:t>
            </a:r>
            <a:r>
              <a:rPr lang="en-US" b="0" i="0" u="none" strike="noStrike" dirty="0" err="1">
                <a:solidFill>
                  <a:srgbClr val="000000"/>
                </a:solidFill>
                <a:effectLst/>
              </a:rPr>
              <a:t>diyagramlarında</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nesnenin</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aktörün</a:t>
            </a:r>
            <a:r>
              <a:rPr lang="en-US" b="0" i="0" u="none" strike="noStrike" dirty="0">
                <a:solidFill>
                  <a:srgbClr val="000000"/>
                </a:solidFill>
                <a:effectLst/>
              </a:rPr>
              <a:t> zaman </a:t>
            </a:r>
            <a:r>
              <a:rPr lang="en-US" b="0" i="0" u="none" strike="noStrike" dirty="0" err="1">
                <a:solidFill>
                  <a:srgbClr val="000000"/>
                </a:solidFill>
                <a:effectLst/>
              </a:rPr>
              <a:t>içindeki</a:t>
            </a:r>
            <a:r>
              <a:rPr lang="en-US" b="0" i="0" u="none" strike="noStrike" dirty="0">
                <a:solidFill>
                  <a:srgbClr val="000000"/>
                </a:solidFill>
                <a:effectLst/>
              </a:rPr>
              <a:t> </a:t>
            </a:r>
            <a:r>
              <a:rPr lang="en-US" b="0" i="0" u="none" strike="noStrike" dirty="0" err="1">
                <a:solidFill>
                  <a:srgbClr val="000000"/>
                </a:solidFill>
                <a:effectLst/>
              </a:rPr>
              <a:t>varlığını</a:t>
            </a:r>
            <a:r>
              <a:rPr lang="en-US" b="0" i="0" u="none" strike="noStrike" dirty="0">
                <a:solidFill>
                  <a:srgbClr val="000000"/>
                </a:solidFill>
                <a:effectLst/>
              </a:rPr>
              <a:t> </a:t>
            </a:r>
            <a:r>
              <a:rPr lang="en-US" b="0" i="0" u="none" strike="noStrike" dirty="0" err="1">
                <a:solidFill>
                  <a:srgbClr val="000000"/>
                </a:solidFill>
                <a:effectLst/>
              </a:rPr>
              <a:t>temsil</a:t>
            </a:r>
            <a:r>
              <a:rPr lang="en-US" b="0" i="0" u="none" strike="noStrike" dirty="0">
                <a:solidFill>
                  <a:srgbClr val="000000"/>
                </a:solidFill>
                <a:effectLst/>
              </a:rPr>
              <a:t> </a:t>
            </a:r>
            <a:r>
              <a:rPr lang="en-US" b="0" i="0" u="none" strike="noStrike" dirty="0" err="1">
                <a:solidFill>
                  <a:srgbClr val="000000"/>
                </a:solidFill>
                <a:effectLst/>
              </a:rPr>
              <a:t>eder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Nesne</a:t>
            </a:r>
            <a:r>
              <a:rPr lang="en-US" b="0" i="0" u="none" strike="noStrike" dirty="0">
                <a:solidFill>
                  <a:srgbClr val="000000"/>
                </a:solidFill>
                <a:effectLst/>
              </a:rPr>
              <a:t> </a:t>
            </a:r>
            <a:r>
              <a:rPr lang="en-US" b="0" i="0" u="none" strike="noStrike" dirty="0" err="1">
                <a:solidFill>
                  <a:srgbClr val="000000"/>
                </a:solidFill>
                <a:effectLst/>
              </a:rPr>
              <a:t>kutusundan</a:t>
            </a:r>
            <a:r>
              <a:rPr lang="en-US" b="0" i="0" u="none" strike="noStrike" dirty="0">
                <a:solidFill>
                  <a:srgbClr val="000000"/>
                </a:solidFill>
                <a:effectLst/>
              </a:rPr>
              <a:t> </a:t>
            </a:r>
            <a:r>
              <a:rPr lang="en-US" b="0" i="0" u="none" strike="noStrike" dirty="0" err="1">
                <a:solidFill>
                  <a:srgbClr val="000000"/>
                </a:solidFill>
                <a:effectLst/>
              </a:rPr>
              <a:t>çıkan</a:t>
            </a:r>
            <a:r>
              <a:rPr lang="en-US" b="0" i="0" u="none" strike="noStrike" dirty="0">
                <a:solidFill>
                  <a:srgbClr val="000000"/>
                </a:solidFill>
                <a:effectLst/>
              </a:rPr>
              <a:t> </a:t>
            </a:r>
            <a:r>
              <a:rPr lang="en-US" b="0" i="0" u="none" strike="noStrike" dirty="0" err="1">
                <a:solidFill>
                  <a:srgbClr val="000000"/>
                </a:solidFill>
                <a:effectLst/>
              </a:rPr>
              <a:t>dikey</a:t>
            </a:r>
            <a:r>
              <a:rPr lang="en-US" b="0" i="0" u="none" strike="noStrike" dirty="0">
                <a:solidFill>
                  <a:srgbClr val="000000"/>
                </a:solidFill>
                <a:effectLst/>
              </a:rPr>
              <a:t> </a:t>
            </a:r>
            <a:r>
              <a:rPr lang="en-US" b="0" i="0" u="none" strike="noStrike" dirty="0" err="1">
                <a:solidFill>
                  <a:srgbClr val="000000"/>
                </a:solidFill>
                <a:effectLst/>
              </a:rPr>
              <a:t>kesik</a:t>
            </a:r>
            <a:r>
              <a:rPr lang="en-US" b="0" i="0" u="none" strike="noStrike" dirty="0">
                <a:solidFill>
                  <a:srgbClr val="000000"/>
                </a:solidFill>
                <a:effectLst/>
              </a:rPr>
              <a:t> </a:t>
            </a:r>
            <a:r>
              <a:rPr lang="en-US" b="0" i="0" u="none" strike="noStrike" dirty="0" err="1">
                <a:solidFill>
                  <a:srgbClr val="000000"/>
                </a:solidFill>
                <a:effectLst/>
              </a:rPr>
              <a:t>çizgiler</a:t>
            </a:r>
            <a:r>
              <a:rPr lang="en-US" b="0" i="0" u="none" strike="noStrike" dirty="0">
                <a:solidFill>
                  <a:srgbClr val="000000"/>
                </a:solidFill>
                <a:effectLst/>
              </a:rPr>
              <a:t> </a:t>
            </a:r>
            <a:r>
              <a:rPr lang="en-US" b="0" i="0" u="none" strike="noStrike" dirty="0" err="1">
                <a:solidFill>
                  <a:srgbClr val="000000"/>
                </a:solidFill>
                <a:effectLst/>
              </a:rPr>
              <a:t>olarak</a:t>
            </a:r>
            <a:r>
              <a:rPr lang="en-US" b="0" i="0" u="none" strike="noStrike" dirty="0">
                <a:solidFill>
                  <a:srgbClr val="000000"/>
                </a:solidFill>
                <a:effectLst/>
              </a:rPr>
              <a:t> </a:t>
            </a:r>
            <a:r>
              <a:rPr lang="en-US" b="0" i="0" u="none" strike="noStrike" dirty="0" err="1">
                <a:solidFill>
                  <a:srgbClr val="000000"/>
                </a:solidFill>
                <a:effectLst/>
              </a:rPr>
              <a:t>gösterilir</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err="1">
                <a:solidFill>
                  <a:srgbClr val="000000"/>
                </a:solidFill>
                <a:effectLst/>
              </a:rPr>
              <a:t>Mesajlar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Nesneler</a:t>
            </a:r>
            <a:r>
              <a:rPr lang="en-US" b="0" i="0" u="none" strike="noStrike" dirty="0">
                <a:solidFill>
                  <a:srgbClr val="000000"/>
                </a:solidFill>
                <a:effectLst/>
              </a:rPr>
              <a:t> </a:t>
            </a:r>
            <a:r>
              <a:rPr lang="en-US" b="0" i="0" u="none" strike="noStrike" dirty="0" err="1">
                <a:solidFill>
                  <a:srgbClr val="000000"/>
                </a:solidFill>
                <a:effectLst/>
              </a:rPr>
              <a:t>arasındaki</a:t>
            </a:r>
            <a:r>
              <a:rPr lang="en-US" b="0" i="0" u="none" strike="noStrike" dirty="0">
                <a:solidFill>
                  <a:srgbClr val="000000"/>
                </a:solidFill>
                <a:effectLst/>
              </a:rPr>
              <a:t> </a:t>
            </a:r>
            <a:r>
              <a:rPr lang="en-US" b="0" i="0" u="none" strike="noStrike" dirty="0" err="1">
                <a:solidFill>
                  <a:srgbClr val="000000"/>
                </a:solidFill>
                <a:effectLst/>
              </a:rPr>
              <a:t>iletişimi</a:t>
            </a:r>
            <a:r>
              <a:rPr lang="en-US" b="0" i="0" u="none" strike="noStrike" dirty="0">
                <a:solidFill>
                  <a:srgbClr val="000000"/>
                </a:solidFill>
                <a:effectLst/>
              </a:rPr>
              <a:t> </a:t>
            </a:r>
            <a:r>
              <a:rPr lang="en-US" b="0" i="0" u="none" strike="noStrike" dirty="0" err="1">
                <a:solidFill>
                  <a:srgbClr val="000000"/>
                </a:solidFill>
                <a:effectLst/>
              </a:rPr>
              <a:t>temsil</a:t>
            </a:r>
            <a:r>
              <a:rPr lang="en-US" b="0" i="0" u="none" strike="noStrike" dirty="0">
                <a:solidFill>
                  <a:srgbClr val="000000"/>
                </a:solidFill>
                <a:effectLst/>
              </a:rPr>
              <a:t> </a:t>
            </a:r>
            <a:r>
              <a:rPr lang="en-US" b="0" i="0" u="none" strike="noStrike" dirty="0" err="1">
                <a:solidFill>
                  <a:srgbClr val="000000"/>
                </a:solidFill>
                <a:effectLst/>
              </a:rPr>
              <a:t>eder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Geri </a:t>
            </a:r>
            <a:r>
              <a:rPr lang="en-US" b="0" i="0" u="none" strike="noStrike" dirty="0" err="1">
                <a:solidFill>
                  <a:srgbClr val="000000"/>
                </a:solidFill>
                <a:effectLst/>
              </a:rPr>
              <a:t>dönüş</a:t>
            </a:r>
            <a:r>
              <a:rPr lang="en-US" b="0" i="0" u="none" strike="noStrike" dirty="0">
                <a:solidFill>
                  <a:srgbClr val="000000"/>
                </a:solidFill>
                <a:effectLst/>
              </a:rPr>
              <a:t> </a:t>
            </a:r>
            <a:r>
              <a:rPr lang="en-US" b="0" i="0" u="none" strike="noStrike" dirty="0" err="1">
                <a:solidFill>
                  <a:srgbClr val="000000"/>
                </a:solidFill>
                <a:effectLst/>
              </a:rPr>
              <a:t>değerleri</a:t>
            </a:r>
            <a:r>
              <a:rPr lang="en-US" b="0" i="0" u="none" strike="noStrike" dirty="0">
                <a:solidFill>
                  <a:srgbClr val="000000"/>
                </a:solidFill>
                <a:effectLst/>
              </a:rPr>
              <a:t>, </a:t>
            </a:r>
            <a:r>
              <a:rPr lang="en-US" b="0" i="0" u="none" strike="noStrike" dirty="0" err="1">
                <a:solidFill>
                  <a:srgbClr val="000000"/>
                </a:solidFill>
                <a:effectLst/>
              </a:rPr>
              <a:t>parametreler</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türler</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isteğe</a:t>
            </a:r>
            <a:r>
              <a:rPr lang="en-US" b="0" i="0" u="none" strike="noStrike" dirty="0">
                <a:solidFill>
                  <a:srgbClr val="000000"/>
                </a:solidFill>
                <a:effectLst/>
              </a:rPr>
              <a:t> </a:t>
            </a:r>
            <a:r>
              <a:rPr lang="en-US" b="0" i="0" u="none" strike="noStrike" dirty="0" err="1">
                <a:solidFill>
                  <a:srgbClr val="000000"/>
                </a:solidFill>
                <a:effectLst/>
              </a:rPr>
              <a:t>bağlı</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sözdizimi</a:t>
            </a:r>
            <a:r>
              <a:rPr lang="en-US" b="0" i="0" u="none" strike="noStrike" dirty="0">
                <a:solidFill>
                  <a:srgbClr val="000000"/>
                </a:solidFill>
                <a:effectLst/>
              </a:rPr>
              <a:t> </a:t>
            </a:r>
            <a:r>
              <a:rPr lang="en-US" b="0" i="0" u="none" strike="noStrike" dirty="0" err="1">
                <a:solidFill>
                  <a:srgbClr val="000000"/>
                </a:solidFill>
                <a:effectLst/>
              </a:rPr>
              <a:t>ile</a:t>
            </a:r>
            <a:r>
              <a:rPr lang="en-US" b="0" i="0" u="none" strike="noStrike" dirty="0">
                <a:solidFill>
                  <a:srgbClr val="000000"/>
                </a:solidFill>
                <a:effectLst/>
              </a:rPr>
              <a:t> </a:t>
            </a:r>
            <a:r>
              <a:rPr lang="en-US" b="0" i="0" u="none" strike="noStrike" dirty="0" err="1">
                <a:solidFill>
                  <a:srgbClr val="000000"/>
                </a:solidFill>
                <a:effectLst/>
              </a:rPr>
              <a:t>oklarla</a:t>
            </a:r>
            <a:r>
              <a:rPr lang="en-US" b="0" i="0" u="none" strike="noStrike" dirty="0">
                <a:solidFill>
                  <a:srgbClr val="000000"/>
                </a:solidFill>
                <a:effectLst/>
              </a:rPr>
              <a:t> </a:t>
            </a:r>
            <a:r>
              <a:rPr lang="en-US" b="0" i="0" u="none" strike="noStrike" dirty="0" err="1">
                <a:solidFill>
                  <a:srgbClr val="000000"/>
                </a:solidFill>
                <a:effectLst/>
              </a:rPr>
              <a:t>gösterilir</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err="1">
                <a:solidFill>
                  <a:srgbClr val="000000"/>
                </a:solidFill>
                <a:effectLst/>
              </a:rPr>
              <a:t>Yanıtlar</a:t>
            </a:r>
            <a:r>
              <a:rPr lang="en-US" b="1" i="0" u="none" strike="noStrike" dirty="0">
                <a:solidFill>
                  <a:srgbClr val="000000"/>
                </a:solidFill>
                <a:effectLst/>
              </a:rPr>
              <a:t> </a:t>
            </a:r>
            <a:r>
              <a:rPr lang="en-US" b="1" i="0" u="none" strike="noStrike" dirty="0" err="1">
                <a:solidFill>
                  <a:srgbClr val="000000"/>
                </a:solidFill>
                <a:effectLst/>
              </a:rPr>
              <a:t>veya</a:t>
            </a:r>
            <a:r>
              <a:rPr lang="en-US" b="1" i="0" u="none" strike="noStrike" dirty="0">
                <a:solidFill>
                  <a:srgbClr val="000000"/>
                </a:solidFill>
                <a:effectLst/>
              </a:rPr>
              <a:t> </a:t>
            </a:r>
            <a:r>
              <a:rPr lang="en-US" b="1" i="0" u="none" strike="noStrike" dirty="0" err="1">
                <a:solidFill>
                  <a:srgbClr val="000000"/>
                </a:solidFill>
                <a:effectLst/>
              </a:rPr>
              <a:t>Dönüş</a:t>
            </a:r>
            <a:r>
              <a:rPr lang="en-US" b="1" i="0" u="none" strike="noStrike" dirty="0">
                <a:solidFill>
                  <a:srgbClr val="000000"/>
                </a:solidFill>
                <a:effectLst/>
              </a:rPr>
              <a:t> </a:t>
            </a:r>
            <a:r>
              <a:rPr lang="en-US" b="1" i="0" u="none" strike="noStrike" dirty="0" err="1">
                <a:solidFill>
                  <a:srgbClr val="000000"/>
                </a:solidFill>
                <a:effectLst/>
              </a:rPr>
              <a:t>Değerleri</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Açık</a:t>
            </a:r>
            <a:r>
              <a:rPr lang="en-US" b="0" i="0" u="none" strike="noStrike" dirty="0">
                <a:solidFill>
                  <a:srgbClr val="000000"/>
                </a:solidFill>
                <a:effectLst/>
              </a:rPr>
              <a:t> </a:t>
            </a:r>
            <a:r>
              <a:rPr lang="en-US" b="0" i="0" u="none" strike="noStrike" dirty="0" err="1">
                <a:solidFill>
                  <a:srgbClr val="000000"/>
                </a:solidFill>
                <a:effectLst/>
              </a:rPr>
              <a:t>dönüş</a:t>
            </a:r>
            <a:r>
              <a:rPr lang="en-US" b="0" i="0" u="none" strike="noStrike" dirty="0">
                <a:solidFill>
                  <a:srgbClr val="000000"/>
                </a:solidFill>
                <a:effectLst/>
              </a:rPr>
              <a:t> </a:t>
            </a:r>
            <a:r>
              <a:rPr lang="en-US" b="0" i="0" u="none" strike="noStrike" dirty="0" err="1">
                <a:solidFill>
                  <a:srgbClr val="000000"/>
                </a:solidFill>
                <a:effectLst/>
              </a:rPr>
              <a:t>oklarıyla</a:t>
            </a:r>
            <a:r>
              <a:rPr lang="en-US" b="0" i="0" u="none" strike="noStrike" dirty="0">
                <a:solidFill>
                  <a:srgbClr val="000000"/>
                </a:solidFill>
                <a:effectLst/>
              </a:rPr>
              <a:t> </a:t>
            </a:r>
            <a:r>
              <a:rPr lang="en-US" b="0" i="0" u="none" strike="noStrike" dirty="0" err="1">
                <a:solidFill>
                  <a:srgbClr val="000000"/>
                </a:solidFill>
                <a:effectLst/>
              </a:rPr>
              <a:t>gösterilebilir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Mesaj</a:t>
            </a:r>
            <a:r>
              <a:rPr lang="en-US" b="0" i="0" u="none" strike="noStrike" dirty="0">
                <a:solidFill>
                  <a:srgbClr val="000000"/>
                </a:solidFill>
                <a:effectLst/>
              </a:rPr>
              <a:t> </a:t>
            </a:r>
            <a:r>
              <a:rPr lang="en-US" b="0" i="0" u="none" strike="noStrike" dirty="0" err="1">
                <a:solidFill>
                  <a:srgbClr val="000000"/>
                </a:solidFill>
                <a:effectLst/>
              </a:rPr>
              <a:t>sözdizimi</a:t>
            </a:r>
            <a:r>
              <a:rPr lang="en-US" b="0" i="0" u="none" strike="noStrike" dirty="0">
                <a:solidFill>
                  <a:srgbClr val="000000"/>
                </a:solidFill>
                <a:effectLst/>
              </a:rPr>
              <a:t> </a:t>
            </a:r>
            <a:r>
              <a:rPr lang="en-US" b="0" i="0" u="none" strike="noStrike" dirty="0" err="1">
                <a:solidFill>
                  <a:srgbClr val="000000"/>
                </a:solidFill>
                <a:effectLst/>
              </a:rPr>
              <a:t>içinde</a:t>
            </a:r>
            <a:r>
              <a:rPr lang="en-US" b="0" i="0" u="none" strike="noStrike" dirty="0">
                <a:solidFill>
                  <a:srgbClr val="000000"/>
                </a:solidFill>
                <a:effectLst/>
              </a:rPr>
              <a:t> </a:t>
            </a:r>
            <a:r>
              <a:rPr lang="en-US" b="0" i="0" u="none" strike="noStrike" dirty="0" err="1">
                <a:solidFill>
                  <a:srgbClr val="000000"/>
                </a:solidFill>
                <a:effectLst/>
              </a:rPr>
              <a:t>yer</a:t>
            </a:r>
            <a:r>
              <a:rPr lang="en-US" b="0" i="0" u="none" strike="noStrike" dirty="0">
                <a:solidFill>
                  <a:srgbClr val="000000"/>
                </a:solidFill>
                <a:effectLst/>
              </a:rPr>
              <a:t> </a:t>
            </a:r>
            <a:r>
              <a:rPr lang="en-US" b="0" i="0" u="none" strike="noStrike" dirty="0" err="1">
                <a:solidFill>
                  <a:srgbClr val="000000"/>
                </a:solidFill>
                <a:effectLst/>
              </a:rPr>
              <a:t>alabilir</a:t>
            </a:r>
            <a:r>
              <a:rPr lang="en-US" b="0" i="0" u="none" strike="noStrike" dirty="0">
                <a:solidFill>
                  <a:srgbClr val="000000"/>
                </a:solidFill>
                <a:effectLst/>
              </a:rPr>
              <a:t>.</a:t>
            </a:r>
          </a:p>
          <a:p>
            <a:pPr algn="l"/>
            <a:r>
              <a:rPr lang="en-US" b="1" i="0" u="none" strike="noStrike" dirty="0">
                <a:solidFill>
                  <a:srgbClr val="000000"/>
                </a:solidFill>
                <a:effectLst/>
              </a:rPr>
              <a:t>Ekstra Bilgi</a:t>
            </a:r>
            <a:r>
              <a:rPr lang="en-US" b="0" i="0" u="none" strike="noStrike" dirty="0">
                <a:solidFill>
                  <a:srgbClr val="000000"/>
                </a:solidFill>
                <a:effectLst/>
              </a:rPr>
              <a:t>: </a:t>
            </a:r>
            <a:r>
              <a:rPr lang="en-US" b="0" i="0" u="none" strike="noStrike" dirty="0" err="1">
                <a:solidFill>
                  <a:srgbClr val="000000"/>
                </a:solidFill>
                <a:effectLst/>
              </a:rPr>
              <a:t>Yaşam</a:t>
            </a:r>
            <a:r>
              <a:rPr lang="en-US" b="0" i="0" u="none" strike="noStrike" dirty="0">
                <a:solidFill>
                  <a:srgbClr val="000000"/>
                </a:solidFill>
                <a:effectLst/>
              </a:rPr>
              <a:t> </a:t>
            </a:r>
            <a:r>
              <a:rPr lang="en-US" b="0" i="0" u="none" strike="noStrike" dirty="0" err="1">
                <a:solidFill>
                  <a:srgbClr val="000000"/>
                </a:solidFill>
                <a:effectLst/>
              </a:rPr>
              <a:t>çizgileri</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mesajlar</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sistemin</a:t>
            </a:r>
            <a:r>
              <a:rPr lang="en-US" b="0" i="0" u="none" strike="noStrike" dirty="0">
                <a:solidFill>
                  <a:srgbClr val="000000"/>
                </a:solidFill>
                <a:effectLst/>
              </a:rPr>
              <a:t> </a:t>
            </a:r>
            <a:r>
              <a:rPr lang="en-US" b="0" i="0" u="none" strike="noStrike" dirty="0" err="1">
                <a:solidFill>
                  <a:srgbClr val="000000"/>
                </a:solidFill>
                <a:effectLst/>
              </a:rPr>
              <a:t>belirli</a:t>
            </a:r>
            <a:r>
              <a:rPr lang="en-US" b="0" i="0" u="none" strike="noStrike" dirty="0">
                <a:solidFill>
                  <a:srgbClr val="000000"/>
                </a:solidFill>
                <a:effectLst/>
              </a:rPr>
              <a:t> </a:t>
            </a:r>
            <a:r>
              <a:rPr lang="en-US" b="0" i="0" u="none" strike="noStrike" dirty="0" err="1">
                <a:solidFill>
                  <a:srgbClr val="000000"/>
                </a:solidFill>
                <a:effectLst/>
              </a:rPr>
              <a:t>görevlerde</a:t>
            </a:r>
            <a:r>
              <a:rPr lang="en-US" b="0" i="0" u="none" strike="noStrike" dirty="0">
                <a:solidFill>
                  <a:srgbClr val="000000"/>
                </a:solidFill>
                <a:effectLst/>
              </a:rPr>
              <a:t> </a:t>
            </a:r>
            <a:r>
              <a:rPr lang="en-US" b="0" i="0" u="none" strike="noStrike" dirty="0" err="1">
                <a:solidFill>
                  <a:srgbClr val="000000"/>
                </a:solidFill>
                <a:effectLst/>
              </a:rPr>
              <a:t>nasıl</a:t>
            </a:r>
            <a:r>
              <a:rPr lang="en-US" b="0" i="0" u="none" strike="noStrike" dirty="0">
                <a:solidFill>
                  <a:srgbClr val="000000"/>
                </a:solidFill>
                <a:effectLst/>
              </a:rPr>
              <a:t> </a:t>
            </a:r>
            <a:r>
              <a:rPr lang="en-US" b="0" i="0" u="none" strike="noStrike" dirty="0" err="1">
                <a:solidFill>
                  <a:srgbClr val="000000"/>
                </a:solidFill>
                <a:effectLst/>
              </a:rPr>
              <a:t>çalıştığını</a:t>
            </a:r>
            <a:r>
              <a:rPr lang="en-US" b="0" i="0" u="none" strike="noStrike" dirty="0">
                <a:solidFill>
                  <a:srgbClr val="000000"/>
                </a:solidFill>
                <a:effectLst/>
              </a:rPr>
              <a:t> </a:t>
            </a:r>
            <a:r>
              <a:rPr lang="en-US" b="0" i="0" u="none" strike="noStrike" dirty="0" err="1">
                <a:solidFill>
                  <a:srgbClr val="000000"/>
                </a:solidFill>
                <a:effectLst/>
              </a:rPr>
              <a:t>görselleştirmek</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kullanışlıdır</a:t>
            </a:r>
            <a:r>
              <a:rPr lang="en-US" b="0" i="0" u="none" strike="noStrike" dirty="0">
                <a:solidFill>
                  <a:srgbClr val="000000"/>
                </a:solidFill>
                <a:effectLst/>
              </a:rPr>
              <a:t>; </a:t>
            </a:r>
            <a:r>
              <a:rPr lang="en-US" b="0" i="0" u="none" strike="noStrike" dirty="0" err="1">
                <a:solidFill>
                  <a:srgbClr val="000000"/>
                </a:solidFill>
                <a:effectLst/>
              </a:rPr>
              <a:t>özellikle</a:t>
            </a:r>
            <a:r>
              <a:rPr lang="en-US" b="0" i="0" u="none" strike="noStrike" dirty="0">
                <a:solidFill>
                  <a:srgbClr val="000000"/>
                </a:solidFill>
                <a:effectLst/>
              </a:rPr>
              <a:t> </a:t>
            </a:r>
            <a:r>
              <a:rPr lang="en-US" b="0" i="0" u="none" strike="noStrike" dirty="0" err="1">
                <a:solidFill>
                  <a:srgbClr val="000000"/>
                </a:solidFill>
                <a:effectLst/>
              </a:rPr>
              <a:t>hata</a:t>
            </a:r>
            <a:r>
              <a:rPr lang="en-US" b="0" i="0" u="none" strike="noStrike" dirty="0">
                <a:solidFill>
                  <a:srgbClr val="000000"/>
                </a:solidFill>
                <a:effectLst/>
              </a:rPr>
              <a:t> </a:t>
            </a:r>
            <a:r>
              <a:rPr lang="en-US" b="0" i="0" u="none" strike="noStrike" dirty="0" err="1">
                <a:solidFill>
                  <a:srgbClr val="000000"/>
                </a:solidFill>
                <a:effectLst/>
              </a:rPr>
              <a:t>ayıklamada</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bağımlılıkları</a:t>
            </a:r>
            <a:r>
              <a:rPr lang="en-US" b="0" i="0" u="none" strike="noStrike" dirty="0">
                <a:solidFill>
                  <a:srgbClr val="000000"/>
                </a:solidFill>
                <a:effectLst/>
              </a:rPr>
              <a:t> </a:t>
            </a:r>
            <a:r>
              <a:rPr lang="en-US" b="0" i="0" u="none" strike="noStrike" dirty="0" err="1">
                <a:solidFill>
                  <a:srgbClr val="000000"/>
                </a:solidFill>
                <a:effectLst/>
              </a:rPr>
              <a:t>anlamada</a:t>
            </a:r>
            <a:r>
              <a:rPr lang="en-US" b="0" i="0" u="none" strike="noStrike" dirty="0">
                <a:solidFill>
                  <a:srgbClr val="000000"/>
                </a:solidFill>
                <a:effectLst/>
              </a:rPr>
              <a:t> </a:t>
            </a:r>
            <a:r>
              <a:rPr lang="en-US" b="0" i="0" u="none" strike="noStrike" dirty="0" err="1">
                <a:solidFill>
                  <a:srgbClr val="000000"/>
                </a:solidFill>
                <a:effectLst/>
              </a:rPr>
              <a:t>önemlidir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xfrm>
            <a:off x="1173163" y="696913"/>
            <a:ext cx="4638675" cy="3479800"/>
          </a:xfrm>
          <a:ln/>
        </p:spPr>
      </p:sp>
      <p:sp>
        <p:nvSpPr>
          <p:cNvPr id="3993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latin typeface="Times" charset="0"/>
              <a:ea typeface="ＭＳ Ｐゴシック" charset="0"/>
              <a:cs typeface="ＭＳ Ｐゴシック" charset="0"/>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xfrm>
            <a:off x="1173163" y="696913"/>
            <a:ext cx="4638675" cy="3479800"/>
          </a:xfrm>
          <a:ln/>
        </p:spPr>
      </p:sp>
      <p:sp>
        <p:nvSpPr>
          <p:cNvPr id="4198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6: Messages to “Self” and Object Creation/Destruction</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1" i="0" u="none" strike="noStrike" dirty="0">
                <a:solidFill>
                  <a:srgbClr val="000000"/>
                </a:solidFill>
                <a:effectLst/>
              </a:rPr>
              <a:t>Messages to “Self”</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Objects can call their own methods, represented with a looped arrow returning to the same lifeline.</a:t>
            </a:r>
          </a:p>
          <a:p>
            <a:pPr algn="l"/>
            <a:r>
              <a:rPr lang="en-US" b="1" i="0" u="none" strike="noStrike" dirty="0">
                <a:solidFill>
                  <a:srgbClr val="000000"/>
                </a:solidFill>
                <a:effectLst/>
              </a:rPr>
              <a:t>Additional Info</a:t>
            </a:r>
            <a:r>
              <a:rPr lang="en-US" b="0" i="0" u="none" strike="noStrike" dirty="0">
                <a:solidFill>
                  <a:srgbClr val="000000"/>
                </a:solidFill>
                <a:effectLst/>
              </a:rPr>
              <a:t>: Self-messaging is common in recursive algorithms, and understanding object lifecycle (creation/destruction) is crucial for memory management.</a:t>
            </a: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Turkish Explanation:</a:t>
            </a:r>
          </a:p>
          <a:p>
            <a:pPr algn="l">
              <a:buFont typeface="Arial" panose="020B0604020202020204" pitchFamily="34" charset="0"/>
              <a:buChar char="•"/>
            </a:pPr>
            <a:r>
              <a:rPr lang="en-US" b="1" i="0" u="none" strike="noStrike" dirty="0">
                <a:solidFill>
                  <a:srgbClr val="000000"/>
                </a:solidFill>
                <a:effectLst/>
              </a:rPr>
              <a:t>“</a:t>
            </a:r>
            <a:r>
              <a:rPr lang="en-US" b="1" i="0" u="none" strike="noStrike" dirty="0" err="1">
                <a:solidFill>
                  <a:srgbClr val="000000"/>
                </a:solidFill>
                <a:effectLst/>
              </a:rPr>
              <a:t>Kendine</a:t>
            </a:r>
            <a:r>
              <a:rPr lang="en-US" b="1" i="0" u="none" strike="noStrike" dirty="0">
                <a:solidFill>
                  <a:srgbClr val="000000"/>
                </a:solidFill>
                <a:effectLst/>
              </a:rPr>
              <a:t>” </a:t>
            </a:r>
            <a:r>
              <a:rPr lang="en-US" b="1" i="0" u="none" strike="noStrike" dirty="0" err="1">
                <a:solidFill>
                  <a:srgbClr val="000000"/>
                </a:solidFill>
                <a:effectLst/>
              </a:rPr>
              <a:t>Mesajlar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Nesneler</a:t>
            </a:r>
            <a:r>
              <a:rPr lang="en-US" b="0" i="0" u="none" strike="noStrike" dirty="0">
                <a:solidFill>
                  <a:srgbClr val="000000"/>
                </a:solidFill>
                <a:effectLst/>
              </a:rPr>
              <a:t> </a:t>
            </a:r>
            <a:r>
              <a:rPr lang="en-US" b="0" i="0" u="none" strike="noStrike" dirty="0" err="1">
                <a:solidFill>
                  <a:srgbClr val="000000"/>
                </a:solidFill>
                <a:effectLst/>
              </a:rPr>
              <a:t>kendi</a:t>
            </a:r>
            <a:r>
              <a:rPr lang="en-US" b="0" i="0" u="none" strike="noStrike" dirty="0">
                <a:solidFill>
                  <a:srgbClr val="000000"/>
                </a:solidFill>
                <a:effectLst/>
              </a:rPr>
              <a:t> </a:t>
            </a:r>
            <a:r>
              <a:rPr lang="en-US" b="0" i="0" u="none" strike="noStrike" dirty="0" err="1">
                <a:solidFill>
                  <a:srgbClr val="000000"/>
                </a:solidFill>
                <a:effectLst/>
              </a:rPr>
              <a:t>metodlarını</a:t>
            </a:r>
            <a:r>
              <a:rPr lang="en-US" b="0" i="0" u="none" strike="noStrike" dirty="0">
                <a:solidFill>
                  <a:srgbClr val="000000"/>
                </a:solidFill>
                <a:effectLst/>
              </a:rPr>
              <a:t> </a:t>
            </a:r>
            <a:r>
              <a:rPr lang="en-US" b="0" i="0" u="none" strike="noStrike" dirty="0" err="1">
                <a:solidFill>
                  <a:srgbClr val="000000"/>
                </a:solidFill>
                <a:effectLst/>
              </a:rPr>
              <a:t>çağırabilir</a:t>
            </a:r>
            <a:r>
              <a:rPr lang="en-US" b="0" i="0" u="none" strike="noStrike" dirty="0">
                <a:solidFill>
                  <a:srgbClr val="000000"/>
                </a:solidFill>
                <a:effectLst/>
              </a:rPr>
              <a:t>, </a:t>
            </a:r>
            <a:r>
              <a:rPr lang="en-US" b="0" i="0" u="none" strike="noStrike" dirty="0" err="1">
                <a:solidFill>
                  <a:srgbClr val="000000"/>
                </a:solidFill>
                <a:effectLst/>
              </a:rPr>
              <a:t>bu</a:t>
            </a:r>
            <a:r>
              <a:rPr lang="en-US" b="0" i="0" u="none" strike="noStrike" dirty="0">
                <a:solidFill>
                  <a:srgbClr val="000000"/>
                </a:solidFill>
                <a:effectLst/>
              </a:rPr>
              <a:t>, </a:t>
            </a:r>
            <a:r>
              <a:rPr lang="en-US" b="0" i="0" u="none" strike="noStrike" dirty="0" err="1">
                <a:solidFill>
                  <a:srgbClr val="000000"/>
                </a:solidFill>
                <a:effectLst/>
              </a:rPr>
              <a:t>aynı</a:t>
            </a:r>
            <a:r>
              <a:rPr lang="en-US" b="0" i="0" u="none" strike="noStrike" dirty="0">
                <a:solidFill>
                  <a:srgbClr val="000000"/>
                </a:solidFill>
                <a:effectLst/>
              </a:rPr>
              <a:t> </a:t>
            </a:r>
            <a:r>
              <a:rPr lang="en-US" b="0" i="0" u="none" strike="noStrike" dirty="0" err="1">
                <a:solidFill>
                  <a:srgbClr val="000000"/>
                </a:solidFill>
                <a:effectLst/>
              </a:rPr>
              <a:t>yaşam</a:t>
            </a:r>
            <a:r>
              <a:rPr lang="en-US" b="0" i="0" u="none" strike="noStrike" dirty="0">
                <a:solidFill>
                  <a:srgbClr val="000000"/>
                </a:solidFill>
                <a:effectLst/>
              </a:rPr>
              <a:t> </a:t>
            </a:r>
            <a:r>
              <a:rPr lang="en-US" b="0" i="0" u="none" strike="noStrike" dirty="0" err="1">
                <a:solidFill>
                  <a:srgbClr val="000000"/>
                </a:solidFill>
                <a:effectLst/>
              </a:rPr>
              <a:t>çizgisine</a:t>
            </a:r>
            <a:r>
              <a:rPr lang="en-US" b="0" i="0" u="none" strike="noStrike" dirty="0">
                <a:solidFill>
                  <a:srgbClr val="000000"/>
                </a:solidFill>
                <a:effectLst/>
              </a:rPr>
              <a:t> </a:t>
            </a:r>
            <a:r>
              <a:rPr lang="en-US" b="0" i="0" u="none" strike="noStrike" dirty="0" err="1">
                <a:solidFill>
                  <a:srgbClr val="000000"/>
                </a:solidFill>
                <a:effectLst/>
              </a:rPr>
              <a:t>dönen</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okla</a:t>
            </a:r>
            <a:r>
              <a:rPr lang="en-US" b="0" i="0" u="none" strike="noStrike" dirty="0">
                <a:solidFill>
                  <a:srgbClr val="000000"/>
                </a:solidFill>
                <a:effectLst/>
              </a:rPr>
              <a:t> </a:t>
            </a:r>
            <a:r>
              <a:rPr lang="en-US" b="0" i="0" u="none" strike="noStrike" dirty="0" err="1">
                <a:solidFill>
                  <a:srgbClr val="000000"/>
                </a:solidFill>
                <a:effectLst/>
              </a:rPr>
              <a:t>gösterilir</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err="1">
                <a:solidFill>
                  <a:srgbClr val="000000"/>
                </a:solidFill>
                <a:effectLst/>
              </a:rPr>
              <a:t>Nesne</a:t>
            </a:r>
            <a:r>
              <a:rPr lang="en-US" b="1" i="0" u="none" strike="noStrike" dirty="0">
                <a:solidFill>
                  <a:srgbClr val="000000"/>
                </a:solidFill>
                <a:effectLst/>
              </a:rPr>
              <a:t> </a:t>
            </a:r>
            <a:r>
              <a:rPr lang="en-US" b="1" i="0" u="none" strike="noStrike" dirty="0" err="1">
                <a:solidFill>
                  <a:srgbClr val="000000"/>
                </a:solidFill>
                <a:effectLst/>
              </a:rPr>
              <a:t>Oluşturma</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Yeni </a:t>
            </a:r>
            <a:r>
              <a:rPr lang="en-US" b="0" i="0" u="none" strike="noStrike" dirty="0" err="1">
                <a:solidFill>
                  <a:srgbClr val="000000"/>
                </a:solidFill>
                <a:effectLst/>
              </a:rPr>
              <a:t>nesnenin</a:t>
            </a:r>
            <a:r>
              <a:rPr lang="en-US" b="0" i="0" u="none" strike="noStrike" dirty="0">
                <a:solidFill>
                  <a:srgbClr val="000000"/>
                </a:solidFill>
                <a:effectLst/>
              </a:rPr>
              <a:t> </a:t>
            </a:r>
            <a:r>
              <a:rPr lang="en-US" b="0" i="0" u="none" strike="noStrike" dirty="0" err="1">
                <a:solidFill>
                  <a:srgbClr val="000000"/>
                </a:solidFill>
                <a:effectLst/>
              </a:rPr>
              <a:t>dikdörtgenine</a:t>
            </a:r>
            <a:r>
              <a:rPr lang="en-US" b="0" i="0" u="none" strike="noStrike" dirty="0">
                <a:solidFill>
                  <a:srgbClr val="000000"/>
                </a:solidFill>
                <a:effectLst/>
              </a:rPr>
              <a:t> </a:t>
            </a:r>
            <a:r>
              <a:rPr lang="en-US" b="0" i="0" u="none" strike="noStrike" dirty="0" err="1">
                <a:solidFill>
                  <a:srgbClr val="000000"/>
                </a:solidFill>
                <a:effectLst/>
              </a:rPr>
              <a:t>işaret</a:t>
            </a:r>
            <a:r>
              <a:rPr lang="en-US" b="0" i="0" u="none" strike="noStrike" dirty="0">
                <a:solidFill>
                  <a:srgbClr val="000000"/>
                </a:solidFill>
                <a:effectLst/>
              </a:rPr>
              <a:t> </a:t>
            </a:r>
            <a:r>
              <a:rPr lang="en-US" b="0" i="0" u="none" strike="noStrike" dirty="0" err="1">
                <a:solidFill>
                  <a:srgbClr val="000000"/>
                </a:solidFill>
                <a:effectLst/>
              </a:rPr>
              <a:t>eden</a:t>
            </a:r>
            <a:r>
              <a:rPr lang="en-US" b="0" i="0" u="none" strike="noStrike" dirty="0">
                <a:solidFill>
                  <a:srgbClr val="000000"/>
                </a:solidFill>
                <a:effectLst/>
              </a:rPr>
              <a:t> </a:t>
            </a:r>
            <a:r>
              <a:rPr lang="en-US" b="0" i="0" u="none" strike="noStrike" dirty="0" err="1">
                <a:solidFill>
                  <a:srgbClr val="000000"/>
                </a:solidFill>
                <a:effectLst/>
              </a:rPr>
              <a:t>kesik</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okla</a:t>
            </a:r>
            <a:r>
              <a:rPr lang="en-US" b="0" i="0" u="none" strike="noStrike" dirty="0">
                <a:solidFill>
                  <a:srgbClr val="000000"/>
                </a:solidFill>
                <a:effectLst/>
              </a:rPr>
              <a:t> </a:t>
            </a:r>
            <a:r>
              <a:rPr lang="en-US" b="0" i="0" u="none" strike="noStrike" dirty="0" err="1">
                <a:solidFill>
                  <a:srgbClr val="000000"/>
                </a:solidFill>
                <a:effectLst/>
              </a:rPr>
              <a:t>gösterilir</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err="1">
                <a:solidFill>
                  <a:srgbClr val="000000"/>
                </a:solidFill>
                <a:effectLst/>
              </a:rPr>
              <a:t>Nesne</a:t>
            </a:r>
            <a:r>
              <a:rPr lang="en-US" b="1" i="0" u="none" strike="noStrike" dirty="0">
                <a:solidFill>
                  <a:srgbClr val="000000"/>
                </a:solidFill>
                <a:effectLst/>
              </a:rPr>
              <a:t> Yok </a:t>
            </a:r>
            <a:r>
              <a:rPr lang="en-US" b="1" i="0" u="none" strike="noStrike" dirty="0" err="1">
                <a:solidFill>
                  <a:srgbClr val="000000"/>
                </a:solidFill>
                <a:effectLst/>
              </a:rPr>
              <a:t>Etme</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Bir </a:t>
            </a:r>
            <a:r>
              <a:rPr lang="en-US" b="0" i="0" u="none" strike="noStrike" dirty="0" err="1">
                <a:solidFill>
                  <a:srgbClr val="000000"/>
                </a:solidFill>
                <a:effectLst/>
              </a:rPr>
              <a:t>nesne</a:t>
            </a:r>
            <a:r>
              <a:rPr lang="en-US" b="0" i="0" u="none" strike="noStrike" dirty="0">
                <a:solidFill>
                  <a:srgbClr val="000000"/>
                </a:solidFill>
                <a:effectLst/>
              </a:rPr>
              <a:t> </a:t>
            </a:r>
            <a:r>
              <a:rPr lang="en-US" b="0" i="0" u="none" strike="noStrike" dirty="0" err="1">
                <a:solidFill>
                  <a:srgbClr val="000000"/>
                </a:solidFill>
                <a:effectLst/>
              </a:rPr>
              <a:t>açıkça</a:t>
            </a:r>
            <a:r>
              <a:rPr lang="en-US" b="0" i="0" u="none" strike="noStrike" dirty="0">
                <a:solidFill>
                  <a:srgbClr val="000000"/>
                </a:solidFill>
                <a:effectLst/>
              </a:rPr>
              <a:t> yok </a:t>
            </a:r>
            <a:r>
              <a:rPr lang="en-US" b="0" i="0" u="none" strike="noStrike" dirty="0" err="1">
                <a:solidFill>
                  <a:srgbClr val="000000"/>
                </a:solidFill>
                <a:effectLst/>
              </a:rPr>
              <a:t>edilir</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erişilemez</a:t>
            </a:r>
            <a:r>
              <a:rPr lang="en-US" b="0" i="0" u="none" strike="noStrike" dirty="0">
                <a:solidFill>
                  <a:srgbClr val="000000"/>
                </a:solidFill>
                <a:effectLst/>
              </a:rPr>
              <a:t> hale </a:t>
            </a:r>
            <a:r>
              <a:rPr lang="en-US" b="0" i="0" u="none" strike="noStrike" dirty="0" err="1">
                <a:solidFill>
                  <a:srgbClr val="000000"/>
                </a:solidFill>
                <a:effectLst/>
              </a:rPr>
              <a:t>gelir</a:t>
            </a:r>
            <a:r>
              <a:rPr lang="en-US" b="0" i="0" u="none" strike="noStrike" dirty="0">
                <a:solidFill>
                  <a:srgbClr val="000000"/>
                </a:solidFill>
                <a:effectLst/>
              </a:rPr>
              <a:t> (</a:t>
            </a:r>
            <a:r>
              <a:rPr lang="en-US" b="0" i="0" u="none" strike="noStrike" dirty="0" err="1">
                <a:solidFill>
                  <a:srgbClr val="000000"/>
                </a:solidFill>
                <a:effectLst/>
              </a:rPr>
              <a:t>örneğin</a:t>
            </a:r>
            <a:r>
              <a:rPr lang="en-US" b="0" i="0" u="none" strike="noStrike" dirty="0">
                <a:solidFill>
                  <a:srgbClr val="000000"/>
                </a:solidFill>
                <a:effectLst/>
              </a:rPr>
              <a:t> </a:t>
            </a:r>
            <a:r>
              <a:rPr lang="en-US" b="0" i="0" u="none" strike="noStrike" dirty="0" err="1">
                <a:solidFill>
                  <a:srgbClr val="000000"/>
                </a:solidFill>
                <a:effectLst/>
              </a:rPr>
              <a:t>çöp</a:t>
            </a:r>
            <a:r>
              <a:rPr lang="en-US" b="0" i="0" u="none" strike="noStrike" dirty="0">
                <a:solidFill>
                  <a:srgbClr val="000000"/>
                </a:solidFill>
                <a:effectLst/>
              </a:rPr>
              <a:t> </a:t>
            </a:r>
            <a:r>
              <a:rPr lang="en-US" b="0" i="0" u="none" strike="noStrike" dirty="0" err="1">
                <a:solidFill>
                  <a:srgbClr val="000000"/>
                </a:solidFill>
                <a:effectLst/>
              </a:rPr>
              <a:t>toplayıcı</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Yaşam</a:t>
            </a:r>
            <a:r>
              <a:rPr lang="en-US" b="0" i="0" u="none" strike="noStrike" dirty="0">
                <a:solidFill>
                  <a:srgbClr val="000000"/>
                </a:solidFill>
                <a:effectLst/>
              </a:rPr>
              <a:t> </a:t>
            </a:r>
            <a:r>
              <a:rPr lang="en-US" b="0" i="0" u="none" strike="noStrike" dirty="0" err="1">
                <a:solidFill>
                  <a:srgbClr val="000000"/>
                </a:solidFill>
                <a:effectLst/>
              </a:rPr>
              <a:t>çizgisinin</a:t>
            </a:r>
            <a:r>
              <a:rPr lang="en-US" b="0" i="0" u="none" strike="noStrike" dirty="0">
                <a:solidFill>
                  <a:srgbClr val="000000"/>
                </a:solidFill>
                <a:effectLst/>
              </a:rPr>
              <a:t> </a:t>
            </a:r>
            <a:r>
              <a:rPr lang="en-US" b="0" i="0" u="none" strike="noStrike" dirty="0" err="1">
                <a:solidFill>
                  <a:srgbClr val="000000"/>
                </a:solidFill>
                <a:effectLst/>
              </a:rPr>
              <a:t>sonunda</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‘X’ </a:t>
            </a:r>
            <a:r>
              <a:rPr lang="en-US" b="0" i="0" u="none" strike="noStrike" dirty="0" err="1">
                <a:solidFill>
                  <a:srgbClr val="000000"/>
                </a:solidFill>
                <a:effectLst/>
              </a:rPr>
              <a:t>ile</a:t>
            </a:r>
            <a:r>
              <a:rPr lang="en-US" b="0" i="0" u="none" strike="noStrike" dirty="0">
                <a:solidFill>
                  <a:srgbClr val="000000"/>
                </a:solidFill>
                <a:effectLst/>
              </a:rPr>
              <a:t> </a:t>
            </a:r>
            <a:r>
              <a:rPr lang="en-US" b="0" i="0" u="none" strike="noStrike" dirty="0" err="1">
                <a:solidFill>
                  <a:srgbClr val="000000"/>
                </a:solidFill>
                <a:effectLst/>
              </a:rPr>
              <a:t>temsil</a:t>
            </a:r>
            <a:r>
              <a:rPr lang="en-US" b="0" i="0" u="none" strike="noStrike" dirty="0">
                <a:solidFill>
                  <a:srgbClr val="000000"/>
                </a:solidFill>
                <a:effectLst/>
              </a:rPr>
              <a:t> </a:t>
            </a:r>
            <a:r>
              <a:rPr lang="en-US" b="0" i="0" u="none" strike="noStrike" dirty="0" err="1">
                <a:solidFill>
                  <a:srgbClr val="000000"/>
                </a:solidFill>
                <a:effectLst/>
              </a:rPr>
              <a:t>edilir</a:t>
            </a:r>
            <a:r>
              <a:rPr lang="en-US" b="0" i="0" u="none" strike="noStrike" dirty="0">
                <a:solidFill>
                  <a:srgbClr val="000000"/>
                </a:solidFill>
                <a:effectLst/>
              </a:rPr>
              <a:t>.</a:t>
            </a:r>
          </a:p>
          <a:p>
            <a:pPr algn="l"/>
            <a:r>
              <a:rPr lang="en-US" b="1" i="0" u="none" strike="noStrike" dirty="0">
                <a:solidFill>
                  <a:srgbClr val="000000"/>
                </a:solidFill>
                <a:effectLst/>
              </a:rPr>
              <a:t>Ekstra Bilgi</a:t>
            </a:r>
            <a:r>
              <a:rPr lang="en-US" b="0" i="0" u="none" strike="noStrike" dirty="0">
                <a:solidFill>
                  <a:srgbClr val="000000"/>
                </a:solidFill>
                <a:effectLst/>
              </a:rPr>
              <a:t>: </a:t>
            </a:r>
            <a:r>
              <a:rPr lang="en-US" b="0" i="0" u="none" strike="noStrike" dirty="0" err="1">
                <a:solidFill>
                  <a:srgbClr val="000000"/>
                </a:solidFill>
                <a:effectLst/>
              </a:rPr>
              <a:t>Kendine</a:t>
            </a:r>
            <a:r>
              <a:rPr lang="en-US" b="0" i="0" u="none" strike="noStrike" dirty="0">
                <a:solidFill>
                  <a:srgbClr val="000000"/>
                </a:solidFill>
                <a:effectLst/>
              </a:rPr>
              <a:t> </a:t>
            </a:r>
            <a:r>
              <a:rPr lang="en-US" b="0" i="0" u="none" strike="noStrike" dirty="0" err="1">
                <a:solidFill>
                  <a:srgbClr val="000000"/>
                </a:solidFill>
                <a:effectLst/>
              </a:rPr>
              <a:t>mesajlaşma</a:t>
            </a:r>
            <a:r>
              <a:rPr lang="en-US" b="0" i="0" u="none" strike="noStrike" dirty="0">
                <a:solidFill>
                  <a:srgbClr val="000000"/>
                </a:solidFill>
                <a:effectLst/>
              </a:rPr>
              <a:t>, </a:t>
            </a:r>
            <a:r>
              <a:rPr lang="en-US" b="0" i="0" u="none" strike="noStrike" dirty="0" err="1">
                <a:solidFill>
                  <a:srgbClr val="000000"/>
                </a:solidFill>
                <a:effectLst/>
              </a:rPr>
              <a:t>özellikle</a:t>
            </a:r>
            <a:r>
              <a:rPr lang="en-US" b="0" i="0" u="none" strike="noStrike" dirty="0">
                <a:solidFill>
                  <a:srgbClr val="000000"/>
                </a:solidFill>
                <a:effectLst/>
              </a:rPr>
              <a:t> </a:t>
            </a:r>
            <a:r>
              <a:rPr lang="en-US" b="0" i="0" u="none" strike="noStrike" dirty="0" err="1">
                <a:solidFill>
                  <a:srgbClr val="000000"/>
                </a:solidFill>
                <a:effectLst/>
              </a:rPr>
              <a:t>özyinelemeli</a:t>
            </a:r>
            <a:r>
              <a:rPr lang="en-US" b="0" i="0" u="none" strike="noStrike" dirty="0">
                <a:solidFill>
                  <a:srgbClr val="000000"/>
                </a:solidFill>
                <a:effectLst/>
              </a:rPr>
              <a:t> </a:t>
            </a:r>
            <a:r>
              <a:rPr lang="en-US" b="0" i="0" u="none" strike="noStrike" dirty="0" err="1">
                <a:solidFill>
                  <a:srgbClr val="000000"/>
                </a:solidFill>
                <a:effectLst/>
              </a:rPr>
              <a:t>algoritmalarda</a:t>
            </a:r>
            <a:r>
              <a:rPr lang="en-US" b="0" i="0" u="none" strike="noStrike" dirty="0">
                <a:solidFill>
                  <a:srgbClr val="000000"/>
                </a:solidFill>
                <a:effectLst/>
              </a:rPr>
              <a:t> </a:t>
            </a:r>
            <a:r>
              <a:rPr lang="en-US" b="0" i="0" u="none" strike="noStrike" dirty="0" err="1">
                <a:solidFill>
                  <a:srgbClr val="000000"/>
                </a:solidFill>
                <a:effectLst/>
              </a:rPr>
              <a:t>yaygındır</a:t>
            </a:r>
            <a:r>
              <a:rPr lang="en-US" b="0" i="0" u="none" strike="noStrike" dirty="0">
                <a:solidFill>
                  <a:srgbClr val="000000"/>
                </a:solidFill>
                <a:effectLst/>
              </a:rPr>
              <a:t>. </a:t>
            </a:r>
            <a:r>
              <a:rPr lang="en-US" b="0" i="0" u="none" strike="noStrike" dirty="0" err="1">
                <a:solidFill>
                  <a:srgbClr val="000000"/>
                </a:solidFill>
                <a:effectLst/>
              </a:rPr>
              <a:t>Nesne</a:t>
            </a:r>
            <a:r>
              <a:rPr lang="en-US" b="0" i="0" u="none" strike="noStrike" dirty="0">
                <a:solidFill>
                  <a:srgbClr val="000000"/>
                </a:solidFill>
                <a:effectLst/>
              </a:rPr>
              <a:t> </a:t>
            </a:r>
            <a:r>
              <a:rPr lang="en-US" b="0" i="0" u="none" strike="noStrike" dirty="0" err="1">
                <a:solidFill>
                  <a:srgbClr val="000000"/>
                </a:solidFill>
                <a:effectLst/>
              </a:rPr>
              <a:t>yaşam</a:t>
            </a:r>
            <a:r>
              <a:rPr lang="en-US" b="0" i="0" u="none" strike="noStrike" dirty="0">
                <a:solidFill>
                  <a:srgbClr val="000000"/>
                </a:solidFill>
                <a:effectLst/>
              </a:rPr>
              <a:t> </a:t>
            </a:r>
            <a:r>
              <a:rPr lang="en-US" b="0" i="0" u="none" strike="noStrike" dirty="0" err="1">
                <a:solidFill>
                  <a:srgbClr val="000000"/>
                </a:solidFill>
                <a:effectLst/>
              </a:rPr>
              <a:t>döngüsünü</a:t>
            </a:r>
            <a:r>
              <a:rPr lang="en-US" b="0" i="0" u="none" strike="noStrike" dirty="0">
                <a:solidFill>
                  <a:srgbClr val="000000"/>
                </a:solidFill>
                <a:effectLst/>
              </a:rPr>
              <a:t> (</a:t>
            </a:r>
            <a:r>
              <a:rPr lang="en-US" b="0" i="0" u="none" strike="noStrike" dirty="0" err="1">
                <a:solidFill>
                  <a:srgbClr val="000000"/>
                </a:solidFill>
                <a:effectLst/>
              </a:rPr>
              <a:t>oluşturma</a:t>
            </a:r>
            <a:r>
              <a:rPr lang="en-US" b="0" i="0" u="none" strike="noStrike" dirty="0">
                <a:solidFill>
                  <a:srgbClr val="000000"/>
                </a:solidFill>
                <a:effectLst/>
              </a:rPr>
              <a:t>/yok </a:t>
            </a:r>
            <a:r>
              <a:rPr lang="en-US" b="0" i="0" u="none" strike="noStrike" dirty="0" err="1">
                <a:solidFill>
                  <a:srgbClr val="000000"/>
                </a:solidFill>
                <a:effectLst/>
              </a:rPr>
              <a:t>etme</a:t>
            </a:r>
            <a:r>
              <a:rPr lang="en-US" b="0" i="0" u="none" strike="noStrike" dirty="0">
                <a:solidFill>
                  <a:srgbClr val="000000"/>
                </a:solidFill>
                <a:effectLst/>
              </a:rPr>
              <a:t>) </a:t>
            </a:r>
            <a:r>
              <a:rPr lang="en-US" b="0" i="0" u="none" strike="noStrike" dirty="0" err="1">
                <a:solidFill>
                  <a:srgbClr val="000000"/>
                </a:solidFill>
                <a:effectLst/>
              </a:rPr>
              <a:t>anlamak</a:t>
            </a:r>
            <a:r>
              <a:rPr lang="en-US" b="0" i="0" u="none" strike="noStrike" dirty="0">
                <a:solidFill>
                  <a:srgbClr val="000000"/>
                </a:solidFill>
                <a:effectLst/>
              </a:rPr>
              <a:t>, </a:t>
            </a:r>
            <a:r>
              <a:rPr lang="en-US" b="0" i="0" u="none" strike="noStrike" dirty="0" err="1">
                <a:solidFill>
                  <a:srgbClr val="000000"/>
                </a:solidFill>
                <a:effectLst/>
              </a:rPr>
              <a:t>bellek</a:t>
            </a:r>
            <a:r>
              <a:rPr lang="en-US" b="0" i="0" u="none" strike="noStrike" dirty="0">
                <a:solidFill>
                  <a:srgbClr val="000000"/>
                </a:solidFill>
                <a:effectLst/>
              </a:rPr>
              <a:t> </a:t>
            </a:r>
            <a:r>
              <a:rPr lang="en-US" b="0" i="0" u="none" strike="noStrike" dirty="0" err="1">
                <a:solidFill>
                  <a:srgbClr val="000000"/>
                </a:solidFill>
                <a:effectLst/>
              </a:rPr>
              <a:t>yönetimi</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kritiktir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xfrm>
            <a:off x="1173163" y="696913"/>
            <a:ext cx="4638675" cy="3479800"/>
          </a:xfrm>
          <a:ln/>
        </p:spPr>
      </p:sp>
      <p:sp>
        <p:nvSpPr>
          <p:cNvPr id="44035"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buFont typeface="Arial" panose="020B0604020202020204" pitchFamily="34" charset="0"/>
              <a:buChar char="•"/>
            </a:pPr>
            <a:r>
              <a:rPr lang="en-US" b="1" i="0" u="none" strike="noStrike" dirty="0">
                <a:solidFill>
                  <a:srgbClr val="000000"/>
                </a:solidFill>
                <a:effectLst/>
              </a:rPr>
              <a:t>Object Creation</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Shown with a dashed arrow pointing to the new object's rectangle.</a:t>
            </a:r>
          </a:p>
          <a:p>
            <a:endParaRPr lang="tr-TR" dirty="0">
              <a:latin typeface="Times" charset="0"/>
              <a:ea typeface="ＭＳ Ｐゴシック" charset="0"/>
              <a:cs typeface="ＭＳ Ｐゴシック" charset="0"/>
            </a:endParaRP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xfrm>
            <a:off x="1173163" y="696913"/>
            <a:ext cx="4638675" cy="3479800"/>
          </a:xfrm>
          <a:ln/>
        </p:spPr>
      </p:sp>
      <p:sp>
        <p:nvSpPr>
          <p:cNvPr id="46083"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latin typeface="Times" charset="0"/>
              <a:ea typeface="ＭＳ Ｐゴシック" charset="0"/>
              <a:cs typeface="ＭＳ Ｐゴシック"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xfrm>
            <a:off x="1173163" y="696913"/>
            <a:ext cx="4638675" cy="3479800"/>
          </a:xfrm>
          <a:ln/>
        </p:spPr>
      </p:sp>
      <p:sp>
        <p:nvSpPr>
          <p:cNvPr id="48131"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buFont typeface="Arial" panose="020B0604020202020204" pitchFamily="34" charset="0"/>
              <a:buChar char="•"/>
            </a:pPr>
            <a:r>
              <a:rPr lang="en-US" b="1" i="0" u="none" strike="noStrike" dirty="0">
                <a:solidFill>
                  <a:srgbClr val="000000"/>
                </a:solidFill>
                <a:effectLst/>
              </a:rPr>
              <a:t>Object Destruction</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An object is explicitly destroyed or becomes unreachable (e.g., garbage collection).</a:t>
            </a:r>
          </a:p>
          <a:p>
            <a:pPr marL="742950" lvl="1" indent="-285750" algn="l">
              <a:buFont typeface="Arial" panose="020B0604020202020204" pitchFamily="34" charset="0"/>
              <a:buChar char="•"/>
            </a:pPr>
            <a:r>
              <a:rPr lang="en-US" b="0" i="0" u="none" strike="noStrike" dirty="0">
                <a:solidFill>
                  <a:srgbClr val="000000"/>
                </a:solidFill>
                <a:effectLst/>
              </a:rPr>
              <a:t>Represented with an ‘X’ at the end of the lifeline.</a:t>
            </a:r>
          </a:p>
          <a:p>
            <a:endParaRPr lang="tr-TR" dirty="0">
              <a:latin typeface="Times" charset="0"/>
              <a:ea typeface="ＭＳ Ｐゴシック" charset="0"/>
              <a:cs typeface="ＭＳ Ｐゴシック"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xfrm>
            <a:off x="1173163" y="696913"/>
            <a:ext cx="4638675" cy="3479800"/>
          </a:xfrm>
          <a:ln/>
        </p:spPr>
      </p:sp>
      <p:sp>
        <p:nvSpPr>
          <p:cNvPr id="5017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7: Frames in UML Sequence Diagrams</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1" i="0" u="none" strike="noStrike" dirty="0">
                <a:solidFill>
                  <a:srgbClr val="000000"/>
                </a:solidFill>
                <a:effectLst/>
              </a:rPr>
              <a:t>Frames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Used to represent special conditions or sequences in a diagram.</a:t>
            </a:r>
          </a:p>
          <a:p>
            <a:pPr marL="742950" lvl="1" indent="-285750" algn="l">
              <a:buFont typeface="Arial" panose="020B0604020202020204" pitchFamily="34" charset="0"/>
              <a:buChar char="•"/>
            </a:pPr>
            <a:r>
              <a:rPr lang="en-US" b="0" i="0" u="none" strike="noStrike" dirty="0">
                <a:solidFill>
                  <a:srgbClr val="000000"/>
                </a:solidFill>
                <a:effectLst/>
              </a:rPr>
              <a:t>They include:</a:t>
            </a:r>
          </a:p>
          <a:p>
            <a:pPr marL="1143000" lvl="2" indent="-228600" algn="l">
              <a:buFont typeface="Arial" panose="020B0604020202020204" pitchFamily="34" charset="0"/>
              <a:buChar char="•"/>
            </a:pPr>
            <a:r>
              <a:rPr lang="en-US" b="1" i="0" u="none" strike="noStrike" dirty="0">
                <a:solidFill>
                  <a:srgbClr val="000000"/>
                </a:solidFill>
                <a:effectLst/>
              </a:rPr>
              <a:t>Operator/Label</a:t>
            </a:r>
            <a:r>
              <a:rPr lang="en-US" b="0" i="0" u="none" strike="noStrike" dirty="0">
                <a:solidFill>
                  <a:srgbClr val="000000"/>
                </a:solidFill>
                <a:effectLst/>
              </a:rPr>
              <a:t>: Indicates the type of frame (e.g., loop, alt for alternative conditions).</a:t>
            </a:r>
          </a:p>
          <a:p>
            <a:pPr marL="1143000" lvl="2" indent="-228600" algn="l">
              <a:buFont typeface="Arial" panose="020B0604020202020204" pitchFamily="34" charset="0"/>
              <a:buChar char="•"/>
            </a:pPr>
            <a:r>
              <a:rPr lang="en-US" b="1" i="0" u="none" strike="noStrike" dirty="0">
                <a:solidFill>
                  <a:srgbClr val="000000"/>
                </a:solidFill>
                <a:effectLst/>
              </a:rPr>
              <a:t>Guard</a:t>
            </a:r>
            <a:r>
              <a:rPr lang="en-US" b="0" i="0" u="none" strike="noStrike" dirty="0">
                <a:solidFill>
                  <a:srgbClr val="000000"/>
                </a:solidFill>
                <a:effectLst/>
              </a:rPr>
              <a:t>: A conditional clause above a lifeline, determining whether the sequence will execute.</a:t>
            </a:r>
          </a:p>
          <a:p>
            <a:pPr algn="l"/>
            <a:r>
              <a:rPr lang="en-US" b="1" i="0" u="none" strike="noStrike" dirty="0">
                <a:solidFill>
                  <a:srgbClr val="000000"/>
                </a:solidFill>
                <a:effectLst/>
              </a:rPr>
              <a:t>Example</a:t>
            </a:r>
            <a:r>
              <a:rPr lang="en-US" b="0" i="0" u="none" strike="noStrike" dirty="0">
                <a:solidFill>
                  <a:srgbClr val="000000"/>
                </a:solidFill>
                <a:effectLst/>
              </a:rPr>
              <a:t>: A “loop” frame for retrying a failed payment process until success.</a:t>
            </a:r>
          </a:p>
          <a:p>
            <a:pPr algn="l"/>
            <a:r>
              <a:rPr lang="en-US" b="1" i="0" u="none" strike="noStrike" dirty="0">
                <a:solidFill>
                  <a:srgbClr val="000000"/>
                </a:solidFill>
                <a:effectLst/>
              </a:rPr>
              <a:t>Additional Info</a:t>
            </a:r>
            <a:r>
              <a:rPr lang="en-US" b="0" i="0" u="none" strike="noStrike" dirty="0">
                <a:solidFill>
                  <a:srgbClr val="000000"/>
                </a:solidFill>
                <a:effectLst/>
              </a:rPr>
              <a:t>: Frames allow you to manage and depict complex interactions, such as conditional logic or repetitive sequences.</a:t>
            </a: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Turkish Explanation:</a:t>
            </a:r>
          </a:p>
          <a:p>
            <a:pPr algn="l">
              <a:buFont typeface="Arial" panose="020B0604020202020204" pitchFamily="34" charset="0"/>
              <a:buChar char="•"/>
            </a:pPr>
            <a:r>
              <a:rPr lang="en-US" b="1" i="0" u="none" strike="noStrike" dirty="0" err="1">
                <a:solidFill>
                  <a:srgbClr val="000000"/>
                </a:solidFill>
                <a:effectLst/>
              </a:rPr>
              <a:t>Çerçeveler</a:t>
            </a:r>
            <a:r>
              <a:rPr lang="en-US" b="1" i="0" u="none" strike="noStrike" dirty="0">
                <a:solidFill>
                  <a:srgbClr val="000000"/>
                </a:solidFill>
                <a:effectLst/>
              </a:rPr>
              <a:t> (Frames)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Diyagramlarda</a:t>
            </a:r>
            <a:r>
              <a:rPr lang="en-US" b="0" i="0" u="none" strike="noStrike" dirty="0">
                <a:solidFill>
                  <a:srgbClr val="000000"/>
                </a:solidFill>
                <a:effectLst/>
              </a:rPr>
              <a:t> </a:t>
            </a:r>
            <a:r>
              <a:rPr lang="en-US" b="0" i="0" u="none" strike="noStrike" dirty="0" err="1">
                <a:solidFill>
                  <a:srgbClr val="000000"/>
                </a:solidFill>
                <a:effectLst/>
              </a:rPr>
              <a:t>özel</a:t>
            </a:r>
            <a:r>
              <a:rPr lang="en-US" b="0" i="0" u="none" strike="noStrike" dirty="0">
                <a:solidFill>
                  <a:srgbClr val="000000"/>
                </a:solidFill>
                <a:effectLst/>
              </a:rPr>
              <a:t> </a:t>
            </a:r>
            <a:r>
              <a:rPr lang="en-US" b="0" i="0" u="none" strike="noStrike" dirty="0" err="1">
                <a:solidFill>
                  <a:srgbClr val="000000"/>
                </a:solidFill>
                <a:effectLst/>
              </a:rPr>
              <a:t>durumları</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dizileri</a:t>
            </a:r>
            <a:r>
              <a:rPr lang="en-US" b="0" i="0" u="none" strike="noStrike" dirty="0">
                <a:solidFill>
                  <a:srgbClr val="000000"/>
                </a:solidFill>
                <a:effectLst/>
              </a:rPr>
              <a:t> </a:t>
            </a:r>
            <a:r>
              <a:rPr lang="en-US" b="0" i="0" u="none" strike="noStrike" dirty="0" err="1">
                <a:solidFill>
                  <a:srgbClr val="000000"/>
                </a:solidFill>
                <a:effectLst/>
              </a:rPr>
              <a:t>temsil</a:t>
            </a:r>
            <a:r>
              <a:rPr lang="en-US" b="0" i="0" u="none" strike="noStrike" dirty="0">
                <a:solidFill>
                  <a:srgbClr val="000000"/>
                </a:solidFill>
                <a:effectLst/>
              </a:rPr>
              <a:t> </a:t>
            </a:r>
            <a:r>
              <a:rPr lang="en-US" b="0" i="0" u="none" strike="noStrike" dirty="0" err="1">
                <a:solidFill>
                  <a:srgbClr val="000000"/>
                </a:solidFill>
                <a:effectLst/>
              </a:rPr>
              <a:t>etmek</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kullanılır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Şunları</a:t>
            </a:r>
            <a:r>
              <a:rPr lang="en-US" b="0" i="0" u="none" strike="noStrike" dirty="0">
                <a:solidFill>
                  <a:srgbClr val="000000"/>
                </a:solidFill>
                <a:effectLst/>
              </a:rPr>
              <a:t> </a:t>
            </a:r>
            <a:r>
              <a:rPr lang="en-US" b="0" i="0" u="none" strike="noStrike" dirty="0" err="1">
                <a:solidFill>
                  <a:srgbClr val="000000"/>
                </a:solidFill>
                <a:effectLst/>
              </a:rPr>
              <a:t>içerir</a:t>
            </a:r>
            <a:r>
              <a:rPr lang="en-US" b="0" i="0" u="none" strike="noStrike" dirty="0">
                <a:solidFill>
                  <a:srgbClr val="000000"/>
                </a:solidFill>
                <a:effectLst/>
              </a:rPr>
              <a:t>:</a:t>
            </a:r>
          </a:p>
          <a:p>
            <a:pPr marL="1143000" lvl="2" indent="-228600" algn="l">
              <a:buFont typeface="Arial" panose="020B0604020202020204" pitchFamily="34" charset="0"/>
              <a:buChar char="•"/>
            </a:pPr>
            <a:r>
              <a:rPr lang="en-US" b="1" i="0" u="none" strike="noStrike" dirty="0" err="1">
                <a:solidFill>
                  <a:srgbClr val="000000"/>
                </a:solidFill>
                <a:effectLst/>
              </a:rPr>
              <a:t>Operatör</a:t>
            </a:r>
            <a:r>
              <a:rPr lang="en-US" b="1" i="0" u="none" strike="noStrike" dirty="0">
                <a:solidFill>
                  <a:srgbClr val="000000"/>
                </a:solidFill>
                <a:effectLst/>
              </a:rPr>
              <a:t>/</a:t>
            </a:r>
            <a:r>
              <a:rPr lang="en-US" b="1" i="0" u="none" strike="noStrike" dirty="0" err="1">
                <a:solidFill>
                  <a:srgbClr val="000000"/>
                </a:solidFill>
                <a:effectLst/>
              </a:rPr>
              <a:t>Etiket</a:t>
            </a:r>
            <a:r>
              <a:rPr lang="en-US" b="0" i="0" u="none" strike="noStrike" dirty="0">
                <a:solidFill>
                  <a:srgbClr val="000000"/>
                </a:solidFill>
                <a:effectLst/>
              </a:rPr>
              <a:t>: </a:t>
            </a:r>
            <a:r>
              <a:rPr lang="en-US" b="0" i="0" u="none" strike="noStrike" dirty="0" err="1">
                <a:solidFill>
                  <a:srgbClr val="000000"/>
                </a:solidFill>
                <a:effectLst/>
              </a:rPr>
              <a:t>Çerçevenin</a:t>
            </a:r>
            <a:r>
              <a:rPr lang="en-US" b="0" i="0" u="none" strike="noStrike" dirty="0">
                <a:solidFill>
                  <a:srgbClr val="000000"/>
                </a:solidFill>
                <a:effectLst/>
              </a:rPr>
              <a:t> </a:t>
            </a:r>
            <a:r>
              <a:rPr lang="en-US" b="0" i="0" u="none" strike="noStrike" dirty="0" err="1">
                <a:solidFill>
                  <a:srgbClr val="000000"/>
                </a:solidFill>
                <a:effectLst/>
              </a:rPr>
              <a:t>türünü</a:t>
            </a:r>
            <a:r>
              <a:rPr lang="en-US" b="0" i="0" u="none" strike="noStrike" dirty="0">
                <a:solidFill>
                  <a:srgbClr val="000000"/>
                </a:solidFill>
                <a:effectLst/>
              </a:rPr>
              <a:t> </a:t>
            </a:r>
            <a:r>
              <a:rPr lang="en-US" b="0" i="0" u="none" strike="noStrike" dirty="0" err="1">
                <a:solidFill>
                  <a:srgbClr val="000000"/>
                </a:solidFill>
                <a:effectLst/>
              </a:rPr>
              <a:t>belirtir</a:t>
            </a:r>
            <a:r>
              <a:rPr lang="en-US" b="0" i="0" u="none" strike="noStrike" dirty="0">
                <a:solidFill>
                  <a:srgbClr val="000000"/>
                </a:solidFill>
                <a:effectLst/>
              </a:rPr>
              <a:t> (</a:t>
            </a:r>
            <a:r>
              <a:rPr lang="en-US" b="0" i="0" u="none" strike="noStrike" dirty="0" err="1">
                <a:solidFill>
                  <a:srgbClr val="000000"/>
                </a:solidFill>
                <a:effectLst/>
              </a:rPr>
              <a:t>örneğin</a:t>
            </a:r>
            <a:r>
              <a:rPr lang="en-US" b="0" i="0" u="none" strike="noStrike" dirty="0">
                <a:solidFill>
                  <a:srgbClr val="000000"/>
                </a:solidFill>
                <a:effectLst/>
              </a:rPr>
              <a:t>, </a:t>
            </a:r>
            <a:r>
              <a:rPr lang="en-US" b="0" i="0" u="none" strike="noStrike" dirty="0" err="1">
                <a:solidFill>
                  <a:srgbClr val="000000"/>
                </a:solidFill>
                <a:effectLst/>
              </a:rPr>
              <a:t>döngü</a:t>
            </a:r>
            <a:r>
              <a:rPr lang="en-US" b="0" i="0" u="none" strike="noStrike" dirty="0">
                <a:solidFill>
                  <a:srgbClr val="000000"/>
                </a:solidFill>
                <a:effectLst/>
              </a:rPr>
              <a:t>, </a:t>
            </a:r>
            <a:r>
              <a:rPr lang="en-US" b="0" i="0" u="none" strike="noStrike" dirty="0" err="1">
                <a:solidFill>
                  <a:srgbClr val="000000"/>
                </a:solidFill>
                <a:effectLst/>
              </a:rPr>
              <a:t>alternatif</a:t>
            </a:r>
            <a:r>
              <a:rPr lang="en-US" b="0" i="0" u="none" strike="noStrike" dirty="0">
                <a:solidFill>
                  <a:srgbClr val="000000"/>
                </a:solidFill>
                <a:effectLst/>
              </a:rPr>
              <a:t> </a:t>
            </a:r>
            <a:r>
              <a:rPr lang="en-US" b="0" i="0" u="none" strike="noStrike" dirty="0" err="1">
                <a:solidFill>
                  <a:srgbClr val="000000"/>
                </a:solidFill>
                <a:effectLst/>
              </a:rPr>
              <a:t>koşullar</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alt).</a:t>
            </a:r>
          </a:p>
          <a:p>
            <a:pPr marL="1143000" lvl="2" indent="-228600" algn="l">
              <a:buFont typeface="Arial" panose="020B0604020202020204" pitchFamily="34" charset="0"/>
              <a:buChar char="•"/>
            </a:pPr>
            <a:r>
              <a:rPr lang="en-US" b="1" i="0" u="none" strike="noStrike" dirty="0" err="1">
                <a:solidFill>
                  <a:srgbClr val="000000"/>
                </a:solidFill>
                <a:effectLst/>
              </a:rPr>
              <a:t>Koruma</a:t>
            </a:r>
            <a:r>
              <a:rPr lang="en-US" b="1" i="0" u="none" strike="noStrike" dirty="0">
                <a:solidFill>
                  <a:srgbClr val="000000"/>
                </a:solidFill>
                <a:effectLst/>
              </a:rPr>
              <a:t> (Guard)</a:t>
            </a:r>
            <a:r>
              <a:rPr lang="en-US" b="0" i="0" u="none" strike="noStrike" dirty="0">
                <a:solidFill>
                  <a:srgbClr val="000000"/>
                </a:solidFill>
                <a:effectLst/>
              </a:rPr>
              <a:t>: Bir </a:t>
            </a:r>
            <a:r>
              <a:rPr lang="en-US" b="0" i="0" u="none" strike="noStrike" dirty="0" err="1">
                <a:solidFill>
                  <a:srgbClr val="000000"/>
                </a:solidFill>
                <a:effectLst/>
              </a:rPr>
              <a:t>yaşam</a:t>
            </a:r>
            <a:r>
              <a:rPr lang="en-US" b="0" i="0" u="none" strike="noStrike" dirty="0">
                <a:solidFill>
                  <a:srgbClr val="000000"/>
                </a:solidFill>
                <a:effectLst/>
              </a:rPr>
              <a:t> </a:t>
            </a:r>
            <a:r>
              <a:rPr lang="en-US" b="0" i="0" u="none" strike="noStrike" dirty="0" err="1">
                <a:solidFill>
                  <a:srgbClr val="000000"/>
                </a:solidFill>
                <a:effectLst/>
              </a:rPr>
              <a:t>çizgisinin</a:t>
            </a:r>
            <a:r>
              <a:rPr lang="en-US" b="0" i="0" u="none" strike="noStrike" dirty="0">
                <a:solidFill>
                  <a:srgbClr val="000000"/>
                </a:solidFill>
                <a:effectLst/>
              </a:rPr>
              <a:t> </a:t>
            </a:r>
            <a:r>
              <a:rPr lang="en-US" b="0" i="0" u="none" strike="noStrike" dirty="0" err="1">
                <a:solidFill>
                  <a:srgbClr val="000000"/>
                </a:solidFill>
                <a:effectLst/>
              </a:rPr>
              <a:t>üzerinde</a:t>
            </a:r>
            <a:r>
              <a:rPr lang="en-US" b="0" i="0" u="none" strike="noStrike" dirty="0">
                <a:solidFill>
                  <a:srgbClr val="000000"/>
                </a:solidFill>
                <a:effectLst/>
              </a:rPr>
              <a:t> </a:t>
            </a:r>
            <a:r>
              <a:rPr lang="en-US" b="0" i="0" u="none" strike="noStrike" dirty="0" err="1">
                <a:solidFill>
                  <a:srgbClr val="000000"/>
                </a:solidFill>
                <a:effectLst/>
              </a:rPr>
              <a:t>yer</a:t>
            </a:r>
            <a:r>
              <a:rPr lang="en-US" b="0" i="0" u="none" strike="noStrike" dirty="0">
                <a:solidFill>
                  <a:srgbClr val="000000"/>
                </a:solidFill>
                <a:effectLst/>
              </a:rPr>
              <a:t> </a:t>
            </a:r>
            <a:r>
              <a:rPr lang="en-US" b="0" i="0" u="none" strike="noStrike" dirty="0" err="1">
                <a:solidFill>
                  <a:srgbClr val="000000"/>
                </a:solidFill>
                <a:effectLst/>
              </a:rPr>
              <a:t>alan</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dizinin</a:t>
            </a:r>
            <a:r>
              <a:rPr lang="en-US" b="0" i="0" u="none" strike="noStrike" dirty="0">
                <a:solidFill>
                  <a:srgbClr val="000000"/>
                </a:solidFill>
                <a:effectLst/>
              </a:rPr>
              <a:t> </a:t>
            </a:r>
            <a:r>
              <a:rPr lang="en-US" b="0" i="0" u="none" strike="noStrike" dirty="0" err="1">
                <a:solidFill>
                  <a:srgbClr val="000000"/>
                </a:solidFill>
                <a:effectLst/>
              </a:rPr>
              <a:t>çalışıp</a:t>
            </a:r>
            <a:r>
              <a:rPr lang="en-US" b="0" i="0" u="none" strike="noStrike" dirty="0">
                <a:solidFill>
                  <a:srgbClr val="000000"/>
                </a:solidFill>
                <a:effectLst/>
              </a:rPr>
              <a:t> </a:t>
            </a:r>
            <a:r>
              <a:rPr lang="en-US" b="0" i="0" u="none" strike="noStrike" dirty="0" err="1">
                <a:solidFill>
                  <a:srgbClr val="000000"/>
                </a:solidFill>
                <a:effectLst/>
              </a:rPr>
              <a:t>çalışmayacağını</a:t>
            </a:r>
            <a:r>
              <a:rPr lang="en-US" b="0" i="0" u="none" strike="noStrike" dirty="0">
                <a:solidFill>
                  <a:srgbClr val="000000"/>
                </a:solidFill>
                <a:effectLst/>
              </a:rPr>
              <a:t> </a:t>
            </a:r>
            <a:r>
              <a:rPr lang="en-US" b="0" i="0" u="none" strike="noStrike" dirty="0" err="1">
                <a:solidFill>
                  <a:srgbClr val="000000"/>
                </a:solidFill>
                <a:effectLst/>
              </a:rPr>
              <a:t>belirleyen</a:t>
            </a:r>
            <a:r>
              <a:rPr lang="en-US" b="0" i="0" u="none" strike="noStrike" dirty="0">
                <a:solidFill>
                  <a:srgbClr val="000000"/>
                </a:solidFill>
                <a:effectLst/>
              </a:rPr>
              <a:t> </a:t>
            </a:r>
            <a:r>
              <a:rPr lang="en-US" b="0" i="0" u="none" strike="noStrike" dirty="0" err="1">
                <a:solidFill>
                  <a:srgbClr val="000000"/>
                </a:solidFill>
                <a:effectLst/>
              </a:rPr>
              <a:t>koşul</a:t>
            </a:r>
            <a:r>
              <a:rPr lang="en-US" b="0" i="0" u="none" strike="noStrike" dirty="0">
                <a:solidFill>
                  <a:srgbClr val="000000"/>
                </a:solidFill>
                <a:effectLst/>
              </a:rPr>
              <a:t>.</a:t>
            </a:r>
          </a:p>
          <a:p>
            <a:pPr algn="l"/>
            <a:r>
              <a:rPr lang="en-US" b="1" i="0" u="none" strike="noStrike" dirty="0" err="1">
                <a:solidFill>
                  <a:srgbClr val="000000"/>
                </a:solidFill>
                <a:effectLst/>
              </a:rPr>
              <a:t>Örnek</a:t>
            </a:r>
            <a:r>
              <a:rPr lang="en-US" b="0" i="0" u="none" strike="noStrike" dirty="0">
                <a:solidFill>
                  <a:srgbClr val="000000"/>
                </a:solidFill>
                <a:effectLst/>
              </a:rPr>
              <a:t>: </a:t>
            </a:r>
            <a:r>
              <a:rPr lang="en-US" b="0" i="0" u="none" strike="noStrike" dirty="0" err="1">
                <a:solidFill>
                  <a:srgbClr val="000000"/>
                </a:solidFill>
                <a:effectLst/>
              </a:rPr>
              <a:t>Başarısız</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ödeme</a:t>
            </a:r>
            <a:r>
              <a:rPr lang="en-US" b="0" i="0" u="none" strike="noStrike" dirty="0">
                <a:solidFill>
                  <a:srgbClr val="000000"/>
                </a:solidFill>
                <a:effectLst/>
              </a:rPr>
              <a:t> </a:t>
            </a:r>
            <a:r>
              <a:rPr lang="en-US" b="0" i="0" u="none" strike="noStrike" dirty="0" err="1">
                <a:solidFill>
                  <a:srgbClr val="000000"/>
                </a:solidFill>
                <a:effectLst/>
              </a:rPr>
              <a:t>sürecini</a:t>
            </a:r>
            <a:r>
              <a:rPr lang="en-US" b="0" i="0" u="none" strike="noStrike" dirty="0">
                <a:solidFill>
                  <a:srgbClr val="000000"/>
                </a:solidFill>
                <a:effectLst/>
              </a:rPr>
              <a:t> </a:t>
            </a:r>
            <a:r>
              <a:rPr lang="en-US" b="0" i="0" u="none" strike="noStrike" dirty="0" err="1">
                <a:solidFill>
                  <a:srgbClr val="000000"/>
                </a:solidFill>
                <a:effectLst/>
              </a:rPr>
              <a:t>başarıya</a:t>
            </a:r>
            <a:r>
              <a:rPr lang="en-US" b="0" i="0" u="none" strike="noStrike" dirty="0">
                <a:solidFill>
                  <a:srgbClr val="000000"/>
                </a:solidFill>
                <a:effectLst/>
              </a:rPr>
              <a:t> </a:t>
            </a:r>
            <a:r>
              <a:rPr lang="en-US" b="0" i="0" u="none" strike="noStrike" dirty="0" err="1">
                <a:solidFill>
                  <a:srgbClr val="000000"/>
                </a:solidFill>
                <a:effectLst/>
              </a:rPr>
              <a:t>ulaşana</a:t>
            </a:r>
            <a:r>
              <a:rPr lang="en-US" b="0" i="0" u="none" strike="noStrike" dirty="0">
                <a:solidFill>
                  <a:srgbClr val="000000"/>
                </a:solidFill>
                <a:effectLst/>
              </a:rPr>
              <a:t> </a:t>
            </a:r>
            <a:r>
              <a:rPr lang="en-US" b="0" i="0" u="none" strike="noStrike" dirty="0" err="1">
                <a:solidFill>
                  <a:srgbClr val="000000"/>
                </a:solidFill>
                <a:effectLst/>
              </a:rPr>
              <a:t>kadar</a:t>
            </a:r>
            <a:r>
              <a:rPr lang="en-US" b="0" i="0" u="none" strike="noStrike" dirty="0">
                <a:solidFill>
                  <a:srgbClr val="000000"/>
                </a:solidFill>
                <a:effectLst/>
              </a:rPr>
              <a:t> </a:t>
            </a:r>
            <a:r>
              <a:rPr lang="en-US" b="0" i="0" u="none" strike="noStrike" dirty="0" err="1">
                <a:solidFill>
                  <a:srgbClr val="000000"/>
                </a:solidFill>
                <a:effectLst/>
              </a:rPr>
              <a:t>yeniden</a:t>
            </a:r>
            <a:r>
              <a:rPr lang="en-US" b="0" i="0" u="none" strike="noStrike" dirty="0">
                <a:solidFill>
                  <a:srgbClr val="000000"/>
                </a:solidFill>
                <a:effectLst/>
              </a:rPr>
              <a:t> </a:t>
            </a:r>
            <a:r>
              <a:rPr lang="en-US" b="0" i="0" u="none" strike="noStrike" dirty="0" err="1">
                <a:solidFill>
                  <a:srgbClr val="000000"/>
                </a:solidFill>
                <a:effectLst/>
              </a:rPr>
              <a:t>denemek</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“loop” </a:t>
            </a:r>
            <a:r>
              <a:rPr lang="en-US" b="0" i="0" u="none" strike="noStrike" dirty="0" err="1">
                <a:solidFill>
                  <a:srgbClr val="000000"/>
                </a:solidFill>
                <a:effectLst/>
              </a:rPr>
              <a:t>çerçevesi</a:t>
            </a:r>
            <a:r>
              <a:rPr lang="en-US" b="0" i="0" u="none" strike="noStrike" dirty="0">
                <a:solidFill>
                  <a:srgbClr val="000000"/>
                </a:solidFill>
                <a:effectLst/>
              </a:rPr>
              <a:t>.</a:t>
            </a:r>
          </a:p>
          <a:p>
            <a:pPr algn="l"/>
            <a:r>
              <a:rPr lang="en-US" b="1" i="0" u="none" strike="noStrike" dirty="0">
                <a:solidFill>
                  <a:srgbClr val="000000"/>
                </a:solidFill>
                <a:effectLst/>
              </a:rPr>
              <a:t>Ekstra Bilgi</a:t>
            </a:r>
            <a:r>
              <a:rPr lang="en-US" b="0" i="0" u="none" strike="noStrike" dirty="0">
                <a:solidFill>
                  <a:srgbClr val="000000"/>
                </a:solidFill>
                <a:effectLst/>
              </a:rPr>
              <a:t>: </a:t>
            </a:r>
            <a:r>
              <a:rPr lang="en-US" b="0" i="0" u="none" strike="noStrike" dirty="0" err="1">
                <a:solidFill>
                  <a:srgbClr val="000000"/>
                </a:solidFill>
                <a:effectLst/>
              </a:rPr>
              <a:t>Çerçeveler</a:t>
            </a:r>
            <a:r>
              <a:rPr lang="en-US" b="0" i="0" u="none" strike="noStrike" dirty="0">
                <a:solidFill>
                  <a:srgbClr val="000000"/>
                </a:solidFill>
                <a:effectLst/>
              </a:rPr>
              <a:t>, </a:t>
            </a:r>
            <a:r>
              <a:rPr lang="en-US" b="0" i="0" u="none" strike="noStrike" dirty="0" err="1">
                <a:solidFill>
                  <a:srgbClr val="000000"/>
                </a:solidFill>
                <a:effectLst/>
              </a:rPr>
              <a:t>koşullu</a:t>
            </a:r>
            <a:r>
              <a:rPr lang="en-US" b="0" i="0" u="none" strike="noStrike" dirty="0">
                <a:solidFill>
                  <a:srgbClr val="000000"/>
                </a:solidFill>
                <a:effectLst/>
              </a:rPr>
              <a:t> </a:t>
            </a:r>
            <a:r>
              <a:rPr lang="en-US" b="0" i="0" u="none" strike="noStrike" dirty="0" err="1">
                <a:solidFill>
                  <a:srgbClr val="000000"/>
                </a:solidFill>
                <a:effectLst/>
              </a:rPr>
              <a:t>mantık</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tekrarlayan</a:t>
            </a:r>
            <a:r>
              <a:rPr lang="en-US" b="0" i="0" u="none" strike="noStrike" dirty="0">
                <a:solidFill>
                  <a:srgbClr val="000000"/>
                </a:solidFill>
                <a:effectLst/>
              </a:rPr>
              <a:t> </a:t>
            </a:r>
            <a:r>
              <a:rPr lang="en-US" b="0" i="0" u="none" strike="noStrike" dirty="0" err="1">
                <a:solidFill>
                  <a:srgbClr val="000000"/>
                </a:solidFill>
                <a:effectLst/>
              </a:rPr>
              <a:t>diziler</a:t>
            </a:r>
            <a:r>
              <a:rPr lang="en-US" b="0" i="0" u="none" strike="noStrike" dirty="0">
                <a:solidFill>
                  <a:srgbClr val="000000"/>
                </a:solidFill>
                <a:effectLst/>
              </a:rPr>
              <a:t> </a:t>
            </a:r>
            <a:r>
              <a:rPr lang="en-US" b="0" i="0" u="none" strike="noStrike" dirty="0" err="1">
                <a:solidFill>
                  <a:srgbClr val="000000"/>
                </a:solidFill>
                <a:effectLst/>
              </a:rPr>
              <a:t>gibi</a:t>
            </a:r>
            <a:r>
              <a:rPr lang="en-US" b="0" i="0" u="none" strike="noStrike" dirty="0">
                <a:solidFill>
                  <a:srgbClr val="000000"/>
                </a:solidFill>
                <a:effectLst/>
              </a:rPr>
              <a:t> </a:t>
            </a:r>
            <a:r>
              <a:rPr lang="en-US" b="0" i="0" u="none" strike="noStrike" dirty="0" err="1">
                <a:solidFill>
                  <a:srgbClr val="000000"/>
                </a:solidFill>
                <a:effectLst/>
              </a:rPr>
              <a:t>karmaşık</a:t>
            </a:r>
            <a:r>
              <a:rPr lang="en-US" b="0" i="0" u="none" strike="noStrike" dirty="0">
                <a:solidFill>
                  <a:srgbClr val="000000"/>
                </a:solidFill>
                <a:effectLst/>
              </a:rPr>
              <a:t> </a:t>
            </a:r>
            <a:r>
              <a:rPr lang="en-US" b="0" i="0" u="none" strike="noStrike" dirty="0" err="1">
                <a:solidFill>
                  <a:srgbClr val="000000"/>
                </a:solidFill>
                <a:effectLst/>
              </a:rPr>
              <a:t>etkileşimleri</a:t>
            </a:r>
            <a:r>
              <a:rPr lang="en-US" b="0" i="0" u="none" strike="noStrike" dirty="0">
                <a:solidFill>
                  <a:srgbClr val="000000"/>
                </a:solidFill>
                <a:effectLst/>
              </a:rPr>
              <a:t> </a:t>
            </a:r>
            <a:r>
              <a:rPr lang="en-US" b="0" i="0" u="none" strike="noStrike" dirty="0" err="1">
                <a:solidFill>
                  <a:srgbClr val="000000"/>
                </a:solidFill>
                <a:effectLst/>
              </a:rPr>
              <a:t>yönetmek</a:t>
            </a:r>
            <a:r>
              <a:rPr lang="en-US" b="0" i="0" u="none" strike="noStrike" dirty="0">
                <a:solidFill>
                  <a:srgbClr val="000000"/>
                </a:solidFill>
                <a:effectLst/>
              </a:rPr>
              <a:t> </a:t>
            </a:r>
            <a:r>
              <a:rPr lang="en-US" b="0" i="0" u="none" strike="noStrike" dirty="0" err="1">
                <a:solidFill>
                  <a:srgbClr val="000000"/>
                </a:solidFill>
                <a:effectLst/>
              </a:rPr>
              <a:t>ve</a:t>
            </a:r>
            <a:r>
              <a:rPr lang="en-US" b="0" i="0" u="none" strike="noStrike" dirty="0">
                <a:solidFill>
                  <a:srgbClr val="000000"/>
                </a:solidFill>
                <a:effectLst/>
              </a:rPr>
              <a:t> </a:t>
            </a:r>
            <a:r>
              <a:rPr lang="en-US" b="0" i="0" u="none" strike="noStrike" dirty="0" err="1">
                <a:solidFill>
                  <a:srgbClr val="000000"/>
                </a:solidFill>
                <a:effectLst/>
              </a:rPr>
              <a:t>tasvir</a:t>
            </a:r>
            <a:r>
              <a:rPr lang="en-US" b="0" i="0" u="none" strike="noStrike" dirty="0">
                <a:solidFill>
                  <a:srgbClr val="000000"/>
                </a:solidFill>
                <a:effectLst/>
              </a:rPr>
              <a:t> </a:t>
            </a:r>
            <a:r>
              <a:rPr lang="en-US" b="0" i="0" u="none" strike="noStrike" dirty="0" err="1">
                <a:solidFill>
                  <a:srgbClr val="000000"/>
                </a:solidFill>
                <a:effectLst/>
              </a:rPr>
              <a:t>etmek</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kullanışlıdır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xfrm>
            <a:off x="1173163" y="696913"/>
            <a:ext cx="4638675" cy="3479800"/>
          </a:xfrm>
          <a:ln/>
        </p:spPr>
      </p:sp>
      <p:sp>
        <p:nvSpPr>
          <p:cNvPr id="5222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Frame Operators:</a:t>
            </a:r>
          </a:p>
          <a:p>
            <a:pPr algn="l">
              <a:buFont typeface="+mj-lt"/>
              <a:buAutoNum type="arabicPeriod"/>
            </a:pPr>
            <a:r>
              <a:rPr lang="en-US" b="1" i="0" u="none" strike="noStrike" dirty="0">
                <a:solidFill>
                  <a:srgbClr val="000000"/>
                </a:solidFill>
                <a:effectLst/>
              </a:rPr>
              <a:t>alt (Alternative)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Represents </a:t>
            </a:r>
            <a:r>
              <a:rPr lang="en-US" b="1" i="0" u="none" strike="noStrike" dirty="0">
                <a:solidFill>
                  <a:srgbClr val="000000"/>
                </a:solidFill>
                <a:effectLst/>
              </a:rPr>
              <a:t>mutual exclusion conditional logic</a:t>
            </a:r>
            <a:r>
              <a:rPr lang="en-US" b="0" i="0" u="none" strike="noStrike" dirty="0">
                <a:solidFill>
                  <a:srgbClr val="000000"/>
                </a:solidFill>
                <a:effectLst/>
              </a:rPr>
              <a:t>. It includes different paths for a given condition.</a:t>
            </a:r>
          </a:p>
          <a:p>
            <a:pPr marL="742950" lvl="1" indent="-285750" algn="l">
              <a:buFont typeface="+mj-lt"/>
              <a:buAutoNum type="arabicPeriod"/>
            </a:pPr>
            <a:r>
              <a:rPr lang="en-US" b="0" i="0" u="none" strike="noStrike" dirty="0">
                <a:solidFill>
                  <a:srgbClr val="000000"/>
                </a:solidFill>
                <a:effectLst/>
              </a:rPr>
              <a:t>Example: If a user is authenticated, proceed to the dashboard; otherwise, show an error message.</a:t>
            </a:r>
          </a:p>
          <a:p>
            <a:pPr marL="742950" lvl="1" indent="-285750" algn="l">
              <a:buFont typeface="+mj-lt"/>
              <a:buAutoNum type="arabicPeriod"/>
            </a:pPr>
            <a:r>
              <a:rPr lang="en-US" b="1" i="0" u="none" strike="noStrike" dirty="0">
                <a:solidFill>
                  <a:srgbClr val="000000"/>
                </a:solidFill>
                <a:effectLst/>
              </a:rPr>
              <a:t>Key Feature</a:t>
            </a:r>
            <a:r>
              <a:rPr lang="en-US" b="0" i="0" u="none" strike="noStrike" dirty="0">
                <a:solidFill>
                  <a:srgbClr val="000000"/>
                </a:solidFill>
                <a:effectLst/>
              </a:rPr>
              <a:t>: Conditional branches where only one path executes.</a:t>
            </a:r>
          </a:p>
          <a:p>
            <a:pPr algn="l">
              <a:buFont typeface="+mj-lt"/>
              <a:buAutoNum type="arabicPeriod"/>
            </a:pPr>
            <a:r>
              <a:rPr lang="en-US" b="1" i="0" u="none" strike="noStrike" dirty="0">
                <a:solidFill>
                  <a:srgbClr val="000000"/>
                </a:solidFill>
                <a:effectLst/>
              </a:rPr>
              <a:t>loop</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Represents a repetitive sequence of messages as long as a </a:t>
            </a:r>
            <a:r>
              <a:rPr lang="en-US" b="1" i="0" u="none" strike="noStrike" dirty="0">
                <a:solidFill>
                  <a:srgbClr val="000000"/>
                </a:solidFill>
                <a:effectLst/>
              </a:rPr>
              <a:t>guard condition</a:t>
            </a:r>
            <a:r>
              <a:rPr lang="en-US" b="0" i="0" u="none" strike="noStrike" dirty="0">
                <a:solidFill>
                  <a:srgbClr val="000000"/>
                </a:solidFill>
                <a:effectLst/>
              </a:rPr>
              <a:t> is true.</a:t>
            </a:r>
          </a:p>
          <a:p>
            <a:pPr marL="742950" lvl="1" indent="-285750" algn="l">
              <a:buFont typeface="+mj-lt"/>
              <a:buAutoNum type="arabicPeriod"/>
            </a:pPr>
            <a:r>
              <a:rPr lang="en-US" b="0" i="0" u="none" strike="noStrike" dirty="0">
                <a:solidFill>
                  <a:srgbClr val="000000"/>
                </a:solidFill>
                <a:effectLst/>
              </a:rPr>
              <a:t>Example: Processing each item in a shopping cart.</a:t>
            </a:r>
          </a:p>
          <a:p>
            <a:pPr marL="742950" lvl="1" indent="-285750" algn="l">
              <a:buFont typeface="+mj-lt"/>
              <a:buAutoNum type="arabicPeriod"/>
            </a:pPr>
            <a:r>
              <a:rPr lang="en-US" b="1" i="0" u="none" strike="noStrike" dirty="0">
                <a:solidFill>
                  <a:srgbClr val="000000"/>
                </a:solidFill>
                <a:effectLst/>
              </a:rPr>
              <a:t>Advanced Use</a:t>
            </a:r>
            <a:r>
              <a:rPr lang="en-US" b="0" i="0" u="none" strike="noStrike" dirty="0">
                <a:solidFill>
                  <a:srgbClr val="000000"/>
                </a:solidFill>
                <a:effectLst/>
              </a:rPr>
              <a:t>: Can define iterations explicitly, e.g., loop(3) for exactly 3 iterations or loop(</a:t>
            </a:r>
            <a:r>
              <a:rPr lang="en-US" b="0" i="0" u="none" strike="noStrike" dirty="0" err="1">
                <a:solidFill>
                  <a:srgbClr val="000000"/>
                </a:solidFill>
                <a:effectLst/>
              </a:rPr>
              <a:t>i</a:t>
            </a:r>
            <a:r>
              <a:rPr lang="en-US" b="0" i="0" u="none" strike="noStrike" dirty="0">
                <a:solidFill>
                  <a:srgbClr val="000000"/>
                </a:solidFill>
                <a:effectLst/>
              </a:rPr>
              <a:t>, 1, 10) for a range.</a:t>
            </a:r>
          </a:p>
          <a:p>
            <a:pPr algn="l">
              <a:buFont typeface="+mj-lt"/>
              <a:buAutoNum type="arabicPeriod"/>
            </a:pPr>
            <a:r>
              <a:rPr lang="en-US" b="1" i="0" u="none" strike="noStrike" dirty="0">
                <a:solidFill>
                  <a:srgbClr val="000000"/>
                </a:solidFill>
                <a:effectLst/>
              </a:rPr>
              <a:t>opt (Optional)</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Indicates an </a:t>
            </a:r>
            <a:r>
              <a:rPr lang="en-US" b="1" i="0" u="none" strike="noStrike" dirty="0">
                <a:solidFill>
                  <a:srgbClr val="000000"/>
                </a:solidFill>
                <a:effectLst/>
              </a:rPr>
              <a:t>optional fragment</a:t>
            </a:r>
            <a:r>
              <a:rPr lang="en-US" b="0" i="0" u="none" strike="noStrike" dirty="0">
                <a:solidFill>
                  <a:srgbClr val="000000"/>
                </a:solidFill>
                <a:effectLst/>
              </a:rPr>
              <a:t> that runs only if a guard condition is true.</a:t>
            </a:r>
          </a:p>
          <a:p>
            <a:pPr marL="742950" lvl="1" indent="-285750" algn="l">
              <a:buFont typeface="+mj-lt"/>
              <a:buAutoNum type="arabicPeriod"/>
            </a:pPr>
            <a:r>
              <a:rPr lang="en-US" b="0" i="0" u="none" strike="noStrike" dirty="0">
                <a:solidFill>
                  <a:srgbClr val="000000"/>
                </a:solidFill>
                <a:effectLst/>
              </a:rPr>
              <a:t>Example: Displaying a discount message if the user has a discount code.</a:t>
            </a:r>
          </a:p>
          <a:p>
            <a:pPr algn="l">
              <a:buFont typeface="+mj-lt"/>
              <a:buAutoNum type="arabicPeriod"/>
            </a:pPr>
            <a:r>
              <a:rPr lang="en-US" b="1" i="0" u="none" strike="noStrike" dirty="0">
                <a:solidFill>
                  <a:srgbClr val="000000"/>
                </a:solidFill>
                <a:effectLst/>
              </a:rPr>
              <a:t>par (Parallel)</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Used for </a:t>
            </a:r>
            <a:r>
              <a:rPr lang="en-US" b="1" i="0" u="none" strike="noStrike" dirty="0">
                <a:solidFill>
                  <a:srgbClr val="000000"/>
                </a:solidFill>
                <a:effectLst/>
              </a:rPr>
              <a:t>parallel processing</a:t>
            </a:r>
            <a:r>
              <a:rPr lang="en-US" b="0" i="0" u="none" strike="noStrike" dirty="0">
                <a:solidFill>
                  <a:srgbClr val="000000"/>
                </a:solidFill>
                <a:effectLst/>
              </a:rPr>
              <a:t> where fragments execute at the same time.</a:t>
            </a:r>
          </a:p>
          <a:p>
            <a:pPr marL="742950" lvl="1" indent="-285750" algn="l">
              <a:buFont typeface="+mj-lt"/>
              <a:buAutoNum type="arabicPeriod"/>
            </a:pPr>
            <a:r>
              <a:rPr lang="en-US" b="0" i="0" u="none" strike="noStrike" dirty="0">
                <a:solidFill>
                  <a:srgbClr val="000000"/>
                </a:solidFill>
                <a:effectLst/>
              </a:rPr>
              <a:t>Example: Uploading multiple files concurrently.</a:t>
            </a:r>
          </a:p>
          <a:p>
            <a:pPr algn="l">
              <a:buFont typeface="+mj-lt"/>
              <a:buAutoNum type="arabicPeriod"/>
            </a:pPr>
            <a:r>
              <a:rPr lang="en-US" b="1" i="0" u="none" strike="noStrike" dirty="0">
                <a:solidFill>
                  <a:srgbClr val="000000"/>
                </a:solidFill>
                <a:effectLst/>
              </a:rPr>
              <a:t>region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critical region</a:t>
            </a:r>
            <a:r>
              <a:rPr lang="en-US" b="0" i="0" u="none" strike="noStrike" dirty="0">
                <a:solidFill>
                  <a:srgbClr val="000000"/>
                </a:solidFill>
                <a:effectLst/>
              </a:rPr>
              <a:t> where only one thread can execute at a time.</a:t>
            </a:r>
          </a:p>
          <a:p>
            <a:pPr marL="742950" lvl="1" indent="-285750" algn="l">
              <a:buFont typeface="+mj-lt"/>
              <a:buAutoNum type="arabicPeriod"/>
            </a:pPr>
            <a:r>
              <a:rPr lang="en-US" b="0" i="0" u="none" strike="noStrike" dirty="0">
                <a:solidFill>
                  <a:srgbClr val="000000"/>
                </a:solidFill>
                <a:effectLst/>
              </a:rPr>
              <a:t>Example: Ensuring thread safety when updating a shared resource like a balance in a banking app.</a:t>
            </a:r>
          </a:p>
          <a:p>
            <a:endParaRPr lang="tr-TR" dirty="0">
              <a:latin typeface="Times" charset="0"/>
              <a:ea typeface="ＭＳ Ｐゴシック" charset="0"/>
              <a:cs typeface="ＭＳ Ｐゴシック"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xfrm>
            <a:off x="1173163" y="696913"/>
            <a:ext cx="4638675" cy="3479800"/>
          </a:xfrm>
          <a:ln/>
        </p:spPr>
      </p:sp>
      <p:sp>
        <p:nvSpPr>
          <p:cNvPr id="54275"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Explanation of the Diagram: A Conditional Message</a:t>
            </a:r>
          </a:p>
          <a:p>
            <a:pPr algn="l"/>
            <a:r>
              <a:rPr lang="en-US" b="1" i="0" u="none" strike="noStrike" dirty="0">
                <a:solidFill>
                  <a:srgbClr val="000000"/>
                </a:solidFill>
                <a:effectLst/>
              </a:rPr>
              <a:t>Elements of the Diagram:</a:t>
            </a:r>
          </a:p>
          <a:p>
            <a:pPr algn="l">
              <a:buFont typeface="+mj-lt"/>
              <a:buAutoNum type="arabicPeriod"/>
            </a:pPr>
            <a:r>
              <a:rPr lang="en-US" b="1" i="0" u="none" strike="noStrike" dirty="0">
                <a:solidFill>
                  <a:srgbClr val="000000"/>
                </a:solidFill>
                <a:effectLst/>
              </a:rPr>
              <a:t>Objects (: Foo and : Bar)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These represent instances of classes.</a:t>
            </a:r>
          </a:p>
          <a:p>
            <a:pPr marL="742950" lvl="1" indent="-285750" algn="l">
              <a:buFont typeface="+mj-lt"/>
              <a:buAutoNum type="arabicPeriod"/>
            </a:pPr>
            <a:r>
              <a:rPr lang="en-US" b="0" i="0" u="none" strike="noStrike" dirty="0">
                <a:solidFill>
                  <a:srgbClr val="000000"/>
                </a:solidFill>
                <a:effectLst/>
              </a:rPr>
              <a:t>: Foo is the sender object, and : Bar is the receiver object.</a:t>
            </a:r>
          </a:p>
          <a:p>
            <a:pPr algn="l">
              <a:buFont typeface="+mj-lt"/>
              <a:buAutoNum type="arabicPeriod"/>
            </a:pPr>
            <a:r>
              <a:rPr lang="en-US" b="1" i="0" u="none" strike="noStrike" dirty="0">
                <a:solidFill>
                  <a:srgbClr val="000000"/>
                </a:solidFill>
                <a:effectLst/>
              </a:rPr>
              <a:t>Messages (xx, calculate, and </a:t>
            </a:r>
            <a:r>
              <a:rPr lang="en-US" b="1" i="0" u="none" strike="noStrike" dirty="0" err="1">
                <a:solidFill>
                  <a:srgbClr val="000000"/>
                </a:solidFill>
                <a:effectLst/>
              </a:rPr>
              <a:t>yy</a:t>
            </a:r>
            <a:r>
              <a:rPr lang="en-US" b="1" i="0" u="none" strike="noStrike" dirty="0">
                <a:solidFill>
                  <a:srgbClr val="000000"/>
                </a:solidFill>
                <a:effectLst/>
              </a:rPr>
              <a:t>)</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xx</a:t>
            </a:r>
            <a:r>
              <a:rPr lang="en-US" b="0" i="0" u="none" strike="noStrike" dirty="0">
                <a:solidFill>
                  <a:srgbClr val="000000"/>
                </a:solidFill>
                <a:effectLst/>
              </a:rPr>
              <a:t>: An initial message sent from : Foo to : Bar.</a:t>
            </a:r>
          </a:p>
          <a:p>
            <a:pPr marL="742950" lvl="1" indent="-285750" algn="l">
              <a:buFont typeface="+mj-lt"/>
              <a:buAutoNum type="arabicPeriod"/>
            </a:pPr>
            <a:r>
              <a:rPr lang="en-US" b="1" i="0" u="none" strike="noStrike" dirty="0">
                <a:solidFill>
                  <a:srgbClr val="000000"/>
                </a:solidFill>
                <a:effectLst/>
              </a:rPr>
              <a:t>calculate</a:t>
            </a:r>
            <a:r>
              <a:rPr lang="en-US" b="0" i="0" u="none" strike="noStrike" dirty="0">
                <a:solidFill>
                  <a:srgbClr val="000000"/>
                </a:solidFill>
                <a:effectLst/>
              </a:rPr>
              <a:t>: A conditional message triggered only if the specified condition (color = red) is true.</a:t>
            </a:r>
          </a:p>
          <a:p>
            <a:pPr marL="742950" lvl="1" indent="-285750" algn="l">
              <a:buFont typeface="+mj-lt"/>
              <a:buAutoNum type="arabicPeriod"/>
            </a:pPr>
            <a:r>
              <a:rPr lang="en-US" b="1" i="0" u="none" strike="noStrike" dirty="0" err="1">
                <a:solidFill>
                  <a:srgbClr val="000000"/>
                </a:solidFill>
                <a:effectLst/>
              </a:rPr>
              <a:t>yy</a:t>
            </a:r>
            <a:r>
              <a:rPr lang="en-US" b="0" i="0" u="none" strike="noStrike" dirty="0">
                <a:solidFill>
                  <a:srgbClr val="000000"/>
                </a:solidFill>
                <a:effectLst/>
              </a:rPr>
              <a:t>: A message sent after the conditional block regardless of whether the condition was met.</a:t>
            </a:r>
          </a:p>
          <a:p>
            <a:pPr algn="l">
              <a:buFont typeface="+mj-lt"/>
              <a:buAutoNum type="arabicPeriod"/>
            </a:pPr>
            <a:r>
              <a:rPr lang="en-US" b="1" i="0" u="none" strike="noStrike" dirty="0">
                <a:solidFill>
                  <a:srgbClr val="000000"/>
                </a:solidFill>
                <a:effectLst/>
              </a:rPr>
              <a:t>Frame (opt)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Represents an </a:t>
            </a:r>
            <a:r>
              <a:rPr lang="en-US" b="1" i="0" u="none" strike="noStrike" dirty="0">
                <a:solidFill>
                  <a:srgbClr val="000000"/>
                </a:solidFill>
                <a:effectLst/>
              </a:rPr>
              <a:t>optional fragment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guard condition [color = red] determines whether the interaction inside the frame (sending the calculate message) takes place.</a:t>
            </a:r>
          </a:p>
          <a:p>
            <a:pPr algn="l">
              <a:buFont typeface="+mj-lt"/>
              <a:buAutoNum type="arabicPeriod"/>
            </a:pPr>
            <a:r>
              <a:rPr lang="en-US" b="1" i="0" u="none" strike="noStrike" dirty="0">
                <a:solidFill>
                  <a:srgbClr val="000000"/>
                </a:solidFill>
                <a:effectLst/>
              </a:rPr>
              <a:t>Lifelines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Vertical dashed lines extending from : Foo and : Bar, representing the timeline of the objects' activities.</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This sequence diagram shows a conditional interaction between two objects, : Foo and : Bar.</a:t>
            </a:r>
          </a:p>
          <a:p>
            <a:pPr algn="l">
              <a:buFont typeface="Arial" panose="020B0604020202020204" pitchFamily="34" charset="0"/>
              <a:buChar char="•"/>
            </a:pPr>
            <a:r>
              <a:rPr lang="en-US" b="1" i="0" u="none" strike="noStrike" dirty="0">
                <a:solidFill>
                  <a:srgbClr val="000000"/>
                </a:solidFill>
                <a:effectLst/>
              </a:rPr>
              <a:t>Flow</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 Foo sends the xx message to : Bar.</a:t>
            </a:r>
          </a:p>
          <a:p>
            <a:pPr marL="742950" lvl="1" indent="-285750" algn="l">
              <a:buFont typeface="Arial" panose="020B0604020202020204" pitchFamily="34" charset="0"/>
              <a:buChar char="•"/>
            </a:pPr>
            <a:r>
              <a:rPr lang="en-US" b="0" i="0" u="none" strike="noStrike" dirty="0">
                <a:solidFill>
                  <a:srgbClr val="000000"/>
                </a:solidFill>
                <a:effectLst/>
              </a:rPr>
              <a:t>If the condition [color = red] is true, the calculate message is sent from : Foo to : Bar.</a:t>
            </a:r>
          </a:p>
          <a:p>
            <a:pPr marL="742950" lvl="1" indent="-285750" algn="l">
              <a:buFont typeface="Arial" panose="020B0604020202020204" pitchFamily="34" charset="0"/>
              <a:buChar char="•"/>
            </a:pPr>
            <a:r>
              <a:rPr lang="en-US" b="0" i="0" u="none" strike="noStrike" dirty="0">
                <a:solidFill>
                  <a:srgbClr val="000000"/>
                </a:solidFill>
                <a:effectLst/>
              </a:rPr>
              <a:t>Regardless of whether the condition is met, the </a:t>
            </a:r>
            <a:r>
              <a:rPr lang="en-US" b="0" i="0" u="none" strike="noStrike" dirty="0" err="1">
                <a:solidFill>
                  <a:srgbClr val="000000"/>
                </a:solidFill>
                <a:effectLst/>
              </a:rPr>
              <a:t>yy</a:t>
            </a:r>
            <a:r>
              <a:rPr lang="en-US" b="0" i="0" u="none" strike="noStrike" dirty="0">
                <a:solidFill>
                  <a:srgbClr val="000000"/>
                </a:solidFill>
                <a:effectLst/>
              </a:rPr>
              <a:t> message is sent after the optional fragment.</a:t>
            </a:r>
          </a:p>
          <a:p>
            <a:pPr algn="l">
              <a:buFont typeface="Arial" panose="020B0604020202020204" pitchFamily="34" charset="0"/>
              <a:buChar char="•"/>
            </a:pPr>
            <a:r>
              <a:rPr lang="en-US" b="1" i="0" u="none" strike="noStrike" dirty="0">
                <a:solidFill>
                  <a:srgbClr val="000000"/>
                </a:solidFill>
                <a:effectLst/>
              </a:rPr>
              <a:t>Purpose</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The diagram visualizes a scenario where an action (e.g., a calculation) occurs only under a specific condition. This is useful for modeling real-world logic, like applying discounts in a shopping cart if a user has a coupon.</a:t>
            </a:r>
          </a:p>
          <a:p>
            <a:endParaRPr lang="tr-TR" dirty="0">
              <a:latin typeface="Times" charset="0"/>
              <a:ea typeface="ＭＳ Ｐゴシック" charset="0"/>
              <a:cs typeface="ＭＳ Ｐゴシック"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56323" name="Rectangle 2"/>
          <p:cNvSpPr>
            <a:spLocks noGrp="1" noRot="1" noChangeAspect="1" noChangeArrowheads="1" noTextEdit="1"/>
          </p:cNvSpPr>
          <p:nvPr>
            <p:ph type="sldImg"/>
          </p:nvPr>
        </p:nvSpPr>
        <p:spPr>
          <a:xfrm>
            <a:off x="1173163" y="696913"/>
            <a:ext cx="4638675" cy="3479800"/>
          </a:xfrm>
          <a:ln/>
        </p:spPr>
      </p:sp>
      <p:sp>
        <p:nvSpPr>
          <p:cNvPr id="5632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Explanation of the Diagram: A Sequence Diagram for Student Registration</a:t>
            </a:r>
          </a:p>
          <a:p>
            <a:pPr algn="l"/>
            <a:r>
              <a:rPr lang="en-US" b="1" i="0" u="none" strike="noStrike" dirty="0">
                <a:solidFill>
                  <a:srgbClr val="000000"/>
                </a:solidFill>
                <a:effectLst/>
              </a:rPr>
              <a:t>Elements in the Diagram:</a:t>
            </a:r>
          </a:p>
          <a:p>
            <a:pPr algn="l">
              <a:buFont typeface="+mj-lt"/>
              <a:buAutoNum type="arabicPeriod"/>
            </a:pPr>
            <a:r>
              <a:rPr lang="en-US" b="1" i="0" u="none" strike="noStrike" dirty="0">
                <a:solidFill>
                  <a:srgbClr val="000000"/>
                </a:solidFill>
                <a:effectLst/>
              </a:rPr>
              <a:t>Actors and Objects:</a:t>
            </a:r>
            <a:endParaRPr lang="en-US" b="0" i="0" u="none" strike="noStrike" dirty="0">
              <a:solidFill>
                <a:srgbClr val="000000"/>
              </a:solidFill>
              <a:effectLst/>
            </a:endParaRPr>
          </a:p>
          <a:p>
            <a:pPr marL="742950" lvl="1" indent="-285750" algn="l">
              <a:buFont typeface="+mj-lt"/>
              <a:buAutoNum type="arabicPeriod"/>
            </a:pPr>
            <a:r>
              <a:rPr lang="en-US" b="1" i="0" u="none" strike="noStrike" dirty="0">
                <a:solidFill>
                  <a:srgbClr val="000000"/>
                </a:solidFill>
                <a:effectLst/>
              </a:rPr>
              <a:t>Actor (Stick Figure)</a:t>
            </a:r>
            <a:r>
              <a:rPr lang="en-US" b="0" i="0" u="none" strike="noStrike" dirty="0">
                <a:solidFill>
                  <a:srgbClr val="000000"/>
                </a:solidFill>
                <a:effectLst/>
              </a:rPr>
              <a:t>: Represents the student (end-user) interacting with the system through the GUI.</a:t>
            </a:r>
          </a:p>
          <a:p>
            <a:pPr marL="742950" lvl="1" indent="-285750" algn="l">
              <a:buFont typeface="+mj-lt"/>
              <a:buAutoNum type="arabicPeriod"/>
            </a:pPr>
            <a:r>
              <a:rPr lang="en-US" b="1" i="0" u="none" strike="noStrike" dirty="0">
                <a:solidFill>
                  <a:srgbClr val="000000"/>
                </a:solidFill>
                <a:effectLst/>
              </a:rPr>
              <a:t>Objects</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:GUI: The interface used by the student to request registration.</a:t>
            </a:r>
          </a:p>
          <a:p>
            <a:pPr marL="1143000" lvl="2" indent="-228600" algn="l">
              <a:buFont typeface="+mj-lt"/>
              <a:buAutoNum type="arabicPeriod"/>
            </a:pPr>
            <a:r>
              <a:rPr lang="en-US" b="0" i="0" u="none" strike="noStrike" dirty="0">
                <a:solidFill>
                  <a:srgbClr val="000000"/>
                </a:solidFill>
                <a:effectLst/>
              </a:rPr>
              <a:t>:</a:t>
            </a:r>
            <a:r>
              <a:rPr lang="en-US" b="0" i="0" u="none" strike="noStrike" dirty="0" err="1">
                <a:solidFill>
                  <a:srgbClr val="000000"/>
                </a:solidFill>
                <a:effectLst/>
              </a:rPr>
              <a:t>CourseSection</a:t>
            </a:r>
            <a:r>
              <a:rPr lang="en-US" b="0" i="0" u="none" strike="noStrike" dirty="0">
                <a:solidFill>
                  <a:srgbClr val="000000"/>
                </a:solidFill>
                <a:effectLst/>
              </a:rPr>
              <a:t>: Represents the course the student wants to register for.</a:t>
            </a:r>
          </a:p>
          <a:p>
            <a:pPr marL="1143000" lvl="2" indent="-228600" algn="l">
              <a:buFont typeface="+mj-lt"/>
              <a:buAutoNum type="arabicPeriod"/>
            </a:pPr>
            <a:r>
              <a:rPr lang="en-US" b="0" i="0" u="none" strike="noStrike" dirty="0" err="1">
                <a:solidFill>
                  <a:srgbClr val="000000"/>
                </a:solidFill>
                <a:effectLst/>
              </a:rPr>
              <a:t>aStudent</a:t>
            </a:r>
            <a:r>
              <a:rPr lang="en-US" b="0" i="0" u="none" strike="noStrike" dirty="0">
                <a:solidFill>
                  <a:srgbClr val="000000"/>
                </a:solidFill>
                <a:effectLst/>
              </a:rPr>
              <a:t>: Student: The student attempting registration.</a:t>
            </a:r>
          </a:p>
          <a:p>
            <a:pPr marL="1143000" lvl="2" indent="-228600" algn="l">
              <a:buFont typeface="+mj-lt"/>
              <a:buAutoNum type="arabicPeriod"/>
            </a:pPr>
            <a:r>
              <a:rPr lang="en-US" b="0" i="0" u="none" strike="noStrike" dirty="0">
                <a:solidFill>
                  <a:srgbClr val="000000"/>
                </a:solidFill>
                <a:effectLst/>
              </a:rPr>
              <a:t>:Course: The course associated with prerequisites.</a:t>
            </a:r>
          </a:p>
          <a:p>
            <a:pPr marL="1143000" lvl="2" indent="-228600" algn="l">
              <a:buFont typeface="+mj-lt"/>
              <a:buAutoNum type="arabicPeriod"/>
            </a:pPr>
            <a:r>
              <a:rPr lang="en-US" b="0" i="0" u="none" strike="noStrike" dirty="0">
                <a:solidFill>
                  <a:srgbClr val="000000"/>
                </a:solidFill>
                <a:effectLst/>
              </a:rPr>
              <a:t>:Registration: A new registration object created when prerequisites are satisfied.</a:t>
            </a:r>
          </a:p>
          <a:p>
            <a:pPr algn="l">
              <a:buFont typeface="+mj-lt"/>
              <a:buAutoNum type="arabicPeriod"/>
            </a:pPr>
            <a:r>
              <a:rPr lang="en-US" b="1" i="0" u="none" strike="noStrike" dirty="0">
                <a:solidFill>
                  <a:srgbClr val="000000"/>
                </a:solidFill>
                <a:effectLst/>
              </a:rPr>
              <a:t>Messages:</a:t>
            </a:r>
            <a:endParaRPr lang="en-US" b="0" i="0" u="none" strike="noStrike" dirty="0">
              <a:solidFill>
                <a:srgbClr val="000000"/>
              </a:solidFill>
              <a:effectLst/>
            </a:endParaRPr>
          </a:p>
          <a:p>
            <a:pPr marL="742950" lvl="1" indent="-285750" algn="l">
              <a:buFont typeface="+mj-lt"/>
              <a:buAutoNum type="arabicPeriod"/>
            </a:pPr>
            <a:r>
              <a:rPr lang="en-US" b="0" i="0" u="none" strike="noStrike" dirty="0" err="1">
                <a:solidFill>
                  <a:srgbClr val="000000"/>
                </a:solidFill>
                <a:effectLst/>
              </a:rPr>
              <a:t>requestToRegister</a:t>
            </a:r>
            <a:r>
              <a:rPr lang="en-US" b="0" i="0" u="none" strike="noStrike" dirty="0">
                <a:solidFill>
                  <a:srgbClr val="000000"/>
                </a:solidFill>
                <a:effectLst/>
              </a:rPr>
              <a:t>: Initiates the registration process from the GUI to the </a:t>
            </a:r>
            <a:r>
              <a:rPr lang="en-US" b="0" i="0" u="none" strike="noStrike" dirty="0" err="1">
                <a:solidFill>
                  <a:srgbClr val="000000"/>
                </a:solidFill>
                <a:effectLst/>
              </a:rPr>
              <a:t>CourseSection</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getPrerequisite</a:t>
            </a:r>
            <a:r>
              <a:rPr lang="en-US" b="0" i="0" u="none" strike="noStrike" dirty="0">
                <a:solidFill>
                  <a:srgbClr val="000000"/>
                </a:solidFill>
                <a:effectLst/>
              </a:rPr>
              <a:t>: A request to fetch the course prerequisite.</a:t>
            </a:r>
          </a:p>
          <a:p>
            <a:pPr marL="742950" lvl="1" indent="-285750" algn="l">
              <a:buFont typeface="+mj-lt"/>
              <a:buAutoNum type="arabicPeriod"/>
            </a:pPr>
            <a:r>
              <a:rPr lang="en-US" b="0" i="0" u="none" strike="noStrike" dirty="0" err="1">
                <a:solidFill>
                  <a:srgbClr val="000000"/>
                </a:solidFill>
                <a:effectLst/>
              </a:rPr>
              <a:t>hasPassedCourse</a:t>
            </a:r>
            <a:r>
              <a:rPr lang="en-US" b="0" i="0" u="none" strike="noStrike" dirty="0">
                <a:solidFill>
                  <a:srgbClr val="000000"/>
                </a:solidFill>
                <a:effectLst/>
              </a:rPr>
              <a:t>: Checks if the student has completed the prerequisite.</a:t>
            </a:r>
          </a:p>
          <a:p>
            <a:pPr marL="742950" lvl="1" indent="-285750" algn="l">
              <a:buFont typeface="+mj-lt"/>
              <a:buAutoNum type="arabicPeriod"/>
            </a:pPr>
            <a:r>
              <a:rPr lang="en-US" b="1" i="0" u="none" strike="noStrike" dirty="0">
                <a:solidFill>
                  <a:srgbClr val="000000"/>
                </a:solidFill>
                <a:effectLst/>
              </a:rPr>
              <a:t>Conditional Message</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opt [</a:t>
            </a:r>
            <a:r>
              <a:rPr lang="en-US" b="0" i="0" u="none" strike="noStrike" dirty="0" err="1">
                <a:solidFill>
                  <a:srgbClr val="000000"/>
                </a:solidFill>
                <a:effectLst/>
              </a:rPr>
              <a:t>hasPrerequisite</a:t>
            </a:r>
            <a:r>
              <a:rPr lang="en-US" b="0" i="0" u="none" strike="noStrike" dirty="0">
                <a:solidFill>
                  <a:srgbClr val="000000"/>
                </a:solidFill>
                <a:effectLst/>
              </a:rPr>
              <a:t>]: If the student meets the prerequisite, a Registration object is created.</a:t>
            </a:r>
          </a:p>
          <a:p>
            <a:pPr marL="742950" lvl="1" indent="-285750" algn="l">
              <a:buFont typeface="+mj-lt"/>
              <a:buAutoNum type="arabicPeriod"/>
            </a:pPr>
            <a:r>
              <a:rPr lang="en-US" b="0" i="0" u="none" strike="noStrike" dirty="0" err="1">
                <a:solidFill>
                  <a:srgbClr val="000000"/>
                </a:solidFill>
                <a:effectLst/>
              </a:rPr>
              <a:t>addToRegistrationList</a:t>
            </a:r>
            <a:r>
              <a:rPr lang="en-US" b="0" i="0" u="none" strike="noStrike" dirty="0">
                <a:solidFill>
                  <a:srgbClr val="000000"/>
                </a:solidFill>
                <a:effectLst/>
              </a:rPr>
              <a:t>: Adds the registration to the course’s list.</a:t>
            </a:r>
          </a:p>
          <a:p>
            <a:pPr marL="742950" lvl="1" indent="-285750" algn="l">
              <a:buFont typeface="+mj-lt"/>
              <a:buAutoNum type="arabicPeriod"/>
            </a:pPr>
            <a:r>
              <a:rPr lang="en-US" b="0" i="0" u="none" strike="noStrike" dirty="0" err="1">
                <a:solidFill>
                  <a:srgbClr val="000000"/>
                </a:solidFill>
                <a:effectLst/>
              </a:rPr>
              <a:t>addToSchedule</a:t>
            </a:r>
            <a:r>
              <a:rPr lang="en-US" b="0" i="0" u="none" strike="noStrike" dirty="0">
                <a:solidFill>
                  <a:srgbClr val="000000"/>
                </a:solidFill>
                <a:effectLst/>
              </a:rPr>
              <a:t>: Updates the student’s schedule.</a:t>
            </a:r>
          </a:p>
          <a:p>
            <a:pPr algn="l">
              <a:buFont typeface="+mj-lt"/>
              <a:buAutoNum type="arabicPeriod"/>
            </a:pPr>
            <a:r>
              <a:rPr lang="en-US" b="1" i="0" u="none" strike="noStrike" dirty="0">
                <a:solidFill>
                  <a:srgbClr val="000000"/>
                </a:solidFill>
                <a:effectLst/>
              </a:rPr>
              <a:t>Lifelines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Vertical dashed lines represent the lifetimes of the objects and actor during the process.</a:t>
            </a:r>
          </a:p>
          <a:p>
            <a:pPr algn="l">
              <a:buFont typeface="+mj-lt"/>
              <a:buAutoNum type="arabicPeriod"/>
            </a:pPr>
            <a:r>
              <a:rPr lang="en-US" b="1" i="0" u="none" strike="noStrike" dirty="0">
                <a:solidFill>
                  <a:srgbClr val="000000"/>
                </a:solidFill>
                <a:effectLst/>
              </a:rPr>
              <a:t>Frame (opt)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Represents an </a:t>
            </a:r>
            <a:r>
              <a:rPr lang="en-US" b="1" i="0" u="none" strike="noStrike" dirty="0">
                <a:solidFill>
                  <a:srgbClr val="000000"/>
                </a:solidFill>
                <a:effectLst/>
              </a:rPr>
              <a:t>optional fragment</a:t>
            </a:r>
            <a:r>
              <a:rPr lang="en-US" b="0" i="0" u="none" strike="noStrike" dirty="0">
                <a:solidFill>
                  <a:srgbClr val="000000"/>
                </a:solidFill>
                <a:effectLst/>
              </a:rPr>
              <a:t> where the creation of the :Registration object happens only if the </a:t>
            </a:r>
            <a:r>
              <a:rPr lang="en-US" b="0" i="0" u="none" strike="noStrike" dirty="0" err="1">
                <a:solidFill>
                  <a:srgbClr val="000000"/>
                </a:solidFill>
                <a:effectLst/>
              </a:rPr>
              <a:t>hasPrerequisite</a:t>
            </a:r>
            <a:r>
              <a:rPr lang="en-US" b="0" i="0" u="none" strike="noStrike" dirty="0">
                <a:solidFill>
                  <a:srgbClr val="000000"/>
                </a:solidFill>
                <a:effectLst/>
              </a:rPr>
              <a:t> condition is true.</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This sequence diagram models the process of a student registering for a course:</a:t>
            </a:r>
          </a:p>
          <a:p>
            <a:pPr marL="742950" lvl="1" indent="-285750" algn="l">
              <a:buFont typeface="Arial" panose="020B0604020202020204" pitchFamily="34" charset="0"/>
              <a:buChar char="•"/>
            </a:pPr>
            <a:r>
              <a:rPr lang="en-US" b="0" i="0" u="none" strike="noStrike" dirty="0">
                <a:solidFill>
                  <a:srgbClr val="000000"/>
                </a:solidFill>
                <a:effectLst/>
              </a:rPr>
              <a:t>The student initiates the registration through the GUI (</a:t>
            </a:r>
            <a:r>
              <a:rPr lang="en-US" b="0" i="0" u="none" strike="noStrike" dirty="0" err="1">
                <a:solidFill>
                  <a:srgbClr val="000000"/>
                </a:solidFill>
                <a:effectLst/>
              </a:rPr>
              <a:t>requestToRegister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The </a:t>
            </a:r>
            <a:r>
              <a:rPr lang="en-US" b="0" i="0" u="none" strike="noStrike" dirty="0" err="1">
                <a:solidFill>
                  <a:srgbClr val="000000"/>
                </a:solidFill>
                <a:effectLst/>
              </a:rPr>
              <a:t>CourseSection</a:t>
            </a:r>
            <a:r>
              <a:rPr lang="en-US" b="0" i="0" u="none" strike="noStrike" dirty="0">
                <a:solidFill>
                  <a:srgbClr val="000000"/>
                </a:solidFill>
                <a:effectLst/>
              </a:rPr>
              <a:t> checks if the course has a prerequisite by interacting with the :Course object.</a:t>
            </a:r>
          </a:p>
          <a:p>
            <a:pPr marL="742950" lvl="1" indent="-285750" algn="l">
              <a:buFont typeface="Arial" panose="020B0604020202020204" pitchFamily="34" charset="0"/>
              <a:buChar char="•"/>
            </a:pPr>
            <a:r>
              <a:rPr lang="en-US" b="0" i="0" u="none" strike="noStrike" dirty="0">
                <a:solidFill>
                  <a:srgbClr val="000000"/>
                </a:solidFill>
                <a:effectLst/>
              </a:rPr>
              <a:t>If the prerequisite exists, the system verifies whether the student has completed it (</a:t>
            </a:r>
            <a:r>
              <a:rPr lang="en-US" b="0" i="0" u="none" strike="noStrike" dirty="0" err="1">
                <a:solidFill>
                  <a:srgbClr val="000000"/>
                </a:solidFill>
                <a:effectLst/>
              </a:rPr>
              <a:t>hasPassedCourse</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If the condition is satisfied, a Registration object is created, added to the course's registration list, and updated in the student's schedule.</a:t>
            </a:r>
          </a:p>
          <a:p>
            <a:pPr algn="l"/>
            <a:r>
              <a:rPr lang="en-US" b="1" i="0" u="none" strike="noStrike" dirty="0">
                <a:solidFill>
                  <a:srgbClr val="000000"/>
                </a:solidFill>
                <a:effectLst/>
              </a:rPr>
              <a:t>Purpose</a:t>
            </a:r>
            <a:r>
              <a:rPr lang="en-US" b="0" i="0" u="none" strike="noStrike" dirty="0">
                <a:solidFill>
                  <a:srgbClr val="000000"/>
                </a:solidFill>
                <a:effectLst/>
              </a:rPr>
              <a:t>: This diagram illustrates a complex flow involving multiple objects and decisions. It ensures all steps are accounted for, including conditional logic for prerequisites.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1173163" y="696913"/>
            <a:ext cx="4638675" cy="3479800"/>
          </a:xfrm>
          <a:ln/>
        </p:spPr>
      </p:sp>
      <p:sp>
        <p:nvSpPr>
          <p:cNvPr id="58371"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latin typeface="Times" charset="0"/>
              <a:ea typeface="ＭＳ Ｐゴシック" charset="0"/>
              <a:cs typeface="ＭＳ Ｐゴシック"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xfrm>
            <a:off x="1173163" y="696913"/>
            <a:ext cx="4638675" cy="3479800"/>
          </a:xfrm>
          <a:ln/>
        </p:spPr>
      </p:sp>
      <p:sp>
        <p:nvSpPr>
          <p:cNvPr id="6041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Diagram 1: Mutually Exclusive Conditional Messages</a:t>
            </a:r>
          </a:p>
          <a:p>
            <a:pPr algn="l"/>
            <a:r>
              <a:rPr lang="en-US" b="1" i="0" u="none" strike="noStrike" dirty="0">
                <a:solidFill>
                  <a:srgbClr val="000000"/>
                </a:solidFill>
                <a:effectLst/>
              </a:rPr>
              <a:t>Elements and Explanation:</a:t>
            </a:r>
          </a:p>
          <a:p>
            <a:pPr algn="l">
              <a:buFont typeface="+mj-lt"/>
              <a:buAutoNum type="arabicPeriod"/>
            </a:pPr>
            <a:r>
              <a:rPr lang="en-US" b="1" i="0" u="none" strike="noStrike" dirty="0">
                <a:solidFill>
                  <a:srgbClr val="000000"/>
                </a:solidFill>
                <a:effectLst/>
              </a:rPr>
              <a:t>Objects (:A, :B, :C)</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initiates the process (</a:t>
            </a:r>
            <a:r>
              <a:rPr lang="en-US" b="0" i="0" u="none" strike="noStrike" dirty="0" err="1">
                <a:solidFill>
                  <a:srgbClr val="000000"/>
                </a:solidFill>
                <a:effectLst/>
              </a:rPr>
              <a:t>doX</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:B and :C are involved in mutually exclusive actions based on a condition.</a:t>
            </a:r>
          </a:p>
          <a:p>
            <a:pPr algn="l">
              <a:buFont typeface="+mj-lt"/>
              <a:buAutoNum type="arabicPeriod"/>
            </a:pPr>
            <a:r>
              <a:rPr lang="en-US" b="1" i="0" u="none" strike="noStrike" dirty="0">
                <a:solidFill>
                  <a:srgbClr val="000000"/>
                </a:solidFill>
                <a:effectLst/>
              </a:rPr>
              <a:t>Frame (alt)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Represents </a:t>
            </a:r>
            <a:r>
              <a:rPr lang="en-US" b="1" i="0" u="none" strike="noStrike" dirty="0">
                <a:solidFill>
                  <a:srgbClr val="000000"/>
                </a:solidFill>
                <a:effectLst/>
              </a:rPr>
              <a:t>alternative paths</a:t>
            </a:r>
            <a:r>
              <a:rPr lang="en-US" b="0" i="0" u="none" strike="noStrike" dirty="0">
                <a:solidFill>
                  <a:srgbClr val="000000"/>
                </a:solidFill>
                <a:effectLst/>
              </a:rPr>
              <a:t> where only one branch executes depending on the condition.</a:t>
            </a:r>
          </a:p>
          <a:p>
            <a:pPr algn="l">
              <a:buFont typeface="+mj-lt"/>
              <a:buAutoNum type="arabicPeriod"/>
            </a:pPr>
            <a:r>
              <a:rPr lang="en-US" b="1" i="0" u="none" strike="noStrike" dirty="0">
                <a:solidFill>
                  <a:srgbClr val="000000"/>
                </a:solidFill>
                <a:effectLst/>
              </a:rPr>
              <a:t>Conditions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[x &lt; 10]: If the condition is true, the calculate message is sent to :B.</a:t>
            </a:r>
          </a:p>
          <a:p>
            <a:pPr marL="742950" lvl="1" indent="-285750" algn="l">
              <a:buFont typeface="+mj-lt"/>
              <a:buAutoNum type="arabicPeriod"/>
            </a:pPr>
            <a:r>
              <a:rPr lang="en-US" b="0" i="0" u="none" strike="noStrike" dirty="0">
                <a:solidFill>
                  <a:srgbClr val="000000"/>
                </a:solidFill>
                <a:effectLst/>
              </a:rPr>
              <a:t>[else]: If the condition is false, the calculate message is sent to :C.</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This sequence diagram shows a decision-making process where the flow diverges based on the condition (x &lt; 10). The alt frame ensures mutual exclusivity—either :B or :C will receive the calculate message, but not both.</a:t>
            </a:r>
          </a:p>
          <a:p>
            <a:pPr algn="l"/>
            <a:r>
              <a:rPr lang="en-US" b="1" i="0" u="none" strike="noStrike" dirty="0">
                <a:solidFill>
                  <a:srgbClr val="000000"/>
                </a:solidFill>
                <a:effectLst/>
              </a:rPr>
              <a:t>Example</a:t>
            </a:r>
            <a:r>
              <a:rPr lang="en-US" b="0" i="0" u="none" strike="noStrike" dirty="0">
                <a:solidFill>
                  <a:srgbClr val="000000"/>
                </a:solidFill>
                <a:effectLst/>
              </a:rPr>
              <a:t>: In a grading system:</a:t>
            </a:r>
          </a:p>
          <a:p>
            <a:pPr algn="l">
              <a:buFont typeface="Arial" panose="020B0604020202020204" pitchFamily="34" charset="0"/>
              <a:buChar char="•"/>
            </a:pPr>
            <a:r>
              <a:rPr lang="en-US" b="0" i="0" u="none" strike="noStrike" dirty="0">
                <a:solidFill>
                  <a:srgbClr val="000000"/>
                </a:solidFill>
                <a:effectLst/>
              </a:rPr>
              <a:t>If the score is below 10, assign a tutor (:B).</a:t>
            </a:r>
          </a:p>
          <a:p>
            <a:pPr algn="l">
              <a:buFont typeface="Arial" panose="020B0604020202020204" pitchFamily="34" charset="0"/>
              <a:buChar char="•"/>
            </a:pPr>
            <a:r>
              <a:rPr lang="en-US" b="0" i="0" u="none" strike="noStrike" dirty="0">
                <a:solidFill>
                  <a:srgbClr val="000000"/>
                </a:solidFill>
                <a:effectLst/>
              </a:rPr>
              <a:t>Otherwise, notify the supervisor (:C).</a:t>
            </a:r>
          </a:p>
          <a:p>
            <a:endParaRPr lang="tr-TR" dirty="0">
              <a:latin typeface="Times" charset="0"/>
              <a:ea typeface="ＭＳ Ｐゴシック" charset="0"/>
              <a:cs typeface="ＭＳ Ｐゴシック" charset="0"/>
            </a:endParaRPr>
          </a:p>
        </p:txBody>
      </p:sp>
      <p:sp>
        <p:nvSpPr>
          <p:cNvPr id="6042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xfrm>
            <a:off x="1173163" y="696913"/>
            <a:ext cx="4638675" cy="3479800"/>
          </a:xfrm>
          <a:ln/>
        </p:spPr>
      </p:sp>
      <p:sp>
        <p:nvSpPr>
          <p:cNvPr id="6246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Diagram 2: Looping Notation</a:t>
            </a:r>
          </a:p>
          <a:p>
            <a:pPr algn="l"/>
            <a:r>
              <a:rPr lang="en-US" b="1" i="0" u="none" strike="noStrike" dirty="0">
                <a:solidFill>
                  <a:srgbClr val="000000"/>
                </a:solidFill>
                <a:effectLst/>
              </a:rPr>
              <a:t>Elements and Explanation:</a:t>
            </a:r>
          </a:p>
          <a:p>
            <a:pPr algn="l">
              <a:buFont typeface="+mj-lt"/>
              <a:buAutoNum type="arabicPeriod"/>
            </a:pPr>
            <a:r>
              <a:rPr lang="en-US" b="1" i="0" u="none" strike="noStrike" dirty="0">
                <a:solidFill>
                  <a:srgbClr val="000000"/>
                </a:solidFill>
                <a:effectLst/>
              </a:rPr>
              <a:t>Objects (:A, :B)</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initiates the sale process and interacts with :B.</a:t>
            </a:r>
          </a:p>
          <a:p>
            <a:pPr algn="l">
              <a:buFont typeface="+mj-lt"/>
              <a:buAutoNum type="arabicPeriod"/>
            </a:pPr>
            <a:r>
              <a:rPr lang="en-US" b="1" i="0" u="none" strike="noStrike" dirty="0">
                <a:solidFill>
                  <a:srgbClr val="000000"/>
                </a:solidFill>
                <a:effectLst/>
              </a:rPr>
              <a:t>Frame (loop)</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Represents </a:t>
            </a:r>
            <a:r>
              <a:rPr lang="en-US" b="1" i="0" u="none" strike="noStrike" dirty="0">
                <a:solidFill>
                  <a:srgbClr val="000000"/>
                </a:solidFill>
                <a:effectLst/>
              </a:rPr>
              <a:t>repetition</a:t>
            </a:r>
            <a:r>
              <a:rPr lang="en-US" b="0" i="0" u="none" strike="noStrike" dirty="0">
                <a:solidFill>
                  <a:srgbClr val="000000"/>
                </a:solidFill>
                <a:effectLst/>
              </a:rPr>
              <a:t> of a set of actions while the condition [more items] is true.</a:t>
            </a:r>
          </a:p>
          <a:p>
            <a:pPr algn="l">
              <a:buFont typeface="+mj-lt"/>
              <a:buAutoNum type="arabicPeriod"/>
            </a:pPr>
            <a:r>
              <a:rPr lang="en-US" b="1" i="0" u="none" strike="noStrike" dirty="0">
                <a:solidFill>
                  <a:srgbClr val="000000"/>
                </a:solidFill>
                <a:effectLst/>
              </a:rPr>
              <a:t>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makeNewSale</a:t>
            </a:r>
            <a:r>
              <a:rPr lang="en-US" b="0" i="0" u="none" strike="noStrike" dirty="0">
                <a:solidFill>
                  <a:srgbClr val="000000"/>
                </a:solidFill>
                <a:effectLst/>
              </a:rPr>
              <a:t>: Starts a new sale process.</a:t>
            </a:r>
          </a:p>
          <a:p>
            <a:pPr marL="742950" lvl="1" indent="-285750" algn="l">
              <a:buFont typeface="+mj-lt"/>
              <a:buAutoNum type="arabicPeriod"/>
            </a:pPr>
            <a:r>
              <a:rPr lang="en-US" b="1" i="0" u="none" strike="noStrike" dirty="0">
                <a:solidFill>
                  <a:srgbClr val="000000"/>
                </a:solidFill>
                <a:effectLst/>
              </a:rPr>
              <a:t>Loop Messages</a:t>
            </a:r>
            <a:r>
              <a:rPr lang="en-US" b="0" i="0" u="none" strike="noStrike" dirty="0">
                <a:solidFill>
                  <a:srgbClr val="000000"/>
                </a:solidFill>
                <a:effectLst/>
              </a:rPr>
              <a:t>:</a:t>
            </a:r>
          </a:p>
          <a:p>
            <a:pPr marL="1143000" lvl="2" indent="-228600" algn="l">
              <a:buFont typeface="+mj-lt"/>
              <a:buAutoNum type="arabicPeriod"/>
            </a:pPr>
            <a:r>
              <a:rPr lang="en-US" b="0" i="0" u="none" strike="noStrike" dirty="0" err="1">
                <a:solidFill>
                  <a:srgbClr val="000000"/>
                </a:solidFill>
                <a:effectLst/>
              </a:rPr>
              <a:t>enterItem</a:t>
            </a:r>
            <a:r>
              <a:rPr lang="en-US" b="0" i="0" u="none" strike="noStrike" dirty="0">
                <a:solidFill>
                  <a:srgbClr val="000000"/>
                </a:solidFill>
                <a:effectLst/>
              </a:rPr>
              <a:t>(</a:t>
            </a:r>
            <a:r>
              <a:rPr lang="en-US" b="0" i="0" u="none" strike="noStrike" dirty="0" err="1">
                <a:solidFill>
                  <a:srgbClr val="000000"/>
                </a:solidFill>
                <a:effectLst/>
              </a:rPr>
              <a:t>itemID</a:t>
            </a:r>
            <a:r>
              <a:rPr lang="en-US" b="0" i="0" u="none" strike="noStrike" dirty="0">
                <a:solidFill>
                  <a:srgbClr val="000000"/>
                </a:solidFill>
                <a:effectLst/>
              </a:rPr>
              <a:t>, quantity): Adds an item to the sale.</a:t>
            </a:r>
          </a:p>
          <a:p>
            <a:pPr marL="1143000" lvl="2" indent="-228600" algn="l">
              <a:buFont typeface="+mj-lt"/>
              <a:buAutoNum type="arabicPeriod"/>
            </a:pPr>
            <a:r>
              <a:rPr lang="en-US" b="0" i="0" u="none" strike="noStrike" dirty="0">
                <a:solidFill>
                  <a:srgbClr val="000000"/>
                </a:solidFill>
                <a:effectLst/>
              </a:rPr>
              <a:t>description, total: Returns the item description and running total.</a:t>
            </a:r>
          </a:p>
          <a:p>
            <a:pPr marL="742950" lvl="1" indent="-285750" algn="l">
              <a:buFont typeface="+mj-lt"/>
              <a:buAutoNum type="arabicPeriod"/>
            </a:pPr>
            <a:r>
              <a:rPr lang="en-US" b="0" i="0" u="none" strike="noStrike" dirty="0" err="1">
                <a:solidFill>
                  <a:srgbClr val="000000"/>
                </a:solidFill>
                <a:effectLst/>
              </a:rPr>
              <a:t>endSale</a:t>
            </a:r>
            <a:r>
              <a:rPr lang="en-US" b="0" i="0" u="none" strike="noStrike" dirty="0">
                <a:solidFill>
                  <a:srgbClr val="000000"/>
                </a:solidFill>
                <a:effectLst/>
              </a:rPr>
              <a:t>: Completes the sale after exiting the loop.</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This sequence diagram models a repetitive process of adding items to a sale. The loop continues as long as there are more items ([more items]). After all items are entered, the sale is completed with </a:t>
            </a:r>
            <a:r>
              <a:rPr lang="en-US" b="0" i="0" u="none" strike="noStrike" dirty="0" err="1">
                <a:solidFill>
                  <a:srgbClr val="000000"/>
                </a:solidFill>
                <a:effectLst/>
              </a:rPr>
              <a:t>endSale</a:t>
            </a:r>
            <a:r>
              <a:rPr lang="en-US" b="0" i="0" u="none" strike="noStrike" dirty="0">
                <a:solidFill>
                  <a:srgbClr val="000000"/>
                </a:solidFill>
                <a:effectLst/>
              </a:rPr>
              <a:t>.</a:t>
            </a:r>
          </a:p>
          <a:p>
            <a:pPr algn="l"/>
            <a:r>
              <a:rPr lang="en-US" b="1" i="0" u="none" strike="noStrike" dirty="0">
                <a:solidFill>
                  <a:srgbClr val="000000"/>
                </a:solidFill>
                <a:effectLst/>
              </a:rPr>
              <a:t>Example</a:t>
            </a:r>
            <a:r>
              <a:rPr lang="en-US" b="0" i="0" u="none" strike="noStrike" dirty="0">
                <a:solidFill>
                  <a:srgbClr val="000000"/>
                </a:solidFill>
                <a:effectLst/>
              </a:rPr>
              <a:t>: A checkout process:</a:t>
            </a:r>
          </a:p>
          <a:p>
            <a:pPr algn="l">
              <a:buFont typeface="+mj-lt"/>
              <a:buAutoNum type="arabicPeriod"/>
            </a:pPr>
            <a:r>
              <a:rPr lang="en-US" b="0" i="0" u="none" strike="noStrike" dirty="0">
                <a:solidFill>
                  <a:srgbClr val="000000"/>
                </a:solidFill>
                <a:effectLst/>
              </a:rPr>
              <a:t>A cashier scans items (</a:t>
            </a:r>
            <a:r>
              <a:rPr lang="en-US" b="0" i="0" u="none" strike="noStrike" dirty="0" err="1">
                <a:solidFill>
                  <a:srgbClr val="000000"/>
                </a:solidFill>
                <a:effectLst/>
              </a:rPr>
              <a:t>enterItem</a:t>
            </a:r>
            <a:r>
              <a:rPr lang="en-US" b="0" i="0" u="none" strike="noStrike" dirty="0">
                <a:solidFill>
                  <a:srgbClr val="000000"/>
                </a:solidFill>
                <a:effectLst/>
              </a:rPr>
              <a:t>).</a:t>
            </a:r>
          </a:p>
          <a:p>
            <a:pPr algn="l">
              <a:buFont typeface="+mj-lt"/>
              <a:buAutoNum type="arabicPeriod"/>
            </a:pPr>
            <a:r>
              <a:rPr lang="en-US" b="0" i="0" u="none" strike="noStrike" dirty="0">
                <a:solidFill>
                  <a:srgbClr val="000000"/>
                </a:solidFill>
                <a:effectLst/>
              </a:rPr>
              <a:t>The system updates the total and shows the description.</a:t>
            </a:r>
          </a:p>
          <a:p>
            <a:pPr algn="l">
              <a:buFont typeface="+mj-lt"/>
              <a:buAutoNum type="arabicPeriod"/>
            </a:pPr>
            <a:r>
              <a:rPr lang="en-US" b="0" i="0" u="none" strike="noStrike" dirty="0">
                <a:solidFill>
                  <a:srgbClr val="000000"/>
                </a:solidFill>
                <a:effectLst/>
              </a:rPr>
              <a:t>When all items are scanned, the sale ends.</a:t>
            </a:r>
          </a:p>
          <a:p>
            <a:endParaRPr lang="tr-TR" dirty="0">
              <a:latin typeface="Times" charset="0"/>
              <a:ea typeface="ＭＳ Ｐゴシック" charset="0"/>
              <a:cs typeface="ＭＳ Ｐゴシック"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64515" name="Rectangle 2"/>
          <p:cNvSpPr>
            <a:spLocks noGrp="1" noRot="1" noChangeAspect="1" noChangeArrowheads="1" noTextEdit="1"/>
          </p:cNvSpPr>
          <p:nvPr>
            <p:ph type="sldImg"/>
          </p:nvPr>
        </p:nvSpPr>
        <p:spPr>
          <a:xfrm>
            <a:off x="1173163" y="696913"/>
            <a:ext cx="4638675" cy="3479800"/>
          </a:xfrm>
          <a:ln/>
        </p:spPr>
      </p:sp>
      <p:sp>
        <p:nvSpPr>
          <p:cNvPr id="6451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Diagram 1: Looping Notation with Objects :Bill, :Purchase, and :Item</a:t>
            </a:r>
          </a:p>
          <a:p>
            <a:pPr algn="l"/>
            <a:r>
              <a:rPr lang="en-US" b="1" i="0" u="none" strike="noStrike" dirty="0">
                <a:solidFill>
                  <a:srgbClr val="000000"/>
                </a:solidFill>
                <a:effectLst/>
              </a:rPr>
              <a:t>Elements and Explanation:</a:t>
            </a:r>
          </a:p>
          <a:p>
            <a:pPr algn="l">
              <a:buFont typeface="+mj-lt"/>
              <a:buAutoNum type="arabicPeriod"/>
            </a:pPr>
            <a:r>
              <a:rPr lang="en-US" b="1" i="0" u="none" strike="noStrike" dirty="0">
                <a:solidFill>
                  <a:srgbClr val="000000"/>
                </a:solidFill>
                <a:effectLst/>
              </a:rPr>
              <a:t>Objects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:Bill: The primary object controlling the process.</a:t>
            </a:r>
          </a:p>
          <a:p>
            <a:pPr marL="742950" lvl="1" indent="-285750" algn="l">
              <a:buFont typeface="+mj-lt"/>
              <a:buAutoNum type="arabicPeriod"/>
            </a:pPr>
            <a:r>
              <a:rPr lang="en-US" b="0" i="0" u="none" strike="noStrike" dirty="0">
                <a:solidFill>
                  <a:srgbClr val="000000"/>
                </a:solidFill>
                <a:effectLst/>
              </a:rPr>
              <a:t>:Purchase: Represents individual purchase entries.</a:t>
            </a:r>
          </a:p>
          <a:p>
            <a:pPr marL="742950" lvl="1" indent="-285750" algn="l">
              <a:buFont typeface="+mj-lt"/>
              <a:buAutoNum type="arabicPeriod"/>
            </a:pPr>
            <a:r>
              <a:rPr lang="en-US" b="0" i="0" u="none" strike="noStrike" dirty="0">
                <a:solidFill>
                  <a:srgbClr val="000000"/>
                </a:solidFill>
                <a:effectLst/>
              </a:rPr>
              <a:t>:Item: Represents the items involved in each purchase.</a:t>
            </a:r>
          </a:p>
          <a:p>
            <a:pPr algn="l">
              <a:buFont typeface="+mj-lt"/>
              <a:buAutoNum type="arabicPeriod"/>
            </a:pPr>
            <a:r>
              <a:rPr lang="en-US" b="1" i="0" u="none" strike="noStrike" dirty="0">
                <a:solidFill>
                  <a:srgbClr val="000000"/>
                </a:solidFill>
                <a:effectLst/>
              </a:rPr>
              <a:t>Loop Frame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loop frame iterates over </a:t>
            </a:r>
            <a:r>
              <a:rPr lang="en-US" b="0" i="0" u="none" strike="noStrike" dirty="0" err="1">
                <a:solidFill>
                  <a:srgbClr val="000000"/>
                </a:solidFill>
                <a:effectLst/>
              </a:rPr>
              <a:t>numPurchases</a:t>
            </a:r>
            <a:r>
              <a:rPr lang="en-US" b="0" i="0" u="none" strike="noStrike" dirty="0">
                <a:solidFill>
                  <a:srgbClr val="000000"/>
                </a:solidFill>
                <a:effectLst/>
              </a:rPr>
              <a:t>, processing each :Purchase object in the list.</a:t>
            </a:r>
          </a:p>
          <a:p>
            <a:pPr algn="l">
              <a:buFont typeface="+mj-lt"/>
              <a:buAutoNum type="arabicPeriod"/>
            </a:pPr>
            <a:r>
              <a:rPr lang="en-US" b="1" i="0" u="none" strike="noStrike" dirty="0">
                <a:solidFill>
                  <a:srgbClr val="000000"/>
                </a:solidFill>
                <a:effectLst/>
              </a:rPr>
              <a:t>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getSubtotal</a:t>
            </a:r>
            <a:r>
              <a:rPr lang="en-US" b="0" i="0" u="none" strike="noStrike" dirty="0">
                <a:solidFill>
                  <a:srgbClr val="000000"/>
                </a:solidFill>
                <a:effectLst/>
              </a:rPr>
              <a:t>: Requests the subtotal for a purchase.</a:t>
            </a:r>
          </a:p>
          <a:p>
            <a:pPr marL="742950" lvl="1" indent="-285750" algn="l">
              <a:buFont typeface="+mj-lt"/>
              <a:buAutoNum type="arabicPeriod"/>
            </a:pPr>
            <a:r>
              <a:rPr lang="en-US" b="0" i="0" u="none" strike="noStrike" dirty="0" err="1">
                <a:solidFill>
                  <a:srgbClr val="000000"/>
                </a:solidFill>
                <a:effectLst/>
              </a:rPr>
              <a:t>getUnitPrice</a:t>
            </a:r>
            <a:r>
              <a:rPr lang="en-US" b="0" i="0" u="none" strike="noStrike" dirty="0">
                <a:solidFill>
                  <a:srgbClr val="000000"/>
                </a:solidFill>
                <a:effectLst/>
              </a:rPr>
              <a:t>: Fetches the unit price of an item.</a:t>
            </a:r>
          </a:p>
          <a:p>
            <a:pPr marL="742950" lvl="1" indent="-285750" algn="l">
              <a:buFont typeface="+mj-lt"/>
              <a:buAutoNum type="arabicPeriod"/>
            </a:pPr>
            <a:r>
              <a:rPr lang="en-US" b="0" i="0" u="none" strike="noStrike" dirty="0" err="1">
                <a:solidFill>
                  <a:srgbClr val="000000"/>
                </a:solidFill>
                <a:effectLst/>
              </a:rPr>
              <a:t>computeTotal</a:t>
            </a:r>
            <a:r>
              <a:rPr lang="en-US" b="0" i="0" u="none" strike="noStrike" dirty="0">
                <a:solidFill>
                  <a:srgbClr val="000000"/>
                </a:solidFill>
                <a:effectLst/>
              </a:rPr>
              <a:t>: After the loop, computes the total cost by aggregating all subtotals.</a:t>
            </a:r>
          </a:p>
          <a:p>
            <a:pPr algn="l">
              <a:buFont typeface="+mj-lt"/>
              <a:buAutoNum type="arabicPeriod"/>
            </a:pPr>
            <a:r>
              <a:rPr lang="en-US" b="1" i="0" u="none" strike="noStrike" dirty="0">
                <a:solidFill>
                  <a:srgbClr val="000000"/>
                </a:solidFill>
                <a:effectLst/>
              </a:rPr>
              <a:t>Class Diagram</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Shows the relationships:</a:t>
            </a:r>
          </a:p>
          <a:p>
            <a:pPr marL="1143000" lvl="2" indent="-228600" algn="l">
              <a:buFont typeface="+mj-lt"/>
              <a:buAutoNum type="arabicPeriod"/>
            </a:pPr>
            <a:r>
              <a:rPr lang="en-US" b="0" i="0" u="none" strike="noStrike" dirty="0">
                <a:solidFill>
                  <a:srgbClr val="000000"/>
                </a:solidFill>
                <a:effectLst/>
              </a:rPr>
              <a:t>Bill is associated with multiple Purchase objects.</a:t>
            </a:r>
          </a:p>
          <a:p>
            <a:pPr marL="1143000" lvl="2" indent="-228600" algn="l">
              <a:buFont typeface="+mj-lt"/>
              <a:buAutoNum type="arabicPeriod"/>
            </a:pPr>
            <a:r>
              <a:rPr lang="en-US" b="0" i="0" u="none" strike="noStrike" dirty="0">
                <a:solidFill>
                  <a:srgbClr val="000000"/>
                </a:solidFill>
                <a:effectLst/>
              </a:rPr>
              <a:t>Each Purchase references multiple Item objects.</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represents a billing process where a Bill object calculates the total cost. It loops through purchases, retrieves subtotals and unit prices, and then computes the final total. It is a real-world scenario for retail systems or invoicing tools.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xfrm>
            <a:off x="1173163" y="696913"/>
            <a:ext cx="4638675" cy="3479800"/>
          </a:xfrm>
          <a:ln/>
        </p:spPr>
      </p:sp>
      <p:sp>
        <p:nvSpPr>
          <p:cNvPr id="66563"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Diagram 2: Nested Frames with opt and loop</a:t>
            </a:r>
          </a:p>
          <a:p>
            <a:pPr algn="l"/>
            <a:r>
              <a:rPr lang="en-US" b="1" i="0" u="none" strike="noStrike" dirty="0">
                <a:solidFill>
                  <a:srgbClr val="000000"/>
                </a:solidFill>
                <a:effectLst/>
              </a:rPr>
              <a:t>Elements and Explanation:</a:t>
            </a:r>
          </a:p>
          <a:p>
            <a:pPr algn="l">
              <a:buFont typeface="+mj-lt"/>
              <a:buAutoNum type="arabicPeriod"/>
            </a:pPr>
            <a:r>
              <a:rPr lang="en-US" b="1" i="0" u="none" strike="noStrike" dirty="0">
                <a:solidFill>
                  <a:srgbClr val="000000"/>
                </a:solidFill>
                <a:effectLst/>
              </a:rPr>
              <a:t>Objects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:Foo: Initiates the process by sending a message to :Bar.</a:t>
            </a:r>
          </a:p>
          <a:p>
            <a:pPr marL="742950" lvl="1" indent="-285750" algn="l">
              <a:buFont typeface="+mj-lt"/>
              <a:buAutoNum type="arabicPeriod"/>
            </a:pPr>
            <a:r>
              <a:rPr lang="en-US" b="0" i="0" u="none" strike="noStrike" dirty="0">
                <a:solidFill>
                  <a:srgbClr val="000000"/>
                </a:solidFill>
                <a:effectLst/>
              </a:rPr>
              <a:t>:Bar: The receiver of the interactions.</a:t>
            </a:r>
          </a:p>
          <a:p>
            <a:pPr algn="l">
              <a:buFont typeface="+mj-lt"/>
              <a:buAutoNum type="arabicPeriod"/>
            </a:pPr>
            <a:r>
              <a:rPr lang="en-US" b="1" i="0" u="none" strike="noStrike" dirty="0">
                <a:solidFill>
                  <a:srgbClr val="000000"/>
                </a:solidFill>
                <a:effectLst/>
              </a:rPr>
              <a:t>Frames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opt [color = red]</a:t>
            </a:r>
            <a:r>
              <a:rPr lang="en-US" b="0" i="0" u="none" strike="noStrike" dirty="0">
                <a:solidFill>
                  <a:srgbClr val="000000"/>
                </a:solidFill>
                <a:effectLst/>
              </a:rPr>
              <a:t>: The outer frame executes if the condition color = red is true.</a:t>
            </a:r>
          </a:p>
          <a:p>
            <a:pPr marL="742950" lvl="1" indent="-285750" algn="l">
              <a:buFont typeface="+mj-lt"/>
              <a:buAutoNum type="arabicPeriod"/>
            </a:pPr>
            <a:r>
              <a:rPr lang="en-US" b="1" i="0" u="none" strike="noStrike" dirty="0">
                <a:solidFill>
                  <a:srgbClr val="000000"/>
                </a:solidFill>
                <a:effectLst/>
              </a:rPr>
              <a:t>loop(n)</a:t>
            </a:r>
            <a:r>
              <a:rPr lang="en-US" b="0" i="0" u="none" strike="noStrike" dirty="0">
                <a:solidFill>
                  <a:srgbClr val="000000"/>
                </a:solidFill>
                <a:effectLst/>
              </a:rPr>
              <a:t>: The inner frame repeats the calculate action n times.</a:t>
            </a:r>
          </a:p>
          <a:p>
            <a:pPr algn="l">
              <a:buFont typeface="+mj-lt"/>
              <a:buAutoNum type="arabicPeriod"/>
            </a:pPr>
            <a:r>
              <a:rPr lang="en-US" b="1" i="0" u="none" strike="noStrike" dirty="0">
                <a:solidFill>
                  <a:srgbClr val="000000"/>
                </a:solidFill>
                <a:effectLst/>
              </a:rPr>
              <a:t>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xx: A message initiating the interaction.</a:t>
            </a:r>
          </a:p>
          <a:p>
            <a:pPr marL="742950" lvl="1" indent="-285750" algn="l">
              <a:buFont typeface="+mj-lt"/>
              <a:buAutoNum type="arabicPeriod"/>
            </a:pPr>
            <a:r>
              <a:rPr lang="en-US" b="0" i="0" u="none" strike="noStrike" dirty="0">
                <a:solidFill>
                  <a:srgbClr val="000000"/>
                </a:solidFill>
                <a:effectLst/>
              </a:rPr>
              <a:t>calculate: The action repeated inside the loop.</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models a nested condition. If color = red, a calculation is performed multiple times (loop(n)). Such a pattern is useful for iterative processes that depend on a conditional state, e.g., applying discounts on specific products.</a:t>
            </a:r>
          </a:p>
          <a:p>
            <a:endParaRPr lang="tr-TR" dirty="0">
              <a:latin typeface="Times" charset="0"/>
              <a:ea typeface="ＭＳ Ｐゴシック" charset="0"/>
              <a:cs typeface="ＭＳ Ｐゴシック"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xfrm>
            <a:off x="1173163" y="696913"/>
            <a:ext cx="4638675" cy="3479800"/>
          </a:xfrm>
          <a:ln/>
        </p:spPr>
      </p:sp>
      <p:sp>
        <p:nvSpPr>
          <p:cNvPr id="68611"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en-US" dirty="0">
                <a:latin typeface="Times" charset="0"/>
                <a:ea typeface="ＭＳ Ｐゴシック" charset="0"/>
                <a:cs typeface="ＭＳ Ｐゴシック" charset="0"/>
              </a:rPr>
              <a:t>We can relate sequence diagrams in a hierarchical manner.</a:t>
            </a:r>
          </a:p>
          <a:p>
            <a:endParaRPr lang="en-US" dirty="0">
              <a:latin typeface="Times" charset="0"/>
              <a:ea typeface="ＭＳ Ｐゴシック" charset="0"/>
              <a:cs typeface="ＭＳ Ｐゴシック" charset="0"/>
            </a:endParaRPr>
          </a:p>
          <a:p>
            <a:r>
              <a:rPr lang="en-US" dirty="0">
                <a:latin typeface="Times" charset="0"/>
                <a:ea typeface="ＭＳ Ｐゴシック" charset="0"/>
                <a:cs typeface="ＭＳ Ｐゴシック" charset="0"/>
              </a:rPr>
              <a:t>Reference frame. Sequence diagram (</a:t>
            </a:r>
            <a:r>
              <a:rPr lang="en-US" dirty="0" err="1">
                <a:latin typeface="Times" charset="0"/>
                <a:ea typeface="ＭＳ Ｐゴシック" charset="0"/>
                <a:cs typeface="ＭＳ Ｐゴシック" charset="0"/>
              </a:rPr>
              <a:t>sd</a:t>
            </a:r>
            <a:r>
              <a:rPr lang="en-US" dirty="0">
                <a:latin typeface="Times" charset="0"/>
                <a:ea typeface="ＭＳ Ｐゴシック" charset="0"/>
                <a:cs typeface="ＭＳ Ｐゴシック" charset="0"/>
              </a:rPr>
              <a:t>) frame.</a:t>
            </a:r>
          </a:p>
          <a:p>
            <a:endParaRPr lang="en-US" dirty="0">
              <a:latin typeface="Times" charset="0"/>
              <a:ea typeface="ＭＳ Ｐゴシック" charset="0"/>
              <a:cs typeface="ＭＳ Ｐゴシック" charset="0"/>
            </a:endParaRPr>
          </a:p>
          <a:p>
            <a:endParaRPr lang="en-US" dirty="0">
              <a:latin typeface="Times" charset="0"/>
              <a:ea typeface="ＭＳ Ｐゴシック" charset="0"/>
              <a:cs typeface="ＭＳ Ｐゴシック" charset="0"/>
            </a:endParaRPr>
          </a:p>
          <a:p>
            <a:endParaRPr lang="en-US" dirty="0">
              <a:latin typeface="Times" charset="0"/>
              <a:ea typeface="ＭＳ Ｐゴシック" charset="0"/>
              <a:cs typeface="ＭＳ Ｐゴシック" charset="0"/>
            </a:endParaRPr>
          </a:p>
          <a:p>
            <a:pPr algn="l"/>
            <a:r>
              <a:rPr lang="en-US" b="1" i="0" u="none" strike="noStrike" dirty="0">
                <a:solidFill>
                  <a:srgbClr val="000000"/>
                </a:solidFill>
                <a:effectLst/>
              </a:rPr>
              <a:t>Diagram 3: Relating Interaction Diagrams (Hierarchical Notation)</a:t>
            </a:r>
          </a:p>
          <a:p>
            <a:pPr algn="l"/>
            <a:r>
              <a:rPr lang="en-US" b="1" i="0" u="none" strike="noStrike" dirty="0">
                <a:solidFill>
                  <a:srgbClr val="000000"/>
                </a:solidFill>
                <a:effectLst/>
              </a:rPr>
              <a:t>Elements and Explanation:</a:t>
            </a:r>
          </a:p>
          <a:p>
            <a:pPr algn="l">
              <a:buFont typeface="+mj-lt"/>
              <a:buAutoNum type="arabicPeriod"/>
            </a:pPr>
            <a:r>
              <a:rPr lang="en-US" b="1" i="0" u="none" strike="noStrike" dirty="0">
                <a:solidFill>
                  <a:srgbClr val="000000"/>
                </a:solidFill>
                <a:effectLst/>
              </a:rPr>
              <a:t>Objects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:B, :C: Represent different components of the system interacting hierarchically.</a:t>
            </a:r>
          </a:p>
          <a:p>
            <a:pPr algn="l">
              <a:buFont typeface="+mj-lt"/>
              <a:buAutoNum type="arabicPeriod"/>
            </a:pPr>
            <a:r>
              <a:rPr lang="en-US" b="1" i="0" u="none" strike="noStrike" dirty="0">
                <a:solidFill>
                  <a:srgbClr val="000000"/>
                </a:solidFill>
                <a:effectLst/>
              </a:rPr>
              <a:t>References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ref </a:t>
            </a:r>
            <a:r>
              <a:rPr lang="en-US" b="1" i="0" u="none" strike="noStrike" dirty="0" err="1">
                <a:solidFill>
                  <a:srgbClr val="000000"/>
                </a:solidFill>
                <a:effectLst/>
              </a:rPr>
              <a:t>AuthenticateUser</a:t>
            </a:r>
            <a:r>
              <a:rPr lang="en-US" b="0" i="0" u="none" strike="noStrike" dirty="0">
                <a:solidFill>
                  <a:srgbClr val="000000"/>
                </a:solidFill>
                <a:effectLst/>
              </a:rPr>
              <a:t>: Indicates a detailed sequence diagram (</a:t>
            </a:r>
            <a:r>
              <a:rPr lang="en-US" b="0" i="0" u="none" strike="noStrike" dirty="0" err="1">
                <a:solidFill>
                  <a:srgbClr val="000000"/>
                </a:solidFill>
                <a:effectLst/>
              </a:rPr>
              <a:t>sd</a:t>
            </a:r>
            <a:r>
              <a:rPr lang="en-US" b="0" i="0" u="none" strike="noStrike" dirty="0">
                <a:solidFill>
                  <a:srgbClr val="000000"/>
                </a:solidFill>
                <a:effectLst/>
              </a:rPr>
              <a:t> </a:t>
            </a:r>
            <a:r>
              <a:rPr lang="en-US" b="0" i="0" u="none" strike="noStrike" dirty="0" err="1">
                <a:solidFill>
                  <a:srgbClr val="000000"/>
                </a:solidFill>
                <a:effectLst/>
              </a:rPr>
              <a:t>AuthenticateUser</a:t>
            </a:r>
            <a:r>
              <a:rPr lang="en-US" b="0" i="0" u="none" strike="noStrike" dirty="0">
                <a:solidFill>
                  <a:srgbClr val="000000"/>
                </a:solidFill>
                <a:effectLst/>
              </a:rPr>
              <a:t>) that models the authentication process.</a:t>
            </a:r>
          </a:p>
          <a:p>
            <a:pPr marL="742950" lvl="1" indent="-285750" algn="l">
              <a:buFont typeface="+mj-lt"/>
              <a:buAutoNum type="arabicPeriod"/>
            </a:pPr>
            <a:r>
              <a:rPr lang="en-US" b="1" i="0" u="none" strike="noStrike" dirty="0">
                <a:solidFill>
                  <a:srgbClr val="000000"/>
                </a:solidFill>
                <a:effectLst/>
              </a:rPr>
              <a:t>ref </a:t>
            </a:r>
            <a:r>
              <a:rPr lang="en-US" b="1" i="0" u="none" strike="noStrike" dirty="0" err="1">
                <a:solidFill>
                  <a:srgbClr val="000000"/>
                </a:solidFill>
                <a:effectLst/>
              </a:rPr>
              <a:t>DoFoo</a:t>
            </a:r>
            <a:r>
              <a:rPr lang="en-US" b="0" i="0" u="none" strike="noStrike" dirty="0">
                <a:solidFill>
                  <a:srgbClr val="000000"/>
                </a:solidFill>
                <a:effectLst/>
              </a:rPr>
              <a:t>: Refers to another sequence diagram (</a:t>
            </a:r>
            <a:r>
              <a:rPr lang="en-US" b="0" i="0" u="none" strike="noStrike" dirty="0" err="1">
                <a:solidFill>
                  <a:srgbClr val="000000"/>
                </a:solidFill>
                <a:effectLst/>
              </a:rPr>
              <a:t>sd</a:t>
            </a:r>
            <a:r>
              <a:rPr lang="en-US" b="0" i="0" u="none" strike="noStrike" dirty="0">
                <a:solidFill>
                  <a:srgbClr val="000000"/>
                </a:solidFill>
                <a:effectLst/>
              </a:rPr>
              <a:t> </a:t>
            </a:r>
            <a:r>
              <a:rPr lang="en-US" b="0" i="0" u="none" strike="noStrike" dirty="0" err="1">
                <a:solidFill>
                  <a:srgbClr val="000000"/>
                </a:solidFill>
                <a:effectLst/>
              </a:rPr>
              <a:t>DoFoo</a:t>
            </a:r>
            <a:r>
              <a:rPr lang="en-US" b="0" i="0" u="none" strike="noStrike" dirty="0">
                <a:solidFill>
                  <a:srgbClr val="000000"/>
                </a:solidFill>
                <a:effectLst/>
              </a:rPr>
              <a:t>) that models additional tasks.</a:t>
            </a:r>
          </a:p>
          <a:p>
            <a:pPr algn="l">
              <a:buFont typeface="+mj-lt"/>
              <a:buAutoNum type="arabicPeriod"/>
            </a:pPr>
            <a:r>
              <a:rPr lang="en-US" b="1" i="0" u="none" strike="noStrike" dirty="0">
                <a:solidFill>
                  <a:srgbClr val="000000"/>
                </a:solidFill>
                <a:effectLst/>
              </a:rPr>
              <a:t>Detailed Diagrams</a:t>
            </a:r>
            <a:r>
              <a:rPr lang="en-US" b="0" i="0" u="none" strike="noStrike" dirty="0">
                <a:solidFill>
                  <a:srgbClr val="000000"/>
                </a:solidFill>
                <a:effectLst/>
              </a:rPr>
              <a:t>:</a:t>
            </a:r>
          </a:p>
          <a:p>
            <a:pPr marL="742950" lvl="1" indent="-285750" algn="l">
              <a:buFont typeface="+mj-lt"/>
              <a:buAutoNum type="arabicPeriod"/>
            </a:pPr>
            <a:r>
              <a:rPr lang="en-US" b="1" i="0" u="none" strike="noStrike" dirty="0" err="1">
                <a:solidFill>
                  <a:srgbClr val="000000"/>
                </a:solidFill>
                <a:effectLst/>
              </a:rPr>
              <a:t>sd</a:t>
            </a:r>
            <a:r>
              <a:rPr lang="en-US" b="1" i="0" u="none" strike="noStrike" dirty="0">
                <a:solidFill>
                  <a:srgbClr val="000000"/>
                </a:solidFill>
                <a:effectLst/>
              </a:rPr>
              <a:t> </a:t>
            </a:r>
            <a:r>
              <a:rPr lang="en-US" b="1" i="0" u="none" strike="noStrike" dirty="0" err="1">
                <a:solidFill>
                  <a:srgbClr val="000000"/>
                </a:solidFill>
                <a:effectLst/>
              </a:rPr>
              <a:t>AuthenticateUser</a:t>
            </a:r>
            <a:r>
              <a:rPr lang="en-US" b="0" i="0" u="none" strike="noStrike" dirty="0">
                <a:solidFill>
                  <a:srgbClr val="000000"/>
                </a:solidFill>
                <a:effectLst/>
              </a:rPr>
              <a:t>: Shows interactions between :B and :C for user authentication.</a:t>
            </a:r>
          </a:p>
          <a:p>
            <a:pPr marL="742950" lvl="1" indent="-285750" algn="l">
              <a:buFont typeface="+mj-lt"/>
              <a:buAutoNum type="arabicPeriod"/>
            </a:pPr>
            <a:r>
              <a:rPr lang="en-US" b="1" i="0" u="none" strike="noStrike" dirty="0" err="1">
                <a:solidFill>
                  <a:srgbClr val="000000"/>
                </a:solidFill>
                <a:effectLst/>
              </a:rPr>
              <a:t>sd</a:t>
            </a:r>
            <a:r>
              <a:rPr lang="en-US" b="1" i="0" u="none" strike="noStrike" dirty="0">
                <a:solidFill>
                  <a:srgbClr val="000000"/>
                </a:solidFill>
                <a:effectLst/>
              </a:rPr>
              <a:t> </a:t>
            </a:r>
            <a:r>
              <a:rPr lang="en-US" b="1" i="0" u="none" strike="noStrike" dirty="0" err="1">
                <a:solidFill>
                  <a:srgbClr val="000000"/>
                </a:solidFill>
                <a:effectLst/>
              </a:rPr>
              <a:t>DoFoo</a:t>
            </a:r>
            <a:r>
              <a:rPr lang="en-US" b="0" i="0" u="none" strike="noStrike" dirty="0">
                <a:solidFill>
                  <a:srgbClr val="000000"/>
                </a:solidFill>
                <a:effectLst/>
              </a:rPr>
              <a:t>: Details another interaction process with its own flow.</a:t>
            </a:r>
          </a:p>
          <a:p>
            <a:pPr algn="l">
              <a:buFont typeface="+mj-lt"/>
              <a:buAutoNum type="arabicPeriod"/>
            </a:pPr>
            <a:r>
              <a:rPr lang="en-US" b="1" i="0" u="none" strike="noStrike" dirty="0">
                <a:solidFill>
                  <a:srgbClr val="000000"/>
                </a:solidFill>
                <a:effectLst/>
              </a:rPr>
              <a:t>Interaction Occurrence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Indicates that one sequence diagram (</a:t>
            </a:r>
            <a:r>
              <a:rPr lang="en-US" b="0" i="0" u="none" strike="noStrike" dirty="0" err="1">
                <a:solidFill>
                  <a:srgbClr val="000000"/>
                </a:solidFill>
                <a:effectLst/>
              </a:rPr>
              <a:t>AuthenticateUser</a:t>
            </a:r>
            <a:r>
              <a:rPr lang="en-US" b="0" i="0" u="none" strike="noStrike" dirty="0">
                <a:solidFill>
                  <a:srgbClr val="000000"/>
                </a:solidFill>
                <a:effectLst/>
              </a:rPr>
              <a:t>) invokes another (</a:t>
            </a:r>
            <a:r>
              <a:rPr lang="en-US" b="0" i="0" u="none" strike="noStrike" dirty="0" err="1">
                <a:solidFill>
                  <a:srgbClr val="000000"/>
                </a:solidFill>
                <a:effectLst/>
              </a:rPr>
              <a:t>DoFoo</a:t>
            </a:r>
            <a:r>
              <a:rPr lang="en-US" b="0" i="0" u="none" strike="noStrike" dirty="0">
                <a:solidFill>
                  <a:srgbClr val="000000"/>
                </a:solidFill>
                <a:effectLst/>
              </a:rPr>
              <a:t>), covering the same lifelines.</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illustrates how larger systems can break down complex interactions into smaller, modular sequences. Hierarchical notation makes diagrams readable and manageable by referencing detailed sub-diagrams.</a:t>
            </a:r>
          </a:p>
          <a:p>
            <a:endParaRPr lang="en-US" dirty="0">
              <a:latin typeface="Times" charset="0"/>
              <a:ea typeface="ＭＳ Ｐゴシック" charset="0"/>
              <a:cs typeface="ＭＳ Ｐゴシック"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xfrm>
            <a:off x="1173163" y="696913"/>
            <a:ext cx="4638675" cy="3479800"/>
          </a:xfrm>
          <a:ln/>
        </p:spPr>
      </p:sp>
      <p:sp>
        <p:nvSpPr>
          <p:cNvPr id="7065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endParaRPr lang="en-US" b="0" i="0" u="none" strike="noStrike" dirty="0">
              <a:solidFill>
                <a:srgbClr val="000000"/>
              </a:solidFill>
              <a:effectLst/>
            </a:endParaRPr>
          </a:p>
          <a:p>
            <a:pPr algn="l"/>
            <a:r>
              <a:rPr lang="en-US" b="1" i="0" u="none" strike="noStrike" dirty="0">
                <a:solidFill>
                  <a:srgbClr val="000000"/>
                </a:solidFill>
                <a:effectLst/>
              </a:rPr>
              <a:t>Polymorphism in UML (Brief Explanation)</a:t>
            </a:r>
          </a:p>
          <a:p>
            <a:pPr algn="l"/>
            <a:r>
              <a:rPr lang="en-US" b="1" i="0" u="none" strike="noStrike" dirty="0">
                <a:solidFill>
                  <a:srgbClr val="000000"/>
                </a:solidFill>
                <a:effectLst/>
              </a:rPr>
              <a:t>Definition:</a:t>
            </a:r>
          </a:p>
          <a:p>
            <a:pPr algn="l"/>
            <a:r>
              <a:rPr lang="en-US" b="0" i="0" u="none" strike="noStrike" dirty="0">
                <a:solidFill>
                  <a:srgbClr val="000000"/>
                </a:solidFill>
                <a:effectLst/>
              </a:rPr>
              <a:t>Polymorphism in UML refers to the ability of different objects (from a hierarchy) to respond uniquely to the </a:t>
            </a:r>
            <a:r>
              <a:rPr lang="en-US" b="1" i="0" u="none" strike="noStrike" dirty="0">
                <a:solidFill>
                  <a:srgbClr val="000000"/>
                </a:solidFill>
                <a:effectLst/>
              </a:rPr>
              <a:t>same message</a:t>
            </a:r>
            <a:r>
              <a:rPr lang="en-US" b="0" i="0" u="none" strike="noStrike" dirty="0">
                <a:solidFill>
                  <a:srgbClr val="000000"/>
                </a:solidFill>
                <a:effectLst/>
              </a:rPr>
              <a:t>. It models how a superclass or interface defines a general behavior, but the actual behavior is determined by the specific subclass at runtime.</a:t>
            </a: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Slide 8: Polymorphism in Sequence Diagrams</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1" i="0" u="none" strike="noStrike" dirty="0">
                <a:solidFill>
                  <a:srgbClr val="000000"/>
                </a:solidFill>
                <a:effectLst/>
              </a:rPr>
              <a:t>Polymorphism</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Shows how a polymorphic message (e.g., authorize()) can call different implementations depending on the object type (e.g., </a:t>
            </a:r>
            <a:r>
              <a:rPr lang="en-US" b="0" i="0" u="none" strike="noStrike" dirty="0" err="1">
                <a:solidFill>
                  <a:srgbClr val="000000"/>
                </a:solidFill>
                <a:effectLst/>
              </a:rPr>
              <a:t>CreditPayment</a:t>
            </a:r>
            <a:r>
              <a:rPr lang="en-US" b="0" i="0" u="none" strike="noStrike" dirty="0">
                <a:solidFill>
                  <a:srgbClr val="000000"/>
                </a:solidFill>
                <a:effectLst/>
              </a:rPr>
              <a:t> or </a:t>
            </a:r>
            <a:r>
              <a:rPr lang="en-US" b="0" i="0" u="none" strike="noStrike" dirty="0" err="1">
                <a:solidFill>
                  <a:srgbClr val="000000"/>
                </a:solidFill>
                <a:effectLst/>
              </a:rPr>
              <a:t>DebitPayment</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One sequence diagram is used for the superclass/interface.</a:t>
            </a:r>
          </a:p>
          <a:p>
            <a:pPr marL="742950" lvl="1" indent="-285750" algn="l">
              <a:buFont typeface="Arial" panose="020B0604020202020204" pitchFamily="34" charset="0"/>
              <a:buChar char="•"/>
            </a:pPr>
            <a:r>
              <a:rPr lang="en-US" b="0" i="0" u="none" strike="noStrike" dirty="0">
                <a:solidFill>
                  <a:srgbClr val="000000"/>
                </a:solidFill>
                <a:effectLst/>
              </a:rPr>
              <a:t>Separate diagrams show the behavior of specific subclasses.</a:t>
            </a:r>
          </a:p>
          <a:p>
            <a:pPr algn="l"/>
            <a:r>
              <a:rPr lang="en-US" b="1" i="0" u="none" strike="noStrike" dirty="0">
                <a:solidFill>
                  <a:srgbClr val="000000"/>
                </a:solidFill>
                <a:effectLst/>
              </a:rPr>
              <a:t>Additional Info</a:t>
            </a:r>
            <a:r>
              <a:rPr lang="en-US" b="0" i="0" u="none" strike="noStrike" dirty="0">
                <a:solidFill>
                  <a:srgbClr val="000000"/>
                </a:solidFill>
                <a:effectLst/>
              </a:rPr>
              <a:t>: Polymorphism highlights the flexibility of object-oriented design, where objects of different types respond to the same message.</a:t>
            </a: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Turkish Explanation:</a:t>
            </a:r>
          </a:p>
          <a:p>
            <a:pPr algn="l">
              <a:buFont typeface="Arial" panose="020B0604020202020204" pitchFamily="34" charset="0"/>
              <a:buChar char="•"/>
            </a:pPr>
            <a:r>
              <a:rPr lang="en-US" b="1" i="0" u="none" strike="noStrike" dirty="0" err="1">
                <a:solidFill>
                  <a:srgbClr val="000000"/>
                </a:solidFill>
                <a:effectLst/>
              </a:rPr>
              <a:t>Polimorfizm</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Polimorfik</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mesajın</a:t>
            </a:r>
            <a:r>
              <a:rPr lang="en-US" b="0" i="0" u="none" strike="noStrike" dirty="0">
                <a:solidFill>
                  <a:srgbClr val="000000"/>
                </a:solidFill>
                <a:effectLst/>
              </a:rPr>
              <a:t> (authorize()) </a:t>
            </a:r>
            <a:r>
              <a:rPr lang="en-US" b="0" i="0" u="none" strike="noStrike" dirty="0" err="1">
                <a:solidFill>
                  <a:srgbClr val="000000"/>
                </a:solidFill>
                <a:effectLst/>
              </a:rPr>
              <a:t>nesne</a:t>
            </a:r>
            <a:r>
              <a:rPr lang="en-US" b="0" i="0" u="none" strike="noStrike" dirty="0">
                <a:solidFill>
                  <a:srgbClr val="000000"/>
                </a:solidFill>
                <a:effectLst/>
              </a:rPr>
              <a:t> </a:t>
            </a:r>
            <a:r>
              <a:rPr lang="en-US" b="0" i="0" u="none" strike="noStrike" dirty="0" err="1">
                <a:solidFill>
                  <a:srgbClr val="000000"/>
                </a:solidFill>
                <a:effectLst/>
              </a:rPr>
              <a:t>türüne</a:t>
            </a:r>
            <a:r>
              <a:rPr lang="en-US" b="0" i="0" u="none" strike="noStrike" dirty="0">
                <a:solidFill>
                  <a:srgbClr val="000000"/>
                </a:solidFill>
                <a:effectLst/>
              </a:rPr>
              <a:t> </a:t>
            </a:r>
            <a:r>
              <a:rPr lang="en-US" b="0" i="0" u="none" strike="noStrike" dirty="0" err="1">
                <a:solidFill>
                  <a:srgbClr val="000000"/>
                </a:solidFill>
                <a:effectLst/>
              </a:rPr>
              <a:t>bağlı</a:t>
            </a:r>
            <a:r>
              <a:rPr lang="en-US" b="0" i="0" u="none" strike="noStrike" dirty="0">
                <a:solidFill>
                  <a:srgbClr val="000000"/>
                </a:solidFill>
                <a:effectLst/>
              </a:rPr>
              <a:t> </a:t>
            </a:r>
            <a:r>
              <a:rPr lang="en-US" b="0" i="0" u="none" strike="noStrike" dirty="0" err="1">
                <a:solidFill>
                  <a:srgbClr val="000000"/>
                </a:solidFill>
                <a:effectLst/>
              </a:rPr>
              <a:t>olarak</a:t>
            </a:r>
            <a:r>
              <a:rPr lang="en-US" b="0" i="0" u="none" strike="noStrike" dirty="0">
                <a:solidFill>
                  <a:srgbClr val="000000"/>
                </a:solidFill>
                <a:effectLst/>
              </a:rPr>
              <a:t> </a:t>
            </a:r>
            <a:r>
              <a:rPr lang="en-US" b="0" i="0" u="none" strike="noStrike" dirty="0" err="1">
                <a:solidFill>
                  <a:srgbClr val="000000"/>
                </a:solidFill>
                <a:effectLst/>
              </a:rPr>
              <a:t>farklı</a:t>
            </a:r>
            <a:r>
              <a:rPr lang="en-US" b="0" i="0" u="none" strike="noStrike" dirty="0">
                <a:solidFill>
                  <a:srgbClr val="000000"/>
                </a:solidFill>
                <a:effectLst/>
              </a:rPr>
              <a:t> </a:t>
            </a:r>
            <a:r>
              <a:rPr lang="en-US" b="0" i="0" u="none" strike="noStrike" dirty="0" err="1">
                <a:solidFill>
                  <a:srgbClr val="000000"/>
                </a:solidFill>
                <a:effectLst/>
              </a:rPr>
              <a:t>uygulamaları</a:t>
            </a:r>
            <a:r>
              <a:rPr lang="en-US" b="0" i="0" u="none" strike="noStrike" dirty="0">
                <a:solidFill>
                  <a:srgbClr val="000000"/>
                </a:solidFill>
                <a:effectLst/>
              </a:rPr>
              <a:t> </a:t>
            </a:r>
            <a:r>
              <a:rPr lang="en-US" b="0" i="0" u="none" strike="noStrike" dirty="0" err="1">
                <a:solidFill>
                  <a:srgbClr val="000000"/>
                </a:solidFill>
                <a:effectLst/>
              </a:rPr>
              <a:t>nasıl</a:t>
            </a:r>
            <a:r>
              <a:rPr lang="en-US" b="0" i="0" u="none" strike="noStrike" dirty="0">
                <a:solidFill>
                  <a:srgbClr val="000000"/>
                </a:solidFill>
                <a:effectLst/>
              </a:rPr>
              <a:t> </a:t>
            </a:r>
            <a:r>
              <a:rPr lang="en-US" b="0" i="0" u="none" strike="noStrike" dirty="0" err="1">
                <a:solidFill>
                  <a:srgbClr val="000000"/>
                </a:solidFill>
                <a:effectLst/>
              </a:rPr>
              <a:t>çağırabileceğini</a:t>
            </a:r>
            <a:r>
              <a:rPr lang="en-US" b="0" i="0" u="none" strike="noStrike" dirty="0">
                <a:solidFill>
                  <a:srgbClr val="000000"/>
                </a:solidFill>
                <a:effectLst/>
              </a:rPr>
              <a:t> </a:t>
            </a:r>
            <a:r>
              <a:rPr lang="en-US" b="0" i="0" u="none" strike="noStrike" dirty="0" err="1">
                <a:solidFill>
                  <a:srgbClr val="000000"/>
                </a:solidFill>
                <a:effectLst/>
              </a:rPr>
              <a:t>gösterir</a:t>
            </a:r>
            <a:r>
              <a:rPr lang="en-US" b="0" i="0" u="none" strike="noStrike" dirty="0">
                <a:solidFill>
                  <a:srgbClr val="000000"/>
                </a:solidFill>
                <a:effectLst/>
              </a:rPr>
              <a:t> (</a:t>
            </a:r>
            <a:r>
              <a:rPr lang="en-US" b="0" i="0" u="none" strike="noStrike" dirty="0" err="1">
                <a:solidFill>
                  <a:srgbClr val="000000"/>
                </a:solidFill>
                <a:effectLst/>
              </a:rPr>
              <a:t>örneğin</a:t>
            </a:r>
            <a:r>
              <a:rPr lang="en-US" b="0" i="0" u="none" strike="noStrike" dirty="0">
                <a:solidFill>
                  <a:srgbClr val="000000"/>
                </a:solidFill>
                <a:effectLst/>
              </a:rPr>
              <a:t>, </a:t>
            </a:r>
            <a:r>
              <a:rPr lang="en-US" b="0" i="0" u="none" strike="noStrike" dirty="0" err="1">
                <a:solidFill>
                  <a:srgbClr val="000000"/>
                </a:solidFill>
                <a:effectLst/>
              </a:rPr>
              <a:t>CreditPayment</a:t>
            </a:r>
            <a:r>
              <a:rPr lang="en-US" b="0" i="0" u="none" strike="noStrike" dirty="0">
                <a:solidFill>
                  <a:srgbClr val="000000"/>
                </a:solidFill>
                <a:effectLst/>
              </a:rPr>
              <a:t> </a:t>
            </a:r>
            <a:r>
              <a:rPr lang="en-US" b="0" i="0" u="none" strike="noStrike" dirty="0" err="1">
                <a:solidFill>
                  <a:srgbClr val="000000"/>
                </a:solidFill>
                <a:effectLst/>
              </a:rPr>
              <a:t>veya</a:t>
            </a:r>
            <a:r>
              <a:rPr lang="en-US" b="0" i="0" u="none" strike="noStrike" dirty="0">
                <a:solidFill>
                  <a:srgbClr val="000000"/>
                </a:solidFill>
                <a:effectLst/>
              </a:rPr>
              <a:t> </a:t>
            </a:r>
            <a:r>
              <a:rPr lang="en-US" b="0" i="0" u="none" strike="noStrike" dirty="0" err="1">
                <a:solidFill>
                  <a:srgbClr val="000000"/>
                </a:solidFill>
                <a:effectLst/>
              </a:rPr>
              <a:t>DebitPayment</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Üst</a:t>
            </a:r>
            <a:r>
              <a:rPr lang="en-US" b="0" i="0" u="none" strike="noStrike" dirty="0">
                <a:solidFill>
                  <a:srgbClr val="000000"/>
                </a:solidFill>
                <a:effectLst/>
              </a:rPr>
              <a:t> </a:t>
            </a:r>
            <a:r>
              <a:rPr lang="en-US" b="0" i="0" u="none" strike="noStrike" dirty="0" err="1">
                <a:solidFill>
                  <a:srgbClr val="000000"/>
                </a:solidFill>
                <a:effectLst/>
              </a:rPr>
              <a:t>sınıf</a:t>
            </a:r>
            <a:r>
              <a:rPr lang="en-US" b="0" i="0" u="none" strike="noStrike" dirty="0">
                <a:solidFill>
                  <a:srgbClr val="000000"/>
                </a:solidFill>
                <a:effectLst/>
              </a:rPr>
              <a:t>/</a:t>
            </a:r>
            <a:r>
              <a:rPr lang="en-US" b="0" i="0" u="none" strike="noStrike" dirty="0" err="1">
                <a:solidFill>
                  <a:srgbClr val="000000"/>
                </a:solidFill>
                <a:effectLst/>
              </a:rPr>
              <a:t>arayüz</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bir</a:t>
            </a:r>
            <a:r>
              <a:rPr lang="en-US" b="0" i="0" u="none" strike="noStrike" dirty="0">
                <a:solidFill>
                  <a:srgbClr val="000000"/>
                </a:solidFill>
                <a:effectLst/>
              </a:rPr>
              <a:t> </a:t>
            </a:r>
            <a:r>
              <a:rPr lang="en-US" b="0" i="0" u="none" strike="noStrike" dirty="0" err="1">
                <a:solidFill>
                  <a:srgbClr val="000000"/>
                </a:solidFill>
                <a:effectLst/>
              </a:rPr>
              <a:t>sıra</a:t>
            </a:r>
            <a:r>
              <a:rPr lang="en-US" b="0" i="0" u="none" strike="noStrike" dirty="0">
                <a:solidFill>
                  <a:srgbClr val="000000"/>
                </a:solidFill>
                <a:effectLst/>
              </a:rPr>
              <a:t> </a:t>
            </a:r>
            <a:r>
              <a:rPr lang="en-US" b="0" i="0" u="none" strike="noStrike" dirty="0" err="1">
                <a:solidFill>
                  <a:srgbClr val="000000"/>
                </a:solidFill>
                <a:effectLst/>
              </a:rPr>
              <a:t>diyagramı</a:t>
            </a:r>
            <a:r>
              <a:rPr lang="en-US" b="0" i="0" u="none" strike="noStrike" dirty="0">
                <a:solidFill>
                  <a:srgbClr val="000000"/>
                </a:solidFill>
                <a:effectLst/>
              </a:rPr>
              <a:t> </a:t>
            </a:r>
            <a:r>
              <a:rPr lang="en-US" b="0" i="0" u="none" strike="noStrike" dirty="0" err="1">
                <a:solidFill>
                  <a:srgbClr val="000000"/>
                </a:solidFill>
                <a:effectLst/>
              </a:rPr>
              <a:t>kullanılır</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Belirli</a:t>
            </a:r>
            <a:r>
              <a:rPr lang="en-US" b="0" i="0" u="none" strike="noStrike" dirty="0">
                <a:solidFill>
                  <a:srgbClr val="000000"/>
                </a:solidFill>
                <a:effectLst/>
              </a:rPr>
              <a:t> alt </a:t>
            </a:r>
            <a:r>
              <a:rPr lang="en-US" b="0" i="0" u="none" strike="noStrike" dirty="0" err="1">
                <a:solidFill>
                  <a:srgbClr val="000000"/>
                </a:solidFill>
                <a:effectLst/>
              </a:rPr>
              <a:t>sınıfların</a:t>
            </a:r>
            <a:r>
              <a:rPr lang="en-US" b="0" i="0" u="none" strike="noStrike" dirty="0">
                <a:solidFill>
                  <a:srgbClr val="000000"/>
                </a:solidFill>
                <a:effectLst/>
              </a:rPr>
              <a:t> </a:t>
            </a:r>
            <a:r>
              <a:rPr lang="en-US" b="0" i="0" u="none" strike="noStrike" dirty="0" err="1">
                <a:solidFill>
                  <a:srgbClr val="000000"/>
                </a:solidFill>
                <a:effectLst/>
              </a:rPr>
              <a:t>davranışlarını</a:t>
            </a:r>
            <a:r>
              <a:rPr lang="en-US" b="0" i="0" u="none" strike="noStrike" dirty="0">
                <a:solidFill>
                  <a:srgbClr val="000000"/>
                </a:solidFill>
                <a:effectLst/>
              </a:rPr>
              <a:t> </a:t>
            </a:r>
            <a:r>
              <a:rPr lang="en-US" b="0" i="0" u="none" strike="noStrike" dirty="0" err="1">
                <a:solidFill>
                  <a:srgbClr val="000000"/>
                </a:solidFill>
                <a:effectLst/>
              </a:rPr>
              <a:t>göstermek</a:t>
            </a:r>
            <a:r>
              <a:rPr lang="en-US" b="0" i="0" u="none" strike="noStrike" dirty="0">
                <a:solidFill>
                  <a:srgbClr val="000000"/>
                </a:solidFill>
                <a:effectLst/>
              </a:rPr>
              <a:t> </a:t>
            </a:r>
            <a:r>
              <a:rPr lang="en-US" b="0" i="0" u="none" strike="noStrike" dirty="0" err="1">
                <a:solidFill>
                  <a:srgbClr val="000000"/>
                </a:solidFill>
                <a:effectLst/>
              </a:rPr>
              <a:t>için</a:t>
            </a:r>
            <a:r>
              <a:rPr lang="en-US" b="0" i="0" u="none" strike="noStrike" dirty="0">
                <a:solidFill>
                  <a:srgbClr val="000000"/>
                </a:solidFill>
                <a:effectLst/>
              </a:rPr>
              <a:t> </a:t>
            </a:r>
            <a:r>
              <a:rPr lang="en-US" b="0" i="0" u="none" strike="noStrike" dirty="0" err="1">
                <a:solidFill>
                  <a:srgbClr val="000000"/>
                </a:solidFill>
                <a:effectLst/>
              </a:rPr>
              <a:t>ayrı</a:t>
            </a:r>
            <a:r>
              <a:rPr lang="en-US" b="0" i="0" u="none" strike="noStrike" dirty="0">
                <a:solidFill>
                  <a:srgbClr val="000000"/>
                </a:solidFill>
                <a:effectLst/>
              </a:rPr>
              <a:t> </a:t>
            </a:r>
            <a:r>
              <a:rPr lang="en-US" b="0" i="0" u="none" strike="noStrike" dirty="0" err="1">
                <a:solidFill>
                  <a:srgbClr val="000000"/>
                </a:solidFill>
                <a:effectLst/>
              </a:rPr>
              <a:t>diyagramlar</a:t>
            </a:r>
            <a:r>
              <a:rPr lang="en-US" b="0" i="0" u="none" strike="noStrike" dirty="0">
                <a:solidFill>
                  <a:srgbClr val="000000"/>
                </a:solidFill>
                <a:effectLst/>
              </a:rPr>
              <a:t> </a:t>
            </a:r>
            <a:r>
              <a:rPr lang="en-US" b="0" i="0" u="none" strike="noStrike" dirty="0" err="1">
                <a:solidFill>
                  <a:srgbClr val="000000"/>
                </a:solidFill>
                <a:effectLst/>
              </a:rPr>
              <a:t>yapılır</a:t>
            </a:r>
            <a:r>
              <a:rPr lang="en-US" b="0" i="0" u="none" strike="noStrike" dirty="0">
                <a:solidFill>
                  <a:srgbClr val="000000"/>
                </a:solidFill>
                <a:effectLst/>
              </a:rPr>
              <a:t>.</a:t>
            </a:r>
          </a:p>
          <a:p>
            <a:pPr algn="l"/>
            <a:r>
              <a:rPr lang="en-US" b="1" i="0" u="none" strike="noStrike" dirty="0">
                <a:solidFill>
                  <a:srgbClr val="000000"/>
                </a:solidFill>
                <a:effectLst/>
              </a:rPr>
              <a:t>Ekstra Bilgi</a:t>
            </a:r>
            <a:r>
              <a:rPr lang="en-US" b="0" i="0" u="none" strike="noStrike" dirty="0">
                <a:solidFill>
                  <a:srgbClr val="000000"/>
                </a:solidFill>
                <a:effectLst/>
              </a:rPr>
              <a:t>: </a:t>
            </a:r>
            <a:r>
              <a:rPr lang="en-US" b="0" i="0" u="none" strike="noStrike" dirty="0" err="1">
                <a:solidFill>
                  <a:srgbClr val="000000"/>
                </a:solidFill>
                <a:effectLst/>
              </a:rPr>
              <a:t>Polimorfizm</a:t>
            </a:r>
            <a:r>
              <a:rPr lang="en-US" b="0" i="0" u="none" strike="noStrike" dirty="0">
                <a:solidFill>
                  <a:srgbClr val="000000"/>
                </a:solidFill>
                <a:effectLst/>
              </a:rPr>
              <a:t>, </a:t>
            </a:r>
            <a:r>
              <a:rPr lang="en-US" b="0" i="0" u="none" strike="noStrike" dirty="0" err="1">
                <a:solidFill>
                  <a:srgbClr val="000000"/>
                </a:solidFill>
                <a:effectLst/>
              </a:rPr>
              <a:t>aynı</a:t>
            </a:r>
            <a:r>
              <a:rPr lang="en-US" b="0" i="0" u="none" strike="noStrike" dirty="0">
                <a:solidFill>
                  <a:srgbClr val="000000"/>
                </a:solidFill>
                <a:effectLst/>
              </a:rPr>
              <a:t> </a:t>
            </a:r>
            <a:r>
              <a:rPr lang="en-US" b="0" i="0" u="none" strike="noStrike" dirty="0" err="1">
                <a:solidFill>
                  <a:srgbClr val="000000"/>
                </a:solidFill>
                <a:effectLst/>
              </a:rPr>
              <a:t>mesaja</a:t>
            </a:r>
            <a:r>
              <a:rPr lang="en-US" b="0" i="0" u="none" strike="noStrike" dirty="0">
                <a:solidFill>
                  <a:srgbClr val="000000"/>
                </a:solidFill>
                <a:effectLst/>
              </a:rPr>
              <a:t> </a:t>
            </a:r>
            <a:r>
              <a:rPr lang="en-US" b="0" i="0" u="none" strike="noStrike" dirty="0" err="1">
                <a:solidFill>
                  <a:srgbClr val="000000"/>
                </a:solidFill>
                <a:effectLst/>
              </a:rPr>
              <a:t>farklı</a:t>
            </a:r>
            <a:r>
              <a:rPr lang="en-US" b="0" i="0" u="none" strike="noStrike" dirty="0">
                <a:solidFill>
                  <a:srgbClr val="000000"/>
                </a:solidFill>
                <a:effectLst/>
              </a:rPr>
              <a:t> </a:t>
            </a:r>
            <a:r>
              <a:rPr lang="en-US" b="0" i="0" u="none" strike="noStrike" dirty="0" err="1">
                <a:solidFill>
                  <a:srgbClr val="000000"/>
                </a:solidFill>
                <a:effectLst/>
              </a:rPr>
              <a:t>nesne</a:t>
            </a:r>
            <a:r>
              <a:rPr lang="en-US" b="0" i="0" u="none" strike="noStrike" dirty="0">
                <a:solidFill>
                  <a:srgbClr val="000000"/>
                </a:solidFill>
                <a:effectLst/>
              </a:rPr>
              <a:t> </a:t>
            </a:r>
            <a:r>
              <a:rPr lang="en-US" b="0" i="0" u="none" strike="noStrike" dirty="0" err="1">
                <a:solidFill>
                  <a:srgbClr val="000000"/>
                </a:solidFill>
                <a:effectLst/>
              </a:rPr>
              <a:t>türlerinin</a:t>
            </a:r>
            <a:r>
              <a:rPr lang="en-US" b="0" i="0" u="none" strike="noStrike" dirty="0">
                <a:solidFill>
                  <a:srgbClr val="000000"/>
                </a:solidFill>
                <a:effectLst/>
              </a:rPr>
              <a:t> </a:t>
            </a:r>
            <a:r>
              <a:rPr lang="en-US" b="0" i="0" u="none" strike="noStrike" dirty="0" err="1">
                <a:solidFill>
                  <a:srgbClr val="000000"/>
                </a:solidFill>
                <a:effectLst/>
              </a:rPr>
              <a:t>nasıl</a:t>
            </a:r>
            <a:r>
              <a:rPr lang="en-US" b="0" i="0" u="none" strike="noStrike" dirty="0">
                <a:solidFill>
                  <a:srgbClr val="000000"/>
                </a:solidFill>
                <a:effectLst/>
              </a:rPr>
              <a:t> </a:t>
            </a:r>
            <a:r>
              <a:rPr lang="en-US" b="0" i="0" u="none" strike="noStrike" dirty="0" err="1">
                <a:solidFill>
                  <a:srgbClr val="000000"/>
                </a:solidFill>
                <a:effectLst/>
              </a:rPr>
              <a:t>yanıt</a:t>
            </a:r>
            <a:r>
              <a:rPr lang="en-US" b="0" i="0" u="none" strike="noStrike" dirty="0">
                <a:solidFill>
                  <a:srgbClr val="000000"/>
                </a:solidFill>
                <a:effectLst/>
              </a:rPr>
              <a:t> </a:t>
            </a:r>
            <a:r>
              <a:rPr lang="en-US" b="0" i="0" u="none" strike="noStrike" dirty="0" err="1">
                <a:solidFill>
                  <a:srgbClr val="000000"/>
                </a:solidFill>
                <a:effectLst/>
              </a:rPr>
              <a:t>verdiğini</a:t>
            </a:r>
            <a:r>
              <a:rPr lang="en-US" b="0" i="0" u="none" strike="noStrike" dirty="0">
                <a:solidFill>
                  <a:srgbClr val="000000"/>
                </a:solidFill>
                <a:effectLst/>
              </a:rPr>
              <a:t> </a:t>
            </a:r>
            <a:r>
              <a:rPr lang="en-US" b="0" i="0" u="none" strike="noStrike" dirty="0" err="1">
                <a:solidFill>
                  <a:srgbClr val="000000"/>
                </a:solidFill>
                <a:effectLst/>
              </a:rPr>
              <a:t>göstererek</a:t>
            </a:r>
            <a:r>
              <a:rPr lang="en-US" b="0" i="0" u="none" strike="noStrike" dirty="0">
                <a:solidFill>
                  <a:srgbClr val="000000"/>
                </a:solidFill>
                <a:effectLst/>
              </a:rPr>
              <a:t> </a:t>
            </a:r>
            <a:r>
              <a:rPr lang="en-US" b="0" i="0" u="none" strike="noStrike" dirty="0" err="1">
                <a:solidFill>
                  <a:srgbClr val="000000"/>
                </a:solidFill>
                <a:effectLst/>
              </a:rPr>
              <a:t>nesne</a:t>
            </a:r>
            <a:r>
              <a:rPr lang="en-US" b="0" i="0" u="none" strike="noStrike" dirty="0">
                <a:solidFill>
                  <a:srgbClr val="000000"/>
                </a:solidFill>
                <a:effectLst/>
              </a:rPr>
              <a:t> </a:t>
            </a:r>
            <a:r>
              <a:rPr lang="en-US" b="0" i="0" u="none" strike="noStrike" dirty="0" err="1">
                <a:solidFill>
                  <a:srgbClr val="000000"/>
                </a:solidFill>
                <a:effectLst/>
              </a:rPr>
              <a:t>yönelimli</a:t>
            </a:r>
            <a:r>
              <a:rPr lang="en-US" b="0" i="0" u="none" strike="noStrike" dirty="0">
                <a:solidFill>
                  <a:srgbClr val="000000"/>
                </a:solidFill>
                <a:effectLst/>
              </a:rPr>
              <a:t> </a:t>
            </a:r>
            <a:r>
              <a:rPr lang="en-US" b="0" i="0" u="none" strike="noStrike" dirty="0" err="1">
                <a:solidFill>
                  <a:srgbClr val="000000"/>
                </a:solidFill>
                <a:effectLst/>
              </a:rPr>
              <a:t>tasarımın</a:t>
            </a:r>
            <a:r>
              <a:rPr lang="en-US" b="0" i="0" u="none" strike="noStrike" dirty="0">
                <a:solidFill>
                  <a:srgbClr val="000000"/>
                </a:solidFill>
                <a:effectLst/>
              </a:rPr>
              <a:t> </a:t>
            </a:r>
            <a:r>
              <a:rPr lang="en-US" b="0" i="0" u="none" strike="noStrike" dirty="0" err="1">
                <a:solidFill>
                  <a:srgbClr val="000000"/>
                </a:solidFill>
                <a:effectLst/>
              </a:rPr>
              <a:t>esnekliğini</a:t>
            </a:r>
            <a:r>
              <a:rPr lang="en-US" b="0" i="0" u="none" strike="noStrike" dirty="0">
                <a:solidFill>
                  <a:srgbClr val="000000"/>
                </a:solidFill>
                <a:effectLst/>
              </a:rPr>
              <a:t> </a:t>
            </a:r>
            <a:r>
              <a:rPr lang="en-US" b="0" i="0" u="none" strike="noStrike" dirty="0" err="1">
                <a:solidFill>
                  <a:srgbClr val="000000"/>
                </a:solidFill>
                <a:effectLst/>
              </a:rPr>
              <a:t>vurgular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xfrm>
            <a:off x="1173163" y="696913"/>
            <a:ext cx="4638675" cy="3479800"/>
          </a:xfrm>
          <a:ln/>
        </p:spPr>
      </p:sp>
      <p:sp>
        <p:nvSpPr>
          <p:cNvPr id="7270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Diagram: Polymorphic Messages and Cases</a:t>
            </a:r>
          </a:p>
          <a:p>
            <a:pPr algn="l"/>
            <a:r>
              <a:rPr lang="en-US" b="0" i="0" u="none" strike="noStrike" dirty="0">
                <a:solidFill>
                  <a:srgbClr val="000000"/>
                </a:solidFill>
                <a:effectLst/>
              </a:rPr>
              <a:t>This diagram illustrates the concept of </a:t>
            </a:r>
            <a:r>
              <a:rPr lang="en-US" b="1" i="0" u="none" strike="noStrike" dirty="0">
                <a:solidFill>
                  <a:srgbClr val="000000"/>
                </a:solidFill>
                <a:effectLst/>
              </a:rPr>
              <a:t>polymorphism</a:t>
            </a:r>
            <a:r>
              <a:rPr lang="en-US" b="0" i="0" u="none" strike="noStrike" dirty="0">
                <a:solidFill>
                  <a:srgbClr val="000000"/>
                </a:solidFill>
                <a:effectLst/>
              </a:rPr>
              <a:t> in object-oriented design and how it is represented in UML sequence diagrams. Let’s break it down.</a:t>
            </a:r>
          </a:p>
          <a:p>
            <a:pPr algn="l"/>
            <a:r>
              <a:rPr lang="en-US" b="1" i="0" u="none" strike="noStrike" dirty="0">
                <a:solidFill>
                  <a:srgbClr val="000000"/>
                </a:solidFill>
                <a:effectLst/>
              </a:rPr>
              <a:t>Key Concepts in the Diagram:</a:t>
            </a:r>
          </a:p>
          <a:p>
            <a:pPr algn="l">
              <a:buFont typeface="+mj-lt"/>
              <a:buAutoNum type="arabicPeriod"/>
            </a:pPr>
            <a:r>
              <a:rPr lang="en-US" b="1" i="0" u="none" strike="noStrike" dirty="0">
                <a:solidFill>
                  <a:srgbClr val="000000"/>
                </a:solidFill>
                <a:effectLst/>
              </a:rPr>
              <a:t>Polymorphic Message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polymorphic message</a:t>
            </a:r>
            <a:r>
              <a:rPr lang="en-US" b="0" i="0" u="none" strike="noStrike" dirty="0">
                <a:solidFill>
                  <a:srgbClr val="000000"/>
                </a:solidFill>
                <a:effectLst/>
              </a:rPr>
              <a:t> is sent to an object, but the exact method implementation executed depends on the </a:t>
            </a:r>
            <a:r>
              <a:rPr lang="en-US" b="1" i="0" u="none" strike="noStrike" dirty="0">
                <a:solidFill>
                  <a:srgbClr val="000000"/>
                </a:solidFill>
                <a:effectLst/>
              </a:rPr>
              <a:t>runtime type</a:t>
            </a:r>
            <a:r>
              <a:rPr lang="en-US" b="0" i="0" u="none" strike="noStrike" dirty="0">
                <a:solidFill>
                  <a:srgbClr val="000000"/>
                </a:solidFill>
                <a:effectLst/>
              </a:rPr>
              <a:t> of the object.</a:t>
            </a:r>
          </a:p>
          <a:p>
            <a:pPr marL="742950" lvl="1" indent="-285750" algn="l">
              <a:buFont typeface="+mj-lt"/>
              <a:buAutoNum type="arabicPeriod"/>
            </a:pPr>
            <a:r>
              <a:rPr lang="en-US" b="0" i="0" u="none" strike="noStrike" dirty="0">
                <a:solidFill>
                  <a:srgbClr val="000000"/>
                </a:solidFill>
                <a:effectLst/>
              </a:rPr>
              <a:t>In this case, the authorize message is sent to an object of type Payment.</a:t>
            </a:r>
          </a:p>
          <a:p>
            <a:pPr algn="l">
              <a:buFont typeface="+mj-lt"/>
              <a:buAutoNum type="arabicPeriod"/>
            </a:pPr>
            <a:r>
              <a:rPr lang="en-US" b="1" i="0" u="none" strike="noStrike" dirty="0">
                <a:solidFill>
                  <a:srgbClr val="000000"/>
                </a:solidFill>
                <a:effectLst/>
              </a:rPr>
              <a:t>Abstract Superclass (:Payment {abstract})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Payment object represents an </a:t>
            </a:r>
            <a:r>
              <a:rPr lang="en-US" b="1" i="0" u="none" strike="noStrike" dirty="0">
                <a:solidFill>
                  <a:srgbClr val="000000"/>
                </a:solidFill>
                <a:effectLst/>
              </a:rPr>
              <a:t>abstract superclass</a:t>
            </a:r>
            <a:r>
              <a:rPr lang="en-US" b="0" i="0" u="none" strike="noStrike" dirty="0">
                <a:solidFill>
                  <a:srgbClr val="000000"/>
                </a:solidFill>
                <a:effectLst/>
              </a:rPr>
              <a:t> or interface.</a:t>
            </a:r>
          </a:p>
          <a:p>
            <a:pPr marL="742950" lvl="1" indent="-285750" algn="l">
              <a:buFont typeface="+mj-lt"/>
              <a:buAutoNum type="arabicPeriod"/>
            </a:pPr>
            <a:r>
              <a:rPr lang="en-US" b="0" i="0" u="none" strike="noStrike" dirty="0">
                <a:solidFill>
                  <a:srgbClr val="000000"/>
                </a:solidFill>
                <a:effectLst/>
              </a:rPr>
              <a:t>The actual object at runtime could be a subclass (e.g., </a:t>
            </a:r>
            <a:r>
              <a:rPr lang="en-US" b="0" i="0" u="none" strike="noStrike" dirty="0" err="1">
                <a:solidFill>
                  <a:srgbClr val="000000"/>
                </a:solidFill>
                <a:effectLst/>
              </a:rPr>
              <a:t>DebitPayment</a:t>
            </a:r>
            <a:r>
              <a:rPr lang="en-US" b="0" i="0" u="none" strike="noStrike" dirty="0">
                <a:solidFill>
                  <a:srgbClr val="000000"/>
                </a:solidFill>
                <a:effectLst/>
              </a:rPr>
              <a:t> or </a:t>
            </a:r>
            <a:r>
              <a:rPr lang="en-US" b="0" i="0" u="none" strike="noStrike" dirty="0" err="1">
                <a:solidFill>
                  <a:srgbClr val="000000"/>
                </a:solidFill>
                <a:effectLst/>
              </a:rPr>
              <a:t>CreditPayment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 the superclass level, the behavior of the authorize method is not defined—hence no further details for this message are shown at this point in the diagram.</a:t>
            </a:r>
          </a:p>
          <a:p>
            <a:pPr algn="l">
              <a:buFont typeface="+mj-lt"/>
              <a:buAutoNum type="arabicPeriod"/>
            </a:pPr>
            <a:r>
              <a:rPr lang="en-US" b="1" i="0" u="none" strike="noStrike" dirty="0">
                <a:solidFill>
                  <a:srgbClr val="000000"/>
                </a:solidFill>
                <a:effectLst/>
              </a:rPr>
              <a:t>Concrete Subclasses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Below the dashed line, separate sequence diagrams show the behavior for each subclass:</a:t>
            </a:r>
          </a:p>
          <a:p>
            <a:pPr marL="1143000" lvl="2" indent="-228600" algn="l">
              <a:buFont typeface="+mj-lt"/>
              <a:buAutoNum type="arabicPeriod"/>
            </a:pPr>
            <a:r>
              <a:rPr lang="en-US" b="0" i="0" u="none" strike="noStrike" dirty="0">
                <a:solidFill>
                  <a:srgbClr val="000000"/>
                </a:solidFill>
                <a:effectLst/>
              </a:rPr>
              <a:t>:</a:t>
            </a:r>
            <a:r>
              <a:rPr lang="en-US" b="0" i="0" u="none" strike="noStrike" dirty="0" err="1">
                <a:solidFill>
                  <a:srgbClr val="000000"/>
                </a:solidFill>
                <a:effectLst/>
              </a:rPr>
              <a:t>DebitPayment</a:t>
            </a:r>
            <a:r>
              <a:rPr lang="en-US" b="0" i="0" u="none" strike="noStrike" dirty="0">
                <a:solidFill>
                  <a:srgbClr val="000000"/>
                </a:solidFill>
                <a:effectLst/>
              </a:rPr>
              <a:t> and its associated sequence with :Foo.</a:t>
            </a:r>
          </a:p>
          <a:p>
            <a:pPr marL="1143000" lvl="2" indent="-228600" algn="l">
              <a:buFont typeface="+mj-lt"/>
              <a:buAutoNum type="arabicPeriod"/>
            </a:pPr>
            <a:r>
              <a:rPr lang="en-US" b="0" i="0" u="none" strike="noStrike" dirty="0">
                <a:solidFill>
                  <a:srgbClr val="000000"/>
                </a:solidFill>
                <a:effectLst/>
              </a:rPr>
              <a:t>:</a:t>
            </a:r>
            <a:r>
              <a:rPr lang="en-US" b="0" i="0" u="none" strike="noStrike" dirty="0" err="1">
                <a:solidFill>
                  <a:srgbClr val="000000"/>
                </a:solidFill>
                <a:effectLst/>
              </a:rPr>
              <a:t>CreditPayment</a:t>
            </a:r>
            <a:r>
              <a:rPr lang="en-US" b="0" i="0" u="none" strike="noStrike" dirty="0">
                <a:solidFill>
                  <a:srgbClr val="000000"/>
                </a:solidFill>
                <a:effectLst/>
              </a:rPr>
              <a:t> and its associated sequence with :Bar.</a:t>
            </a:r>
          </a:p>
          <a:p>
            <a:pPr marL="742950" lvl="1" indent="-285750" algn="l">
              <a:buFont typeface="+mj-lt"/>
              <a:buAutoNum type="arabicPeriod"/>
            </a:pPr>
            <a:r>
              <a:rPr lang="en-US" b="0" i="0" u="none" strike="noStrike" dirty="0">
                <a:solidFill>
                  <a:srgbClr val="000000"/>
                </a:solidFill>
                <a:effectLst/>
              </a:rPr>
              <a:t>Each subclass provides its own implementation of the authorize method:</a:t>
            </a:r>
          </a:p>
          <a:p>
            <a:pPr marL="1143000" lvl="2" indent="-228600" algn="l">
              <a:buFont typeface="+mj-lt"/>
              <a:buAutoNum type="arabicPeriod"/>
            </a:pPr>
            <a:r>
              <a:rPr lang="en-US" b="1" i="0" u="none" strike="noStrike" dirty="0" err="1">
                <a:solidFill>
                  <a:srgbClr val="000000"/>
                </a:solidFill>
                <a:effectLst/>
              </a:rPr>
              <a:t>DebitPayment</a:t>
            </a:r>
            <a:r>
              <a:rPr lang="en-US" b="0" i="0" u="none" strike="noStrike" dirty="0">
                <a:solidFill>
                  <a:srgbClr val="000000"/>
                </a:solidFill>
                <a:effectLst/>
              </a:rPr>
              <a:t> might authorize a payment using a debit account.</a:t>
            </a:r>
          </a:p>
          <a:p>
            <a:pPr marL="1143000" lvl="2" indent="-228600" algn="l">
              <a:buFont typeface="+mj-lt"/>
              <a:buAutoNum type="arabicPeriod"/>
            </a:pPr>
            <a:r>
              <a:rPr lang="en-US" b="1" i="0" u="none" strike="noStrike" dirty="0" err="1">
                <a:solidFill>
                  <a:srgbClr val="000000"/>
                </a:solidFill>
                <a:effectLst/>
              </a:rPr>
              <a:t>CreditPayment</a:t>
            </a:r>
            <a:r>
              <a:rPr lang="en-US" b="0" i="0" u="none" strike="noStrike" dirty="0">
                <a:solidFill>
                  <a:srgbClr val="000000"/>
                </a:solidFill>
                <a:effectLst/>
              </a:rPr>
              <a:t> might authorize a payment using a credit card.</a:t>
            </a:r>
          </a:p>
          <a:p>
            <a:pPr algn="l">
              <a:buFont typeface="+mj-lt"/>
              <a:buAutoNum type="arabicPeriod"/>
            </a:pPr>
            <a:r>
              <a:rPr lang="en-US" b="1" i="0" u="none" strike="noStrike" dirty="0">
                <a:solidFill>
                  <a:srgbClr val="000000"/>
                </a:solidFill>
                <a:effectLst/>
              </a:rPr>
              <a:t>Separate Diagrams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Each concrete subclass has a dedicated diagram to depict its specific behavior.</a:t>
            </a:r>
          </a:p>
          <a:p>
            <a:pPr marL="742950" lvl="1" indent="-285750" algn="l">
              <a:buFont typeface="+mj-lt"/>
              <a:buAutoNum type="arabicPeriod"/>
            </a:pPr>
            <a:r>
              <a:rPr lang="en-US" b="0" i="0" u="none" strike="noStrike" dirty="0">
                <a:solidFill>
                  <a:srgbClr val="000000"/>
                </a:solidFill>
                <a:effectLst/>
              </a:rPr>
              <a:t>For example:</a:t>
            </a:r>
          </a:p>
          <a:p>
            <a:pPr marL="1143000" lvl="2" indent="-228600" algn="l">
              <a:buFont typeface="+mj-lt"/>
              <a:buAutoNum type="arabicPeriod"/>
            </a:pPr>
            <a:r>
              <a:rPr lang="en-US" b="0" i="0" u="none" strike="noStrike" dirty="0" err="1">
                <a:solidFill>
                  <a:srgbClr val="000000"/>
                </a:solidFill>
                <a:effectLst/>
              </a:rPr>
              <a:t>DebitPayment</a:t>
            </a:r>
            <a:r>
              <a:rPr lang="en-US" b="0" i="0" u="none" strike="noStrike" dirty="0">
                <a:solidFill>
                  <a:srgbClr val="000000"/>
                </a:solidFill>
                <a:effectLst/>
              </a:rPr>
              <a:t> interacts with :Foo and sends </a:t>
            </a:r>
            <a:r>
              <a:rPr lang="en-US" b="0" i="0" u="none" strike="noStrike" dirty="0" err="1">
                <a:solidFill>
                  <a:srgbClr val="000000"/>
                </a:solidFill>
                <a:effectLst/>
              </a:rPr>
              <a:t>doA</a:t>
            </a:r>
            <a:r>
              <a:rPr lang="en-US" b="0" i="0" u="none" strike="noStrike" dirty="0">
                <a:solidFill>
                  <a:srgbClr val="000000"/>
                </a:solidFill>
                <a:effectLst/>
              </a:rPr>
              <a:t> and </a:t>
            </a:r>
            <a:r>
              <a:rPr lang="en-US" b="0" i="0" u="none" strike="noStrike" dirty="0" err="1">
                <a:solidFill>
                  <a:srgbClr val="000000"/>
                </a:solidFill>
                <a:effectLst/>
              </a:rPr>
              <a:t>doB</a:t>
            </a:r>
            <a:r>
              <a:rPr lang="en-US" b="0" i="0" u="none" strike="noStrike" dirty="0">
                <a:solidFill>
                  <a:srgbClr val="000000"/>
                </a:solidFill>
                <a:effectLst/>
              </a:rPr>
              <a:t>.</a:t>
            </a:r>
          </a:p>
          <a:p>
            <a:pPr marL="1143000" lvl="2" indent="-228600" algn="l">
              <a:buFont typeface="+mj-lt"/>
              <a:buAutoNum type="arabicPeriod"/>
            </a:pPr>
            <a:r>
              <a:rPr lang="en-US" b="0" i="0" u="none" strike="noStrike" dirty="0" err="1">
                <a:solidFill>
                  <a:srgbClr val="000000"/>
                </a:solidFill>
                <a:effectLst/>
              </a:rPr>
              <a:t>CreditPayment</a:t>
            </a:r>
            <a:r>
              <a:rPr lang="en-US" b="0" i="0" u="none" strike="noStrike" dirty="0">
                <a:solidFill>
                  <a:srgbClr val="000000"/>
                </a:solidFill>
                <a:effectLst/>
              </a:rPr>
              <a:t> interacts with :Bar and sends </a:t>
            </a:r>
            <a:r>
              <a:rPr lang="en-US" b="0" i="0" u="none" strike="noStrike" dirty="0" err="1">
                <a:solidFill>
                  <a:srgbClr val="000000"/>
                </a:solidFill>
                <a:effectLst/>
              </a:rPr>
              <a:t>doX</a:t>
            </a:r>
            <a:r>
              <a:rPr lang="en-US" b="0" i="0" u="none" strike="noStrike" dirty="0">
                <a:solidFill>
                  <a:srgbClr val="000000"/>
                </a:solidFill>
                <a:effectLst/>
              </a:rPr>
              <a:t>.</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demonstrates polymorphism, where a single message (authorize) sent to a superclass (Payment) can invoke different behaviors based on the actual subclass (e.g., </a:t>
            </a:r>
            <a:r>
              <a:rPr lang="en-US" b="0" i="0" u="none" strike="noStrike" dirty="0" err="1">
                <a:solidFill>
                  <a:srgbClr val="000000"/>
                </a:solidFill>
                <a:effectLst/>
              </a:rPr>
              <a:t>DebitPayment</a:t>
            </a:r>
            <a:r>
              <a:rPr lang="en-US" b="0" i="0" u="none" strike="noStrike" dirty="0">
                <a:solidFill>
                  <a:srgbClr val="000000"/>
                </a:solidFill>
                <a:effectLst/>
              </a:rPr>
              <a:t>, </a:t>
            </a:r>
            <a:r>
              <a:rPr lang="en-US" b="0" i="0" u="none" strike="noStrike" dirty="0" err="1">
                <a:solidFill>
                  <a:srgbClr val="000000"/>
                </a:solidFill>
                <a:effectLst/>
              </a:rPr>
              <a:t>CreditPayment</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The first part of the diagram (:Register sending authorize to :Payment) represents the polymorphic call without knowing the specific subclass at this level.</a:t>
            </a:r>
          </a:p>
          <a:p>
            <a:pPr algn="l">
              <a:buFont typeface="Arial" panose="020B0604020202020204" pitchFamily="34" charset="0"/>
              <a:buChar char="•"/>
            </a:pPr>
            <a:r>
              <a:rPr lang="en-US" b="0" i="0" u="none" strike="noStrike" dirty="0">
                <a:solidFill>
                  <a:srgbClr val="000000"/>
                </a:solidFill>
                <a:effectLst/>
              </a:rPr>
              <a:t>The lower part splits the sequence into detailed diagrams for each subclass, allowing a clear depiction of the differing behaviors.</a:t>
            </a:r>
          </a:p>
          <a:p>
            <a:endParaRPr lang="tr-TR" dirty="0">
              <a:latin typeface="Times" charset="0"/>
              <a:ea typeface="ＭＳ Ｐゴシック" charset="0"/>
              <a:cs typeface="ＭＳ Ｐゴシック"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xfrm>
            <a:off x="1173163" y="696913"/>
            <a:ext cx="4638675" cy="3479800"/>
          </a:xfrm>
          <a:ln/>
        </p:spPr>
      </p:sp>
      <p:sp>
        <p:nvSpPr>
          <p:cNvPr id="74755"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Asynchronous vs. Synchronous Messages</a:t>
            </a:r>
          </a:p>
          <a:p>
            <a:pPr algn="l"/>
            <a:r>
              <a:rPr lang="en-US" b="1" i="0" u="none" strike="noStrike" dirty="0">
                <a:solidFill>
                  <a:srgbClr val="000000"/>
                </a:solidFill>
                <a:effectLst/>
              </a:rPr>
              <a:t>Key Concepts:</a:t>
            </a:r>
          </a:p>
          <a:p>
            <a:pPr algn="l">
              <a:buFont typeface="+mj-lt"/>
              <a:buAutoNum type="arabicPeriod"/>
            </a:pPr>
            <a:r>
              <a:rPr lang="en-US" b="1" i="0" u="none" strike="noStrike" dirty="0">
                <a:solidFill>
                  <a:srgbClr val="000000"/>
                </a:solidFill>
                <a:effectLst/>
              </a:rPr>
              <a:t>Synchronous 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a:t>
            </a:r>
            <a:r>
              <a:rPr lang="en-US" b="1" i="0" u="none" strike="noStrike" dirty="0">
                <a:solidFill>
                  <a:srgbClr val="000000"/>
                </a:solidFill>
                <a:effectLst/>
              </a:rPr>
              <a:t>sender waits</a:t>
            </a:r>
            <a:r>
              <a:rPr lang="en-US" b="0" i="0" u="none" strike="noStrike" dirty="0">
                <a:solidFill>
                  <a:srgbClr val="000000"/>
                </a:solidFill>
                <a:effectLst/>
              </a:rPr>
              <a:t> for a response before proceeding.</a:t>
            </a:r>
          </a:p>
          <a:p>
            <a:pPr marL="742950" lvl="1" indent="-285750" algn="l">
              <a:buFont typeface="+mj-lt"/>
              <a:buAutoNum type="arabicPeriod"/>
            </a:pPr>
            <a:r>
              <a:rPr lang="en-US" b="0" i="0" u="none" strike="noStrike" dirty="0">
                <a:solidFill>
                  <a:srgbClr val="000000"/>
                </a:solidFill>
                <a:effectLst/>
              </a:rPr>
              <a:t>Example: Calling a function and waiting for it to complete before continuing execution.</a:t>
            </a:r>
          </a:p>
          <a:p>
            <a:pPr marL="742950" lvl="1" indent="-285750" algn="l">
              <a:buFont typeface="+mj-lt"/>
              <a:buAutoNum type="arabicPeriod"/>
            </a:pPr>
            <a:r>
              <a:rPr lang="en-US" b="0" i="0" u="none" strike="noStrike" dirty="0">
                <a:solidFill>
                  <a:srgbClr val="000000"/>
                </a:solidFill>
                <a:effectLst/>
              </a:rPr>
              <a:t>In UML, represented with </a:t>
            </a:r>
            <a:r>
              <a:rPr lang="en-US" b="1" i="0" u="none" strike="noStrike" dirty="0">
                <a:solidFill>
                  <a:srgbClr val="000000"/>
                </a:solidFill>
                <a:effectLst/>
              </a:rPr>
              <a:t>solid arrows</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Asynchronous 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a:t>
            </a:r>
            <a:r>
              <a:rPr lang="en-US" b="1" i="0" u="none" strike="noStrike" dirty="0">
                <a:solidFill>
                  <a:srgbClr val="000000"/>
                </a:solidFill>
                <a:effectLst/>
              </a:rPr>
              <a:t>sender does not wait</a:t>
            </a:r>
            <a:r>
              <a:rPr lang="en-US" b="0" i="0" u="none" strike="noStrike" dirty="0">
                <a:solidFill>
                  <a:srgbClr val="000000"/>
                </a:solidFill>
                <a:effectLst/>
              </a:rPr>
              <a:t> for a response.</a:t>
            </a:r>
          </a:p>
          <a:p>
            <a:pPr marL="742950" lvl="1" indent="-285750" algn="l">
              <a:buFont typeface="+mj-lt"/>
              <a:buAutoNum type="arabicPeriod"/>
            </a:pPr>
            <a:r>
              <a:rPr lang="en-US" b="0" i="0" u="none" strike="noStrike" dirty="0">
                <a:solidFill>
                  <a:srgbClr val="000000"/>
                </a:solidFill>
                <a:effectLst/>
              </a:rPr>
              <a:t>Execution continues immediately after sending the message.</a:t>
            </a:r>
          </a:p>
          <a:p>
            <a:pPr marL="742950" lvl="1" indent="-285750" algn="l">
              <a:buFont typeface="+mj-lt"/>
              <a:buAutoNum type="arabicPeriod"/>
            </a:pPr>
            <a:r>
              <a:rPr lang="en-US" b="0" i="0" u="none" strike="noStrike" dirty="0">
                <a:solidFill>
                  <a:srgbClr val="000000"/>
                </a:solidFill>
                <a:effectLst/>
              </a:rPr>
              <a:t>Common in </a:t>
            </a:r>
            <a:r>
              <a:rPr lang="en-US" b="1" i="0" u="none" strike="noStrike" dirty="0">
                <a:solidFill>
                  <a:srgbClr val="000000"/>
                </a:solidFill>
                <a:effectLst/>
              </a:rPr>
              <a:t>multi-threaded environments</a:t>
            </a:r>
            <a:r>
              <a:rPr lang="en-US" b="0" i="0" u="none" strike="noStrike" dirty="0">
                <a:solidFill>
                  <a:srgbClr val="000000"/>
                </a:solidFill>
                <a:effectLst/>
              </a:rPr>
              <a:t>, where multiple tasks run concurrently.</a:t>
            </a:r>
          </a:p>
          <a:p>
            <a:pPr marL="742950" lvl="1" indent="-285750" algn="l">
              <a:buFont typeface="+mj-lt"/>
              <a:buAutoNum type="arabicPeriod"/>
            </a:pPr>
            <a:r>
              <a:rPr lang="en-US" b="0" i="0" u="none" strike="noStrike" dirty="0">
                <a:solidFill>
                  <a:srgbClr val="000000"/>
                </a:solidFill>
                <a:effectLst/>
              </a:rPr>
              <a:t>In UML, represented with </a:t>
            </a:r>
            <a:r>
              <a:rPr lang="en-US" b="1" i="0" u="none" strike="noStrike" dirty="0">
                <a:solidFill>
                  <a:srgbClr val="000000"/>
                </a:solidFill>
                <a:effectLst/>
              </a:rPr>
              <a:t>stick arrows</a:t>
            </a:r>
            <a:r>
              <a:rPr lang="en-US" b="0" i="0" u="none" strike="noStrike" dirty="0">
                <a:solidFill>
                  <a:srgbClr val="000000"/>
                </a:solidFill>
                <a:effectLst/>
              </a:rPr>
              <a:t>.</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Synchronous messaging is like asking a question and waiting for an answer before proceeding.</a:t>
            </a:r>
          </a:p>
          <a:p>
            <a:pPr algn="l">
              <a:buFont typeface="Arial" panose="020B0604020202020204" pitchFamily="34" charset="0"/>
              <a:buChar char="•"/>
            </a:pPr>
            <a:r>
              <a:rPr lang="en-US" b="0" i="0" u="none" strike="noStrike" dirty="0">
                <a:solidFill>
                  <a:srgbClr val="000000"/>
                </a:solidFill>
                <a:effectLst/>
              </a:rPr>
              <a:t>Asynchronous messaging is like sending an email—you continue with other tasks while waiting for a reply.</a:t>
            </a:r>
          </a:p>
          <a:p>
            <a:pPr algn="l">
              <a:buFont typeface="Arial" panose="020B0604020202020204" pitchFamily="34" charset="0"/>
              <a:buChar char="•"/>
            </a:pPr>
            <a:r>
              <a:rPr lang="en-US" b="1" i="0" u="none" strike="noStrike" dirty="0">
                <a:solidFill>
                  <a:srgbClr val="000000"/>
                </a:solidFill>
                <a:effectLst/>
              </a:rPr>
              <a:t>Use Cases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Synchronous: Critical operations, like database queries.</a:t>
            </a:r>
          </a:p>
          <a:p>
            <a:pPr marL="742950" lvl="1" indent="-285750" algn="l">
              <a:buFont typeface="Arial" panose="020B0604020202020204" pitchFamily="34" charset="0"/>
              <a:buChar char="•"/>
            </a:pPr>
            <a:r>
              <a:rPr lang="en-US" b="0" i="0" u="none" strike="noStrike" dirty="0">
                <a:solidFill>
                  <a:srgbClr val="000000"/>
                </a:solidFill>
                <a:effectLst/>
              </a:rPr>
              <a:t>Asynchronous: Background tasks, like sending notifications.</a:t>
            </a:r>
          </a:p>
          <a:p>
            <a:endParaRPr lang="tr-TR" dirty="0">
              <a:latin typeface="Times" charset="0"/>
              <a:ea typeface="ＭＳ Ｐゴシック" charset="0"/>
              <a:cs typeface="ＭＳ Ｐゴシック" charset="0"/>
            </a:endParaRPr>
          </a:p>
          <a:p>
            <a:endParaRPr lang="tr-TR" dirty="0">
              <a:latin typeface="Times" charset="0"/>
              <a:ea typeface="ＭＳ Ｐゴシック" charset="0"/>
              <a:cs typeface="ＭＳ Ｐゴシック" charset="0"/>
            </a:endParaRPr>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xfrm>
            <a:off x="1173163" y="696913"/>
            <a:ext cx="4638675" cy="3479800"/>
          </a:xfrm>
          <a:ln/>
        </p:spPr>
      </p:sp>
      <p:sp>
        <p:nvSpPr>
          <p:cNvPr id="76803"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Asynchronous vs. Synchronous Calls in UML</a:t>
            </a:r>
          </a:p>
          <a:p>
            <a:pPr algn="l"/>
            <a:r>
              <a:rPr lang="en-US" b="1" i="0" u="none" strike="noStrike" dirty="0">
                <a:solidFill>
                  <a:srgbClr val="000000"/>
                </a:solidFill>
                <a:effectLst/>
              </a:rPr>
              <a:t>Key Concepts:</a:t>
            </a:r>
          </a:p>
          <a:p>
            <a:pPr algn="l">
              <a:buFont typeface="+mj-lt"/>
              <a:buAutoNum type="arabicPeriod"/>
            </a:pPr>
            <a:r>
              <a:rPr lang="en-US" b="1" i="0" u="none" strike="noStrike" dirty="0">
                <a:solidFill>
                  <a:srgbClr val="000000"/>
                </a:solidFill>
                <a:effectLst/>
              </a:rPr>
              <a:t>Representation in UML</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Stick Arrow</a:t>
            </a:r>
            <a:r>
              <a:rPr lang="en-US" b="0" i="0" u="none" strike="noStrike" dirty="0">
                <a:solidFill>
                  <a:srgbClr val="000000"/>
                </a:solidFill>
                <a:effectLst/>
              </a:rPr>
              <a:t>: Asynchronous calls.</a:t>
            </a:r>
          </a:p>
          <a:p>
            <a:pPr marL="742950" lvl="1" indent="-285750" algn="l">
              <a:buFont typeface="+mj-lt"/>
              <a:buAutoNum type="arabicPeriod"/>
            </a:pPr>
            <a:r>
              <a:rPr lang="en-US" b="1" i="0" u="none" strike="noStrike" dirty="0">
                <a:solidFill>
                  <a:srgbClr val="000000"/>
                </a:solidFill>
                <a:effectLst/>
              </a:rPr>
              <a:t>Solid Arrow</a:t>
            </a:r>
            <a:r>
              <a:rPr lang="en-US" b="0" i="0" u="none" strike="noStrike" dirty="0">
                <a:solidFill>
                  <a:srgbClr val="000000"/>
                </a:solidFill>
                <a:effectLst/>
              </a:rPr>
              <a:t>: Synchronous calls.</a:t>
            </a:r>
          </a:p>
          <a:p>
            <a:pPr algn="l">
              <a:buFont typeface="+mj-lt"/>
              <a:buAutoNum type="arabicPeriod"/>
            </a:pPr>
            <a:r>
              <a:rPr lang="en-US" b="1" i="0" u="none" strike="noStrike" dirty="0">
                <a:solidFill>
                  <a:srgbClr val="000000"/>
                </a:solidFill>
                <a:effectLst/>
              </a:rPr>
              <a:t>Active Object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Each instance controls its own thread of execution.</a:t>
            </a:r>
          </a:p>
          <a:p>
            <a:pPr marL="742950" lvl="1" indent="-285750" algn="l">
              <a:buFont typeface="+mj-lt"/>
              <a:buAutoNum type="arabicPeriod"/>
            </a:pPr>
            <a:r>
              <a:rPr lang="en-US" b="0" i="0" u="none" strike="noStrike" dirty="0">
                <a:solidFill>
                  <a:srgbClr val="000000"/>
                </a:solidFill>
                <a:effectLst/>
              </a:rPr>
              <a:t>Example: A Clock object that runs independently and performs tasks.</a:t>
            </a:r>
          </a:p>
          <a:p>
            <a:pPr algn="l">
              <a:buFont typeface="+mj-lt"/>
              <a:buAutoNum type="arabicPeriod"/>
            </a:pPr>
            <a:r>
              <a:rPr lang="en-US" b="1" i="0" u="none" strike="noStrike" dirty="0">
                <a:solidFill>
                  <a:srgbClr val="000000"/>
                </a:solidFill>
                <a:effectLst/>
              </a:rPr>
              <a:t>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0" i="0" u="none" strike="noStrike" dirty="0" err="1">
                <a:solidFill>
                  <a:srgbClr val="000000"/>
                </a:solidFill>
                <a:effectLst/>
              </a:rPr>
              <a:t>startClock</a:t>
            </a:r>
            <a:r>
              <a:rPr lang="en-US" b="0" i="0" u="none" strike="noStrike" dirty="0">
                <a:solidFill>
                  <a:srgbClr val="000000"/>
                </a:solidFill>
                <a:effectLst/>
              </a:rPr>
              <a:t> message is sent from :</a:t>
            </a:r>
            <a:r>
              <a:rPr lang="en-US" b="0" i="0" u="none" strike="noStrike" dirty="0" err="1">
                <a:solidFill>
                  <a:srgbClr val="000000"/>
                </a:solidFill>
                <a:effectLst/>
              </a:rPr>
              <a:t>ClockStarter</a:t>
            </a:r>
            <a:r>
              <a:rPr lang="en-US" b="0" i="0" u="none" strike="noStrike" dirty="0">
                <a:solidFill>
                  <a:srgbClr val="000000"/>
                </a:solidFill>
                <a:effectLst/>
              </a:rPr>
              <a:t> to :Clock.</a:t>
            </a:r>
          </a:p>
          <a:p>
            <a:pPr marL="742950" lvl="1" indent="-285750" algn="l">
              <a:buFont typeface="+mj-lt"/>
              <a:buAutoNum type="arabicPeriod"/>
            </a:pPr>
            <a:r>
              <a:rPr lang="en-US" b="1" i="0" u="none" strike="noStrike" dirty="0">
                <a:solidFill>
                  <a:srgbClr val="000000"/>
                </a:solidFill>
                <a:effectLst/>
              </a:rPr>
              <a:t>Asynchronous Call</a:t>
            </a:r>
            <a:r>
              <a:rPr lang="en-US" b="0" i="0" u="none" strike="noStrike" dirty="0">
                <a:solidFill>
                  <a:srgbClr val="000000"/>
                </a:solidFill>
                <a:effectLst/>
              </a:rPr>
              <a:t>:</a:t>
            </a:r>
          </a:p>
          <a:p>
            <a:pPr marL="1143000" lvl="2" indent="-228600" algn="l">
              <a:buFont typeface="+mj-lt"/>
              <a:buAutoNum type="arabicPeriod"/>
            </a:pPr>
            <a:r>
              <a:rPr lang="en-US" b="0" i="0" u="none" strike="noStrike" dirty="0" err="1">
                <a:solidFill>
                  <a:srgbClr val="000000"/>
                </a:solidFill>
                <a:effectLst/>
              </a:rPr>
              <a:t>startClock</a:t>
            </a:r>
            <a:r>
              <a:rPr lang="en-US" b="0" i="0" u="none" strike="noStrike" dirty="0">
                <a:solidFill>
                  <a:srgbClr val="000000"/>
                </a:solidFill>
                <a:effectLst/>
              </a:rPr>
              <a:t> creates a thread (run method of Clock object is executed).</a:t>
            </a:r>
          </a:p>
          <a:p>
            <a:pPr marL="1143000" lvl="2" indent="-228600" algn="l">
              <a:buFont typeface="+mj-lt"/>
              <a:buAutoNum type="arabicPeriod"/>
            </a:pPr>
            <a:r>
              <a:rPr lang="en-US" b="0" i="0" u="none" strike="noStrike" dirty="0">
                <a:solidFill>
                  <a:srgbClr val="000000"/>
                </a:solidFill>
                <a:effectLst/>
              </a:rPr>
              <a:t>Allows the calling thread to continue without waiting.</a:t>
            </a:r>
          </a:p>
          <a:p>
            <a:pPr algn="l">
              <a:buFont typeface="+mj-lt"/>
              <a:buAutoNum type="arabicPeriod"/>
            </a:pPr>
            <a:r>
              <a:rPr lang="en-US" b="1" i="0" u="none" strike="noStrike" dirty="0">
                <a:solidFill>
                  <a:srgbClr val="000000"/>
                </a:solidFill>
                <a:effectLst/>
              </a:rPr>
              <a:t>Simplification in UML</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Thread creation and initialization details are often omitted to reduce diagram complexity.</a:t>
            </a:r>
          </a:p>
          <a:p>
            <a:pPr marL="742950" lvl="1" indent="-285750" algn="l">
              <a:buFont typeface="+mj-lt"/>
              <a:buAutoNum type="arabicPeriod"/>
            </a:pPr>
            <a:r>
              <a:rPr lang="en-US" b="0" i="0" u="none" strike="noStrike" dirty="0">
                <a:solidFill>
                  <a:srgbClr val="000000"/>
                </a:solidFill>
                <a:effectLst/>
              </a:rPr>
              <a:t>Only essential details (like the run method) are shown.</a:t>
            </a:r>
          </a:p>
          <a:p>
            <a:pPr algn="l"/>
            <a:r>
              <a:rPr lang="en-US" b="1" i="0" u="none" strike="noStrike" dirty="0">
                <a:solidFill>
                  <a:srgbClr val="000000"/>
                </a:solidFill>
                <a:effectLst/>
              </a:rPr>
              <a:t>English Explanation:</a:t>
            </a:r>
          </a:p>
          <a:p>
            <a:pPr algn="l">
              <a:buFont typeface="Arial" panose="020B0604020202020204" pitchFamily="34" charset="0"/>
              <a:buChar char="•"/>
            </a:pPr>
            <a:r>
              <a:rPr lang="en-US" b="0" i="0" u="none" strike="noStrike" dirty="0">
                <a:solidFill>
                  <a:srgbClr val="000000"/>
                </a:solidFill>
                <a:effectLst/>
              </a:rPr>
              <a:t>The diagram illustrates how asynchronous and synchronous calls are represented in UML.</a:t>
            </a:r>
          </a:p>
          <a:p>
            <a:pPr algn="l">
              <a:buFont typeface="Arial" panose="020B0604020202020204" pitchFamily="34" charset="0"/>
              <a:buChar char="•"/>
            </a:pPr>
            <a:r>
              <a:rPr lang="en-US" b="0" i="0" u="none" strike="noStrike" dirty="0">
                <a:solidFill>
                  <a:srgbClr val="000000"/>
                </a:solidFill>
                <a:effectLst/>
              </a:rPr>
              <a:t>In multi-threaded environments:</a:t>
            </a:r>
          </a:p>
          <a:p>
            <a:pPr marL="742950" lvl="1" indent="-285750" algn="l">
              <a:buFont typeface="Arial" panose="020B0604020202020204" pitchFamily="34" charset="0"/>
              <a:buChar char="•"/>
            </a:pPr>
            <a:r>
              <a:rPr lang="en-US" b="0" i="0" u="none" strike="noStrike" dirty="0">
                <a:solidFill>
                  <a:srgbClr val="000000"/>
                </a:solidFill>
                <a:effectLst/>
              </a:rPr>
              <a:t>Asynchronous calls let threads execute concurrently, improving efficiency.</a:t>
            </a:r>
          </a:p>
          <a:p>
            <a:pPr marL="742950" lvl="1" indent="-285750" algn="l">
              <a:buFont typeface="Arial" panose="020B0604020202020204" pitchFamily="34" charset="0"/>
              <a:buChar char="•"/>
            </a:pPr>
            <a:r>
              <a:rPr lang="en-US" b="0" i="0" u="none" strike="noStrike" dirty="0">
                <a:solidFill>
                  <a:srgbClr val="000000"/>
                </a:solidFill>
                <a:effectLst/>
              </a:rPr>
              <a:t>For example, a clock application independently tracks time while the main system performs other tasks.</a:t>
            </a:r>
          </a:p>
          <a:p>
            <a:endParaRPr lang="tr-TR" dirty="0">
              <a:latin typeface="Times" charset="0"/>
              <a:ea typeface="ＭＳ Ｐゴシック" charset="0"/>
              <a:cs typeface="ＭＳ Ｐゴシック" charset="0"/>
            </a:endParaRPr>
          </a:p>
        </p:txBody>
      </p:sp>
      <p:sp>
        <p:nvSpPr>
          <p:cNvPr id="7680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78851" name="Rectangle 2"/>
          <p:cNvSpPr>
            <a:spLocks noGrp="1" noRot="1" noChangeAspect="1" noChangeArrowheads="1" noTextEdit="1"/>
          </p:cNvSpPr>
          <p:nvPr>
            <p:ph type="sldImg"/>
          </p:nvPr>
        </p:nvSpPr>
        <p:spPr>
          <a:xfrm>
            <a:off x="1173163" y="696913"/>
            <a:ext cx="4638675" cy="3479800"/>
          </a:xfrm>
          <a:ln/>
        </p:spPr>
      </p:sp>
      <p:sp>
        <p:nvSpPr>
          <p:cNvPr id="7885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Sequence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Purpose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Sequence diagrams are </a:t>
            </a:r>
            <a:r>
              <a:rPr lang="en-US" b="1" i="0" u="none" strike="noStrike" dirty="0">
                <a:solidFill>
                  <a:srgbClr val="000000"/>
                </a:solidFill>
                <a:effectLst/>
              </a:rPr>
              <a:t>interaction diagrams</a:t>
            </a:r>
            <a:r>
              <a:rPr lang="en-US" b="0" i="0" u="none" strike="noStrike" dirty="0">
                <a:solidFill>
                  <a:srgbClr val="000000"/>
                </a:solidFill>
                <a:effectLst/>
              </a:rPr>
              <a:t> that model the </a:t>
            </a:r>
            <a:r>
              <a:rPr lang="en-US" b="1" i="0" u="none" strike="noStrike" dirty="0">
                <a:solidFill>
                  <a:srgbClr val="000000"/>
                </a:solidFill>
                <a:effectLst/>
              </a:rPr>
              <a:t>dynamic behavior</a:t>
            </a:r>
            <a:r>
              <a:rPr lang="en-US" b="0" i="0" u="none" strike="noStrike" dirty="0">
                <a:solidFill>
                  <a:srgbClr val="000000"/>
                </a:solidFill>
                <a:effectLst/>
              </a:rPr>
              <a:t> of a system.</a:t>
            </a:r>
          </a:p>
          <a:p>
            <a:pPr marL="742950" lvl="1" indent="-285750" algn="l">
              <a:buFont typeface="+mj-lt"/>
              <a:buAutoNum type="arabicPeriod"/>
            </a:pPr>
            <a:r>
              <a:rPr lang="en-US" b="0" i="0" u="none" strike="noStrike" dirty="0">
                <a:solidFill>
                  <a:srgbClr val="000000"/>
                </a:solidFill>
                <a:effectLst/>
              </a:rPr>
              <a:t>They help visualize how actors (users/systems) and objects communicate to perform specific actions.</a:t>
            </a:r>
          </a:p>
          <a:p>
            <a:pPr algn="l">
              <a:buFont typeface="+mj-lt"/>
              <a:buAutoNum type="arabicPeriod"/>
            </a:pPr>
            <a:r>
              <a:rPr lang="en-US" b="1" i="0" u="none" strike="noStrike" dirty="0">
                <a:solidFill>
                  <a:srgbClr val="000000"/>
                </a:solidFill>
                <a:effectLst/>
              </a:rPr>
              <a:t>Applications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Show the steps of a </a:t>
            </a:r>
            <a:r>
              <a:rPr lang="en-US" b="1" i="0" u="none" strike="noStrike" dirty="0">
                <a:solidFill>
                  <a:srgbClr val="000000"/>
                </a:solidFill>
                <a:effectLst/>
              </a:rPr>
              <a:t>use case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Illustrate the steps of a specific functionality.</a:t>
            </a:r>
          </a:p>
          <a:p>
            <a:pPr algn="l">
              <a:buFont typeface="+mj-lt"/>
              <a:buAutoNum type="arabicPeriod"/>
            </a:pPr>
            <a:r>
              <a:rPr lang="en-US" b="1" i="0" u="none" strike="noStrike" dirty="0">
                <a:solidFill>
                  <a:srgbClr val="000000"/>
                </a:solidFill>
                <a:effectLst/>
              </a:rPr>
              <a:t>Construction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Often built from </a:t>
            </a:r>
            <a:r>
              <a:rPr lang="en-US" b="1" i="0" u="none" strike="noStrike" dirty="0">
                <a:solidFill>
                  <a:srgbClr val="000000"/>
                </a:solidFill>
                <a:effectLst/>
              </a:rPr>
              <a:t>use case diagrams</a:t>
            </a:r>
            <a:r>
              <a:rPr lang="en-US" b="0" i="0" u="none" strike="noStrike" dirty="0">
                <a:solidFill>
                  <a:srgbClr val="000000"/>
                </a:solidFill>
                <a:effectLst/>
              </a:rPr>
              <a:t> and </a:t>
            </a:r>
            <a:r>
              <a:rPr lang="en-US" b="1" i="0" u="none" strike="noStrike" dirty="0">
                <a:solidFill>
                  <a:srgbClr val="000000"/>
                </a:solidFill>
                <a:effectLst/>
              </a:rPr>
              <a:t>class diagrams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Objective: Demonstrate how a group of objects work together to fulfill interactions with an actor.</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Sequence diagrams are used to understand the </a:t>
            </a:r>
            <a:r>
              <a:rPr lang="en-US" b="1" i="0" u="none" strike="noStrike" dirty="0">
                <a:solidFill>
                  <a:srgbClr val="000000"/>
                </a:solidFill>
                <a:effectLst/>
              </a:rPr>
              <a:t>flow of interactions</a:t>
            </a:r>
            <a:r>
              <a:rPr lang="en-US" b="0" i="0" u="none" strike="noStrike" dirty="0">
                <a:solidFill>
                  <a:srgbClr val="000000"/>
                </a:solidFill>
                <a:effectLst/>
              </a:rPr>
              <a:t> between objects in a system. They are especially useful for:</a:t>
            </a:r>
          </a:p>
          <a:p>
            <a:pPr algn="l">
              <a:buFont typeface="Arial" panose="020B0604020202020204" pitchFamily="34" charset="0"/>
              <a:buChar char="•"/>
            </a:pPr>
            <a:r>
              <a:rPr lang="en-US" b="0" i="0" u="none" strike="noStrike" dirty="0">
                <a:solidFill>
                  <a:srgbClr val="000000"/>
                </a:solidFill>
                <a:effectLst/>
              </a:rPr>
              <a:t>Designing or explaining system workflows.</a:t>
            </a:r>
          </a:p>
          <a:p>
            <a:pPr algn="l">
              <a:buFont typeface="Arial" panose="020B0604020202020204" pitchFamily="34" charset="0"/>
              <a:buChar char="•"/>
            </a:pPr>
            <a:r>
              <a:rPr lang="en-US" b="0" i="0" u="none" strike="noStrike" dirty="0">
                <a:solidFill>
                  <a:srgbClr val="000000"/>
                </a:solidFill>
                <a:effectLst/>
              </a:rPr>
              <a:t>Breaking down complex processes into </a:t>
            </a:r>
            <a:r>
              <a:rPr lang="en-US" b="1" i="0" u="none" strike="noStrike" dirty="0">
                <a:solidFill>
                  <a:srgbClr val="000000"/>
                </a:solidFill>
                <a:effectLst/>
              </a:rPr>
              <a:t>step-by-step visualizations</a:t>
            </a:r>
            <a:r>
              <a:rPr lang="en-US" b="0" i="0" u="none" strike="noStrike" dirty="0">
                <a:solidFill>
                  <a:srgbClr val="000000"/>
                </a:solidFill>
                <a:effectLst/>
              </a:rPr>
              <a:t>.</a:t>
            </a:r>
          </a:p>
          <a:p>
            <a:pPr algn="l"/>
            <a:r>
              <a:rPr lang="en-US" b="0" i="0" u="none" strike="noStrike" dirty="0">
                <a:solidFill>
                  <a:srgbClr val="000000"/>
                </a:solidFill>
                <a:effectLst/>
              </a:rPr>
              <a:t>Example: In an e-commerce system, a sequence diagram could show how a user adds items to a cart, makes a payment, and receives a confirmation.</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80899" name="Rectangle 2"/>
          <p:cNvSpPr>
            <a:spLocks noGrp="1" noRot="1" noChangeAspect="1" noChangeArrowheads="1" noTextEdit="1"/>
          </p:cNvSpPr>
          <p:nvPr>
            <p:ph type="sldImg"/>
          </p:nvPr>
        </p:nvSpPr>
        <p:spPr>
          <a:xfrm>
            <a:off x="1173163" y="696913"/>
            <a:ext cx="4638675" cy="3479800"/>
          </a:xfrm>
          <a:ln/>
        </p:spPr>
      </p:sp>
      <p:sp>
        <p:nvSpPr>
          <p:cNvPr id="8090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Communication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Purpose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Emphasize </a:t>
            </a:r>
            <a:r>
              <a:rPr lang="en-US" b="1" i="0" u="none" strike="noStrike" dirty="0">
                <a:solidFill>
                  <a:srgbClr val="000000"/>
                </a:solidFill>
                <a:effectLst/>
              </a:rPr>
              <a:t>collaboration</a:t>
            </a:r>
            <a:r>
              <a:rPr lang="en-US" b="0" i="0" u="none" strike="noStrike" dirty="0">
                <a:solidFill>
                  <a:srgbClr val="000000"/>
                </a:solidFill>
                <a:effectLst/>
              </a:rPr>
              <a:t> between objects to perform an interaction.</a:t>
            </a:r>
          </a:p>
          <a:p>
            <a:pPr marL="742950" lvl="1" indent="-285750" algn="l">
              <a:buFont typeface="+mj-lt"/>
              <a:buAutoNum type="arabicPeriod"/>
            </a:pPr>
            <a:r>
              <a:rPr lang="en-US" b="0" i="0" u="none" strike="noStrike" dirty="0">
                <a:solidFill>
                  <a:srgbClr val="000000"/>
                </a:solidFill>
                <a:effectLst/>
              </a:rPr>
              <a:t>Show </a:t>
            </a:r>
            <a:r>
              <a:rPr lang="en-US" b="1" i="0" u="none" strike="noStrike" dirty="0">
                <a:solidFill>
                  <a:srgbClr val="000000"/>
                </a:solidFill>
                <a:effectLst/>
              </a:rPr>
              <a:t>how objects are linked</a:t>
            </a:r>
            <a:r>
              <a:rPr lang="en-US" b="0" i="0" u="none" strike="noStrike" dirty="0">
                <a:solidFill>
                  <a:srgbClr val="000000"/>
                </a:solidFill>
                <a:effectLst/>
              </a:rPr>
              <a:t> and </a:t>
            </a:r>
            <a:r>
              <a:rPr lang="en-US" b="1" i="0" u="none" strike="noStrike" dirty="0">
                <a:solidFill>
                  <a:srgbClr val="000000"/>
                </a:solidFill>
                <a:effectLst/>
              </a:rPr>
              <a:t>how messages flow</a:t>
            </a:r>
            <a:r>
              <a:rPr lang="en-US" b="0" i="0" u="none" strike="noStrike" dirty="0">
                <a:solidFill>
                  <a:srgbClr val="000000"/>
                </a:solidFill>
                <a:effectLst/>
              </a:rPr>
              <a:t> between them.</a:t>
            </a:r>
          </a:p>
          <a:p>
            <a:pPr algn="l">
              <a:buFont typeface="+mj-lt"/>
              <a:buAutoNum type="arabicPeriod"/>
            </a:pPr>
            <a:r>
              <a:rPr lang="en-US" b="1" i="0" u="none" strike="noStrike" dirty="0">
                <a:solidFill>
                  <a:srgbClr val="000000"/>
                </a:solidFill>
                <a:effectLst/>
              </a:rPr>
              <a:t>Structure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Represented as a graph where:</a:t>
            </a:r>
          </a:p>
          <a:p>
            <a:pPr marL="1143000" lvl="2" indent="-228600" algn="l">
              <a:buFont typeface="+mj-lt"/>
              <a:buAutoNum type="arabicPeriod"/>
            </a:pPr>
            <a:r>
              <a:rPr lang="en-US" b="1" i="0" u="none" strike="noStrike" dirty="0">
                <a:solidFill>
                  <a:srgbClr val="000000"/>
                </a:solidFill>
                <a:effectLst/>
              </a:rPr>
              <a:t>Objects</a:t>
            </a:r>
            <a:r>
              <a:rPr lang="en-US" b="0" i="0" u="none" strike="noStrike" dirty="0">
                <a:solidFill>
                  <a:srgbClr val="000000"/>
                </a:solidFill>
                <a:effectLst/>
              </a:rPr>
              <a:t> are vertices (nodes).</a:t>
            </a:r>
          </a:p>
          <a:p>
            <a:pPr marL="1143000" lvl="2" indent="-228600" algn="l">
              <a:buFont typeface="+mj-lt"/>
              <a:buAutoNum type="arabicPeriod"/>
            </a:pPr>
            <a:r>
              <a:rPr lang="en-US" b="1" i="0" u="none" strike="noStrike" dirty="0">
                <a:solidFill>
                  <a:srgbClr val="000000"/>
                </a:solidFill>
                <a:effectLst/>
              </a:rPr>
              <a:t>Communication links</a:t>
            </a:r>
            <a:r>
              <a:rPr lang="en-US" b="0" i="0" u="none" strike="noStrike" dirty="0">
                <a:solidFill>
                  <a:srgbClr val="000000"/>
                </a:solidFill>
                <a:effectLst/>
              </a:rPr>
              <a:t> are edges (connections).</a:t>
            </a:r>
          </a:p>
          <a:p>
            <a:pPr algn="l">
              <a:buFont typeface="+mj-lt"/>
              <a:buAutoNum type="arabicPeriod"/>
            </a:pPr>
            <a:r>
              <a:rPr lang="en-US" b="1" i="0" u="none" strike="noStrike" dirty="0">
                <a:solidFill>
                  <a:srgbClr val="000000"/>
                </a:solidFill>
                <a:effectLst/>
              </a:rPr>
              <a:t>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Attached to the communication links as </a:t>
            </a:r>
            <a:r>
              <a:rPr lang="en-US" b="1" i="0" u="none" strike="noStrike" dirty="0">
                <a:solidFill>
                  <a:srgbClr val="000000"/>
                </a:solidFill>
                <a:effectLst/>
              </a:rPr>
              <a:t>arrows</a:t>
            </a:r>
            <a:r>
              <a:rPr lang="en-US" b="0" i="0" u="none" strike="noStrike" dirty="0">
                <a:solidFill>
                  <a:srgbClr val="000000"/>
                </a:solidFill>
                <a:effectLst/>
              </a:rPr>
              <a:t> labeled with the message name.</a:t>
            </a:r>
          </a:p>
          <a:p>
            <a:pPr marL="742950" lvl="1" indent="-285750" algn="l">
              <a:buFont typeface="+mj-lt"/>
              <a:buAutoNum type="arabicPeriod"/>
            </a:pPr>
            <a:r>
              <a:rPr lang="en-US" b="0" i="0" u="none" strike="noStrike" dirty="0">
                <a:solidFill>
                  <a:srgbClr val="000000"/>
                </a:solidFill>
                <a:effectLst/>
              </a:rPr>
              <a:t>Time ordering is represented by </a:t>
            </a:r>
            <a:r>
              <a:rPr lang="en-US" b="1" i="0" u="none" strike="noStrike" dirty="0">
                <a:solidFill>
                  <a:srgbClr val="000000"/>
                </a:solidFill>
                <a:effectLst/>
              </a:rPr>
              <a:t>numbering</a:t>
            </a:r>
            <a:r>
              <a:rPr lang="en-US" b="0" i="0" u="none" strike="noStrike" dirty="0">
                <a:solidFill>
                  <a:srgbClr val="000000"/>
                </a:solidFill>
                <a:effectLst/>
              </a:rPr>
              <a:t> the messages.</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Communication diagrams focus on </a:t>
            </a:r>
            <a:r>
              <a:rPr lang="en-US" b="1" i="0" u="none" strike="noStrike" dirty="0">
                <a:solidFill>
                  <a:srgbClr val="000000"/>
                </a:solidFill>
                <a:effectLst/>
              </a:rPr>
              <a:t>how objects collaborate</a:t>
            </a:r>
            <a:r>
              <a:rPr lang="en-US" b="0" i="0" u="none" strike="noStrike" dirty="0">
                <a:solidFill>
                  <a:srgbClr val="000000"/>
                </a:solidFill>
                <a:effectLst/>
              </a:rPr>
              <a:t> rather than the sequence of actions. They are useful for understanding </a:t>
            </a:r>
            <a:r>
              <a:rPr lang="en-US" b="1" i="0" u="none" strike="noStrike" dirty="0">
                <a:solidFill>
                  <a:srgbClr val="000000"/>
                </a:solidFill>
                <a:effectLst/>
              </a:rPr>
              <a:t>relationships</a:t>
            </a:r>
            <a:r>
              <a:rPr lang="en-US" b="0" i="0" u="none" strike="noStrike" dirty="0">
                <a:solidFill>
                  <a:srgbClr val="000000"/>
                </a:solidFill>
                <a:effectLst/>
              </a:rPr>
              <a:t> and </a:t>
            </a:r>
            <a:r>
              <a:rPr lang="en-US" b="1" i="0" u="none" strike="noStrike" dirty="0">
                <a:solidFill>
                  <a:srgbClr val="000000"/>
                </a:solidFill>
                <a:effectLst/>
              </a:rPr>
              <a:t>interactions</a:t>
            </a:r>
            <a:r>
              <a:rPr lang="en-US" b="0" i="0" u="none" strike="noStrike" dirty="0">
                <a:solidFill>
                  <a:srgbClr val="000000"/>
                </a:solidFill>
                <a:effectLst/>
              </a:rPr>
              <a:t> between system components.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82947" name="Rectangle 2"/>
          <p:cNvSpPr>
            <a:spLocks noGrp="1" noRot="1" noChangeAspect="1" noChangeArrowheads="1" noTextEdit="1"/>
          </p:cNvSpPr>
          <p:nvPr>
            <p:ph type="sldImg"/>
          </p:nvPr>
        </p:nvSpPr>
        <p:spPr>
          <a:xfrm>
            <a:off x="1173163" y="696913"/>
            <a:ext cx="4638675" cy="3479800"/>
          </a:xfrm>
          <a:ln/>
        </p:spPr>
      </p:sp>
      <p:sp>
        <p:nvSpPr>
          <p:cNvPr id="82948"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Example Communication Diagram</a:t>
            </a:r>
          </a:p>
          <a:p>
            <a:pPr algn="l"/>
            <a:r>
              <a:rPr lang="en-US" b="1" i="0" u="none" strike="noStrike" dirty="0">
                <a:solidFill>
                  <a:srgbClr val="000000"/>
                </a:solidFill>
                <a:effectLst/>
              </a:rPr>
              <a:t>Explanation:</a:t>
            </a:r>
          </a:p>
          <a:p>
            <a:pPr algn="l">
              <a:buFont typeface="Arial" panose="020B0604020202020204" pitchFamily="34" charset="0"/>
              <a:buChar char="•"/>
            </a:pPr>
            <a:r>
              <a:rPr lang="en-US" b="1" i="0" u="none" strike="noStrike" dirty="0">
                <a:solidFill>
                  <a:srgbClr val="000000"/>
                </a:solidFill>
                <a:effectLst/>
              </a:rPr>
              <a:t>Context</a:t>
            </a:r>
            <a:r>
              <a:rPr lang="en-US" b="0" i="0" u="none" strike="noStrike" dirty="0">
                <a:solidFill>
                  <a:srgbClr val="000000"/>
                </a:solidFill>
                <a:effectLst/>
              </a:rPr>
              <a:t>: Student course registration.</a:t>
            </a:r>
          </a:p>
          <a:p>
            <a:pPr algn="l">
              <a:buFont typeface="Arial" panose="020B0604020202020204" pitchFamily="34" charset="0"/>
              <a:buChar char="•"/>
            </a:pPr>
            <a:r>
              <a:rPr lang="en-US" b="1" i="0" u="none" strike="noStrike" dirty="0">
                <a:solidFill>
                  <a:srgbClr val="000000"/>
                </a:solidFill>
                <a:effectLst/>
              </a:rPr>
              <a:t>Objects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CourseSection</a:t>
            </a:r>
            <a:r>
              <a:rPr lang="en-US" b="0" i="0" u="none" strike="noStrike" dirty="0">
                <a:solidFill>
                  <a:srgbClr val="000000"/>
                </a:solidFill>
                <a:effectLst/>
              </a:rPr>
              <a:t>: Handles course registration.</a:t>
            </a:r>
          </a:p>
          <a:p>
            <a:pPr marL="742950" lvl="1" indent="-285750" algn="l">
              <a:buFont typeface="Arial" panose="020B0604020202020204" pitchFamily="34" charset="0"/>
              <a:buChar char="•"/>
            </a:pPr>
            <a:r>
              <a:rPr lang="en-US" b="0" i="0" u="none" strike="noStrike" dirty="0">
                <a:solidFill>
                  <a:srgbClr val="000000"/>
                </a:solidFill>
                <a:effectLst/>
              </a:rPr>
              <a:t>Registration: Tracks the student’s enrollment.</a:t>
            </a:r>
          </a:p>
          <a:p>
            <a:pPr marL="742950" lvl="1" indent="-285750" algn="l">
              <a:buFont typeface="Arial" panose="020B0604020202020204" pitchFamily="34" charset="0"/>
              <a:buChar char="•"/>
            </a:pPr>
            <a:r>
              <a:rPr lang="en-US" b="0" i="0" u="none" strike="noStrike" dirty="0">
                <a:solidFill>
                  <a:srgbClr val="000000"/>
                </a:solidFill>
                <a:effectLst/>
              </a:rPr>
              <a:t>Student: The entity being registered.</a:t>
            </a:r>
          </a:p>
          <a:p>
            <a:pPr marL="742950" lvl="1" indent="-285750" algn="l">
              <a:buFont typeface="Arial" panose="020B0604020202020204" pitchFamily="34" charset="0"/>
              <a:buChar char="•"/>
            </a:pPr>
            <a:r>
              <a:rPr lang="en-US" b="0" i="0" u="none" strike="noStrike" dirty="0">
                <a:solidFill>
                  <a:srgbClr val="000000"/>
                </a:solidFill>
                <a:effectLst/>
              </a:rPr>
              <a:t>Course: Provides prerequisite information.</a:t>
            </a:r>
          </a:p>
          <a:p>
            <a:pPr algn="l">
              <a:buFont typeface="Arial" panose="020B0604020202020204" pitchFamily="34" charset="0"/>
              <a:buChar char="•"/>
            </a:pPr>
            <a:r>
              <a:rPr lang="en-US" b="1" i="0" u="none" strike="noStrike" dirty="0">
                <a:solidFill>
                  <a:srgbClr val="000000"/>
                </a:solidFill>
                <a:effectLst/>
              </a:rPr>
              <a:t>Messages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requestToRegister</a:t>
            </a:r>
            <a:r>
              <a:rPr lang="en-US" b="0" i="0" u="none" strike="noStrike" dirty="0">
                <a:solidFill>
                  <a:srgbClr val="000000"/>
                </a:solidFill>
                <a:effectLst/>
              </a:rPr>
              <a:t>: Initiates the registration process.</a:t>
            </a:r>
          </a:p>
          <a:p>
            <a:pPr marL="742950" lvl="1" indent="-285750" algn="l">
              <a:buFont typeface="Arial" panose="020B0604020202020204" pitchFamily="34" charset="0"/>
              <a:buChar char="•"/>
            </a:pPr>
            <a:r>
              <a:rPr lang="en-US" b="0" i="0" u="none" strike="noStrike" dirty="0">
                <a:solidFill>
                  <a:srgbClr val="000000"/>
                </a:solidFill>
                <a:effectLst/>
              </a:rPr>
              <a:t>create: Creates a Registration object.</a:t>
            </a:r>
          </a:p>
          <a:p>
            <a:pPr marL="742950" lvl="1" indent="-285750" algn="l">
              <a:buFont typeface="Arial" panose="020B0604020202020204" pitchFamily="34" charset="0"/>
              <a:buChar char="•"/>
            </a:pPr>
            <a:r>
              <a:rPr lang="en-US" b="0" i="0" u="none" strike="noStrike" dirty="0" err="1">
                <a:solidFill>
                  <a:srgbClr val="000000"/>
                </a:solidFill>
                <a:effectLst/>
              </a:rPr>
              <a:t>addToRegistrationList</a:t>
            </a:r>
            <a:r>
              <a:rPr lang="en-US" b="0" i="0" u="none" strike="noStrike" dirty="0">
                <a:solidFill>
                  <a:srgbClr val="000000"/>
                </a:solidFill>
                <a:effectLst/>
              </a:rPr>
              <a:t>: Adds the student to the course list.</a:t>
            </a:r>
          </a:p>
          <a:p>
            <a:pPr marL="742950" lvl="1" indent="-285750" algn="l">
              <a:buFont typeface="Arial" panose="020B0604020202020204" pitchFamily="34" charset="0"/>
              <a:buChar char="•"/>
            </a:pPr>
            <a:r>
              <a:rPr lang="en-US" b="0" i="0" u="none" strike="noStrike" dirty="0" err="1">
                <a:solidFill>
                  <a:srgbClr val="000000"/>
                </a:solidFill>
                <a:effectLst/>
              </a:rPr>
              <a:t>addToSchedule</a:t>
            </a:r>
            <a:r>
              <a:rPr lang="en-US" b="0" i="0" u="none" strike="noStrike" dirty="0">
                <a:solidFill>
                  <a:srgbClr val="000000"/>
                </a:solidFill>
                <a:effectLst/>
              </a:rPr>
              <a:t>: Updates the student’s schedule.</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represents the interaction flow for course registration. It visualizes the collaboration among objects (</a:t>
            </a:r>
            <a:r>
              <a:rPr lang="en-US" b="0" i="0" u="none" strike="noStrike" dirty="0" err="1">
                <a:solidFill>
                  <a:srgbClr val="000000"/>
                </a:solidFill>
                <a:effectLst/>
              </a:rPr>
              <a:t>CourseSection</a:t>
            </a:r>
            <a:r>
              <a:rPr lang="en-US" b="0" i="0" u="none" strike="noStrike" dirty="0">
                <a:solidFill>
                  <a:srgbClr val="000000"/>
                </a:solidFill>
                <a:effectLst/>
              </a:rPr>
              <a:t>, Registration, Student) to complete the process.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84995" name="Rectangle 2"/>
          <p:cNvSpPr>
            <a:spLocks noGrp="1" noRot="1" noChangeAspect="1" noChangeArrowheads="1" noTextEdit="1"/>
          </p:cNvSpPr>
          <p:nvPr>
            <p:ph type="sldImg"/>
          </p:nvPr>
        </p:nvSpPr>
        <p:spPr>
          <a:xfrm>
            <a:off x="1173163" y="696913"/>
            <a:ext cx="4638675" cy="3479800"/>
          </a:xfrm>
          <a:ln/>
        </p:spPr>
      </p:sp>
      <p:sp>
        <p:nvSpPr>
          <p:cNvPr id="8499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Breakdown:</a:t>
            </a:r>
          </a:p>
          <a:p>
            <a:pPr algn="l">
              <a:buFont typeface="+mj-lt"/>
              <a:buAutoNum type="arabicPeriod"/>
            </a:pPr>
            <a:r>
              <a:rPr lang="en-US" b="1" i="0" u="none" strike="noStrike" dirty="0">
                <a:solidFill>
                  <a:srgbClr val="000000"/>
                </a:solidFill>
                <a:effectLst/>
              </a:rPr>
              <a:t>Slide 3: Associations Between Objects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Association</a:t>
            </a:r>
            <a:r>
              <a:rPr lang="en-US" b="0" i="0" u="none" strike="noStrike" dirty="0">
                <a:solidFill>
                  <a:srgbClr val="000000"/>
                </a:solidFill>
                <a:effectLst/>
              </a:rPr>
              <a:t>: Links between objects like </a:t>
            </a:r>
            <a:r>
              <a:rPr lang="en-US" b="0" i="0" u="none" strike="noStrike" dirty="0" err="1">
                <a:solidFill>
                  <a:srgbClr val="000000"/>
                </a:solidFill>
                <a:effectLst/>
              </a:rPr>
              <a:t>CourseSection</a:t>
            </a:r>
            <a:r>
              <a:rPr lang="en-US" b="0" i="0" u="none" strike="noStrike" dirty="0">
                <a:solidFill>
                  <a:srgbClr val="000000"/>
                </a:solidFill>
                <a:effectLst/>
              </a:rPr>
              <a:t> and Registration.</a:t>
            </a:r>
          </a:p>
          <a:p>
            <a:pPr marL="742950" lvl="1" indent="-285750" algn="l">
              <a:buFont typeface="+mj-lt"/>
              <a:buAutoNum type="arabicPeriod"/>
            </a:pPr>
            <a:r>
              <a:rPr lang="en-US" b="0" i="0" u="none" strike="noStrike" dirty="0">
                <a:solidFill>
                  <a:srgbClr val="000000"/>
                </a:solidFill>
                <a:effectLst/>
              </a:rPr>
              <a:t>If all messages flow in one direction, the association can be </a:t>
            </a:r>
            <a:r>
              <a:rPr lang="en-US" b="1" i="0" u="none" strike="noStrike" dirty="0">
                <a:solidFill>
                  <a:srgbClr val="000000"/>
                </a:solidFill>
                <a:effectLst/>
              </a:rPr>
              <a:t>unidirectional</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87043" name="Rectangle 2"/>
          <p:cNvSpPr>
            <a:spLocks noGrp="1" noRot="1" noChangeAspect="1" noChangeArrowheads="1" noTextEdit="1"/>
          </p:cNvSpPr>
          <p:nvPr>
            <p:ph type="sldImg"/>
          </p:nvPr>
        </p:nvSpPr>
        <p:spPr>
          <a:xfrm>
            <a:off x="1173163" y="696913"/>
            <a:ext cx="4638675" cy="3479800"/>
          </a:xfrm>
          <a:ln/>
        </p:spPr>
      </p:sp>
      <p:sp>
        <p:nvSpPr>
          <p:cNvPr id="8704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br>
              <a:rPr lang="en-US" b="1" dirty="0"/>
            </a:br>
            <a:r>
              <a:rPr lang="en-US" b="1" dirty="0"/>
              <a:t>Slide 4: Local Variables</a:t>
            </a:r>
            <a:r>
              <a:rPr lang="en-US" dirty="0"/>
              <a:t>:</a:t>
            </a:r>
          </a:p>
          <a:p>
            <a:pPr>
              <a:buFont typeface="Arial" panose="020B0604020202020204" pitchFamily="34" charset="0"/>
              <a:buChar char="•"/>
            </a:pPr>
            <a:r>
              <a:rPr lang="en-US" dirty="0"/>
              <a:t>A receiving object may be stored as a </a:t>
            </a:r>
            <a:r>
              <a:rPr lang="en-US" b="1" dirty="0"/>
              <a:t>local variable</a:t>
            </a:r>
            <a:r>
              <a:rPr lang="en-US" dirty="0"/>
              <a:t> of the sending method.</a:t>
            </a:r>
          </a:p>
          <a:p>
            <a:pPr>
              <a:buFont typeface="Arial" panose="020B0604020202020204" pitchFamily="34" charset="0"/>
              <a:buChar char="•"/>
            </a:pPr>
            <a:r>
              <a:rPr lang="en-US" dirty="0"/>
              <a:t>Example: </a:t>
            </a:r>
            <a:r>
              <a:rPr lang="en-US" dirty="0" err="1"/>
              <a:t>CourseSection</a:t>
            </a:r>
            <a:r>
              <a:rPr lang="en-US" dirty="0"/>
              <a:t> retrieves a Registration object.</a:t>
            </a:r>
          </a:p>
          <a:p>
            <a:br>
              <a:rPr lang="en-US" dirty="0"/>
            </a:br>
            <a:endParaRPr lang="tr-TR" dirty="0">
              <a:latin typeface="Times" charset="0"/>
              <a:ea typeface="ＭＳ Ｐゴシック" charset="0"/>
              <a:cs typeface="ＭＳ Ｐゴシック"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89091" name="Rectangle 2"/>
          <p:cNvSpPr>
            <a:spLocks noGrp="1" noRot="1" noChangeAspect="1" noChangeArrowheads="1" noTextEdit="1"/>
          </p:cNvSpPr>
          <p:nvPr>
            <p:ph type="sldImg"/>
          </p:nvPr>
        </p:nvSpPr>
        <p:spPr>
          <a:xfrm>
            <a:off x="1173163" y="696913"/>
            <a:ext cx="4638675" cy="3479800"/>
          </a:xfrm>
          <a:ln/>
        </p:spPr>
      </p:sp>
      <p:sp>
        <p:nvSpPr>
          <p:cNvPr id="8909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br>
              <a:rPr lang="en-US" b="1" i="0" u="none" strike="noStrike" dirty="0">
                <a:solidFill>
                  <a:srgbClr val="000000"/>
                </a:solidFill>
                <a:effectLst/>
              </a:rPr>
            </a:br>
            <a:r>
              <a:rPr lang="en-US" b="1" i="0" u="none" strike="noStrike" dirty="0">
                <a:solidFill>
                  <a:srgbClr val="000000"/>
                </a:solidFill>
                <a:effectLst/>
              </a:rPr>
              <a:t>Slide 5: Parameters</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A receiving object can be passed as a </a:t>
            </a:r>
            <a:r>
              <a:rPr lang="en-US" b="1" i="0" u="none" strike="noStrike" dirty="0">
                <a:solidFill>
                  <a:srgbClr val="000000"/>
                </a:solidFill>
                <a:effectLst/>
              </a:rPr>
              <a:t>parameter</a:t>
            </a:r>
            <a:r>
              <a:rPr lang="en-US" b="0" i="0" u="none" strike="noStrike" dirty="0">
                <a:solidFill>
                  <a:srgbClr val="000000"/>
                </a:solidFill>
                <a:effectLst/>
              </a:rPr>
              <a:t> to the sending method.</a:t>
            </a:r>
          </a:p>
          <a:p>
            <a:pPr algn="l">
              <a:buFont typeface="Arial" panose="020B0604020202020204" pitchFamily="34" charset="0"/>
              <a:buChar char="•"/>
            </a:pPr>
            <a:r>
              <a:rPr lang="en-US" b="0" i="0" u="none" strike="noStrike" dirty="0">
                <a:solidFill>
                  <a:srgbClr val="000000"/>
                </a:solidFill>
                <a:effectLst/>
              </a:rPr>
              <a:t>Example: The Student object is passed as a parameter during </a:t>
            </a:r>
            <a:r>
              <a:rPr lang="en-US" b="0" i="0" u="none" strike="noStrike" dirty="0" err="1">
                <a:solidFill>
                  <a:srgbClr val="000000"/>
                </a:solidFill>
                <a:effectLst/>
              </a:rPr>
              <a:t>requestToRegister</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91139" name="Rectangle 2"/>
          <p:cNvSpPr>
            <a:spLocks noGrp="1" noRot="1" noChangeAspect="1" noChangeArrowheads="1" noTextEdit="1"/>
          </p:cNvSpPr>
          <p:nvPr>
            <p:ph type="sldImg"/>
          </p:nvPr>
        </p:nvSpPr>
        <p:spPr>
          <a:xfrm>
            <a:off x="1173163" y="696913"/>
            <a:ext cx="4638675" cy="3479800"/>
          </a:xfrm>
          <a:ln/>
        </p:spPr>
      </p:sp>
      <p:sp>
        <p:nvSpPr>
          <p:cNvPr id="9114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br>
              <a:rPr lang="en-US" b="1" i="0" u="none" strike="noStrike" dirty="0">
                <a:solidFill>
                  <a:srgbClr val="000000"/>
                </a:solidFill>
                <a:effectLst/>
              </a:rPr>
            </a:br>
            <a:r>
              <a:rPr lang="en-US" b="1" i="0" u="none" strike="noStrike" dirty="0">
                <a:solidFill>
                  <a:srgbClr val="000000"/>
                </a:solidFill>
                <a:effectLst/>
              </a:rPr>
              <a:t>Slide 6: Global or Networked Objects</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a:solidFill>
                  <a:srgbClr val="000000"/>
                </a:solidFill>
                <a:effectLst/>
              </a:rPr>
              <a:t>Global</a:t>
            </a:r>
            <a:r>
              <a:rPr lang="en-US" b="0" i="0" u="none" strike="noStrike" dirty="0">
                <a:solidFill>
                  <a:srgbClr val="000000"/>
                </a:solidFill>
                <a:effectLst/>
              </a:rPr>
              <a:t>: An object can be accessed via a static method (global stereotype).</a:t>
            </a:r>
          </a:p>
          <a:p>
            <a:pPr algn="l">
              <a:buFont typeface="Arial" panose="020B0604020202020204" pitchFamily="34" charset="0"/>
              <a:buChar char="•"/>
            </a:pPr>
            <a:r>
              <a:rPr lang="en-US" b="1" i="0" u="none" strike="noStrike" dirty="0">
                <a:solidFill>
                  <a:srgbClr val="000000"/>
                </a:solidFill>
                <a:effectLst/>
              </a:rPr>
              <a:t>Network</a:t>
            </a:r>
            <a:r>
              <a:rPr lang="en-US" b="0" i="0" u="none" strike="noStrike" dirty="0">
                <a:solidFill>
                  <a:srgbClr val="000000"/>
                </a:solidFill>
                <a:effectLst/>
              </a:rPr>
              <a:t>: Objects communicate over a network, marked as «network».</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xfrm>
            <a:off x="1173163" y="696913"/>
            <a:ext cx="4638675" cy="3479800"/>
          </a:xfrm>
          <a:ln/>
        </p:spPr>
      </p:sp>
      <p:sp>
        <p:nvSpPr>
          <p:cNvPr id="9318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Messages to “self” or “this”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message to </a:t>
            </a:r>
            <a:r>
              <a:rPr lang="en-US" b="1" i="0" u="none" strike="noStrike" dirty="0">
                <a:solidFill>
                  <a:srgbClr val="000000"/>
                </a:solidFill>
                <a:effectLst/>
              </a:rPr>
              <a:t>"self"</a:t>
            </a:r>
            <a:r>
              <a:rPr lang="en-US" b="0" i="0" u="none" strike="noStrike" dirty="0">
                <a:solidFill>
                  <a:srgbClr val="000000"/>
                </a:solidFill>
                <a:effectLst/>
              </a:rPr>
              <a:t> refers to an object invoking one of its own methods.</a:t>
            </a:r>
          </a:p>
          <a:p>
            <a:pPr marL="742950" lvl="1" indent="-285750" algn="l">
              <a:buFont typeface="+mj-lt"/>
              <a:buAutoNum type="arabicPeriod"/>
            </a:pPr>
            <a:r>
              <a:rPr lang="en-US" b="0" i="0" u="none" strike="noStrike" dirty="0">
                <a:solidFill>
                  <a:srgbClr val="000000"/>
                </a:solidFill>
                <a:effectLst/>
              </a:rPr>
              <a:t>In UML communication diagrams, this is represented as a looped arrow returning to the same object.</a:t>
            </a:r>
          </a:p>
          <a:p>
            <a:pPr algn="l">
              <a:buFont typeface="+mj-lt"/>
              <a:buAutoNum type="arabicPeriod"/>
            </a:pPr>
            <a:r>
              <a:rPr lang="en-US" b="1" i="0" u="none" strike="noStrike" dirty="0">
                <a:solidFill>
                  <a:srgbClr val="000000"/>
                </a:solidFill>
                <a:effectLst/>
              </a:rPr>
              <a:t>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object :Register receives a message (msg1).</a:t>
            </a:r>
          </a:p>
          <a:p>
            <a:pPr marL="742950" lvl="1" indent="-285750" algn="l">
              <a:buFont typeface="+mj-lt"/>
              <a:buAutoNum type="arabicPeriod"/>
            </a:pPr>
            <a:r>
              <a:rPr lang="en-US" b="0" i="0" u="none" strike="noStrike" dirty="0">
                <a:solidFill>
                  <a:srgbClr val="000000"/>
                </a:solidFill>
                <a:effectLst/>
              </a:rPr>
              <a:t>It calls its own method clear to perform an action internally.</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Messages to “self” or “this” are commonly used for </a:t>
            </a:r>
            <a:r>
              <a:rPr lang="en-US" b="1" i="0" u="none" strike="noStrike" dirty="0">
                <a:solidFill>
                  <a:srgbClr val="000000"/>
                </a:solidFill>
                <a:effectLst/>
              </a:rPr>
              <a:t>internal processing</a:t>
            </a:r>
            <a:r>
              <a:rPr lang="en-US" b="0" i="0" u="none" strike="noStrike" dirty="0">
                <a:solidFill>
                  <a:srgbClr val="000000"/>
                </a:solidFill>
                <a:effectLst/>
              </a:rPr>
              <a:t>. For example:</a:t>
            </a:r>
          </a:p>
          <a:p>
            <a:pPr algn="l">
              <a:buFont typeface="Arial" panose="020B0604020202020204" pitchFamily="34" charset="0"/>
              <a:buChar char="•"/>
            </a:pPr>
            <a:r>
              <a:rPr lang="en-US" b="0" i="0" u="none" strike="noStrike" dirty="0">
                <a:solidFill>
                  <a:srgbClr val="000000"/>
                </a:solidFill>
                <a:effectLst/>
              </a:rPr>
              <a:t>A class method (clear) might reset internal states after an external call (msg1).</a:t>
            </a:r>
          </a:p>
          <a:p>
            <a:pPr algn="l"/>
            <a:r>
              <a:rPr lang="en-US" b="1" i="0" u="none" strike="noStrike" dirty="0">
                <a:solidFill>
                  <a:srgbClr val="000000"/>
                </a:solidFill>
                <a:effectLst/>
              </a:rPr>
              <a:t>Use Case</a:t>
            </a:r>
            <a:r>
              <a:rPr lang="en-US" b="0" i="0" u="none" strike="noStrike" dirty="0">
                <a:solidFill>
                  <a:srgbClr val="000000"/>
                </a:solidFill>
                <a:effectLst/>
              </a:rPr>
              <a:t>: This can happen during:</a:t>
            </a:r>
          </a:p>
          <a:p>
            <a:pPr algn="l">
              <a:buFont typeface="Arial" panose="020B0604020202020204" pitchFamily="34" charset="0"/>
              <a:buChar char="•"/>
            </a:pPr>
            <a:r>
              <a:rPr lang="en-US" b="0" i="0" u="none" strike="noStrike" dirty="0">
                <a:solidFill>
                  <a:srgbClr val="000000"/>
                </a:solidFill>
                <a:effectLst/>
              </a:rPr>
              <a:t>Data cleanup.</a:t>
            </a:r>
          </a:p>
          <a:p>
            <a:pPr algn="l">
              <a:buFont typeface="Arial" panose="020B0604020202020204" pitchFamily="34" charset="0"/>
              <a:buChar char="•"/>
            </a:pPr>
            <a:r>
              <a:rPr lang="en-US" b="0" i="0" u="none" strike="noStrike" dirty="0">
                <a:solidFill>
                  <a:srgbClr val="000000"/>
                </a:solidFill>
                <a:effectLst/>
              </a:rPr>
              <a:t>Recursive calls (though recursion is better suited for sequence diagrams).</a:t>
            </a:r>
          </a:p>
          <a:p>
            <a:endParaRPr lang="tr-TR" dirty="0">
              <a:latin typeface="Times" charset="0"/>
              <a:ea typeface="ＭＳ Ｐゴシック" charset="0"/>
              <a:cs typeface="ＭＳ Ｐゴシック" charset="0"/>
            </a:endParaRPr>
          </a:p>
        </p:txBody>
      </p:sp>
      <p:sp>
        <p:nvSpPr>
          <p:cNvPr id="9318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xfrm>
            <a:off x="1173163" y="696913"/>
            <a:ext cx="4638675" cy="3479800"/>
          </a:xfrm>
          <a:ln/>
        </p:spPr>
      </p:sp>
      <p:sp>
        <p:nvSpPr>
          <p:cNvPr id="95235"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Instance Creation in Communication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Instance creation</a:t>
            </a:r>
            <a:r>
              <a:rPr lang="en-US" b="0" i="0" u="none" strike="noStrike" dirty="0">
                <a:solidFill>
                  <a:srgbClr val="000000"/>
                </a:solidFill>
                <a:effectLst/>
              </a:rPr>
              <a:t> is when one object creates another object.</a:t>
            </a:r>
          </a:p>
          <a:p>
            <a:pPr marL="742950" lvl="1" indent="-285750" algn="l">
              <a:buFont typeface="+mj-lt"/>
              <a:buAutoNum type="arabicPeriod"/>
            </a:pPr>
            <a:r>
              <a:rPr lang="en-US" b="0" i="0" u="none" strike="noStrike" dirty="0">
                <a:solidFill>
                  <a:srgbClr val="000000"/>
                </a:solidFill>
                <a:effectLst/>
              </a:rPr>
              <a:t>Represented in communication diagrams with a </a:t>
            </a:r>
            <a:r>
              <a:rPr lang="en-US" b="1" i="0" u="none" strike="noStrike" dirty="0">
                <a:solidFill>
                  <a:srgbClr val="000000"/>
                </a:solidFill>
                <a:effectLst/>
              </a:rPr>
              <a:t>message</a:t>
            </a:r>
            <a:r>
              <a:rPr lang="en-US" b="0" i="0" u="none" strike="noStrike" dirty="0">
                <a:solidFill>
                  <a:srgbClr val="000000"/>
                </a:solidFill>
                <a:effectLst/>
              </a:rPr>
              <a:t> that triggers the constructor of the new object.</a:t>
            </a:r>
          </a:p>
          <a:p>
            <a:pPr algn="l">
              <a:buFont typeface="+mj-lt"/>
              <a:buAutoNum type="arabicPeriod"/>
            </a:pPr>
            <a:r>
              <a:rPr lang="en-US" b="1" i="0" u="none" strike="noStrike" dirty="0">
                <a:solidFill>
                  <a:srgbClr val="000000"/>
                </a:solidFill>
                <a:effectLst/>
              </a:rPr>
              <a:t>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Commonly, a method like create or make is used.</a:t>
            </a:r>
          </a:p>
          <a:p>
            <a:pPr marL="742950" lvl="1" indent="-285750" algn="l">
              <a:buFont typeface="+mj-lt"/>
              <a:buAutoNum type="arabicPeriod"/>
            </a:pPr>
            <a:r>
              <a:rPr lang="en-US" b="0" i="0" u="none" strike="noStrike" dirty="0">
                <a:solidFill>
                  <a:srgbClr val="000000"/>
                </a:solidFill>
                <a:effectLst/>
              </a:rPr>
              <a:t>Parameters can be passed during creation, such as create(cashier).</a:t>
            </a:r>
          </a:p>
          <a:p>
            <a:pPr algn="l">
              <a:buFont typeface="+mj-lt"/>
              <a:buAutoNum type="arabicPeriod"/>
            </a:pPr>
            <a:r>
              <a:rPr lang="en-US" b="1" i="0" u="none" strike="noStrike" dirty="0">
                <a:solidFill>
                  <a:srgbClr val="000000"/>
                </a:solidFill>
                <a:effectLst/>
              </a:rPr>
              <a:t>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:Register creates an object of type :Sale using the create message.</a:t>
            </a:r>
          </a:p>
          <a:p>
            <a:pPr algn="l">
              <a:buFont typeface="+mj-lt"/>
              <a:buAutoNum type="arabicPeriod"/>
            </a:pPr>
            <a:r>
              <a:rPr lang="en-US" b="1" i="0" u="none" strike="noStrike" dirty="0">
                <a:solidFill>
                  <a:srgbClr val="000000"/>
                </a:solidFill>
                <a:effectLst/>
              </a:rPr>
              <a:t>Notations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:Sale {new}: Indicates a newly created object.</a:t>
            </a:r>
          </a:p>
          <a:p>
            <a:pPr marL="742950" lvl="1" indent="-285750" algn="l">
              <a:buFont typeface="+mj-lt"/>
              <a:buAutoNum type="arabicPeriod"/>
            </a:pPr>
            <a:r>
              <a:rPr lang="en-US" b="0" i="0" u="none" strike="noStrike" dirty="0">
                <a:solidFill>
                  <a:srgbClr val="000000"/>
                </a:solidFill>
                <a:effectLst/>
              </a:rPr>
              <a:t>«create»: A stereotype used to clarify that the message refers to object creation.</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Instance creation in UML diagrams shows </a:t>
            </a:r>
            <a:r>
              <a:rPr lang="en-US" b="1" i="0" u="none" strike="noStrike" dirty="0">
                <a:solidFill>
                  <a:srgbClr val="000000"/>
                </a:solidFill>
                <a:effectLst/>
              </a:rPr>
              <a:t>how objects dynamically create other objects</a:t>
            </a:r>
            <a:r>
              <a:rPr lang="en-US" b="0" i="0" u="none" strike="noStrike" dirty="0">
                <a:solidFill>
                  <a:srgbClr val="000000"/>
                </a:solidFill>
                <a:effectLst/>
              </a:rPr>
              <a:t>. For example:</a:t>
            </a:r>
          </a:p>
          <a:p>
            <a:pPr algn="l">
              <a:buFont typeface="Arial" panose="020B0604020202020204" pitchFamily="34" charset="0"/>
              <a:buChar char="•"/>
            </a:pPr>
            <a:r>
              <a:rPr lang="en-US" b="0" i="0" u="none" strike="noStrike" dirty="0">
                <a:solidFill>
                  <a:srgbClr val="000000"/>
                </a:solidFill>
                <a:effectLst/>
              </a:rPr>
              <a:t>A Register object creates a Sale object during a purchase process.</a:t>
            </a:r>
          </a:p>
          <a:p>
            <a:pPr algn="l"/>
            <a:r>
              <a:rPr lang="en-US" b="1" i="0" u="none" strike="noStrike" dirty="0">
                <a:solidFill>
                  <a:srgbClr val="000000"/>
                </a:solidFill>
                <a:effectLst/>
              </a:rPr>
              <a:t>Use Case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This is commonly seen in object-oriented systems, such as when creating invoices, logs, or data records.</a:t>
            </a:r>
          </a:p>
          <a:p>
            <a:endParaRPr lang="tr-TR" dirty="0">
              <a:latin typeface="Times" charset="0"/>
              <a:ea typeface="ＭＳ Ｐゴシック" charset="0"/>
              <a:cs typeface="ＭＳ Ｐゴシック" charset="0"/>
            </a:endParaRPr>
          </a:p>
        </p:txBody>
      </p:sp>
      <p:sp>
        <p:nvSpPr>
          <p:cNvPr id="9523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xfrm>
            <a:off x="1173163" y="696913"/>
            <a:ext cx="4638675" cy="3479800"/>
          </a:xfrm>
          <a:ln/>
        </p:spPr>
      </p:sp>
      <p:sp>
        <p:nvSpPr>
          <p:cNvPr id="97283"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Sequence Numbering (Nested Message)</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Purpose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Sequence numbering is used to show the </a:t>
            </a:r>
            <a:r>
              <a:rPr lang="en-US" b="1" i="0" u="none" strike="noStrike" dirty="0">
                <a:solidFill>
                  <a:srgbClr val="000000"/>
                </a:solidFill>
                <a:effectLst/>
              </a:rPr>
              <a:t>order of messages</a:t>
            </a:r>
            <a:r>
              <a:rPr lang="en-US" b="0" i="0" u="none" strike="noStrike" dirty="0">
                <a:solidFill>
                  <a:srgbClr val="000000"/>
                </a:solidFill>
                <a:effectLst/>
              </a:rPr>
              <a:t> in communication diagrams.</a:t>
            </a:r>
          </a:p>
          <a:p>
            <a:pPr algn="l">
              <a:buFont typeface="+mj-lt"/>
              <a:buAutoNum type="arabicPeriod"/>
            </a:pPr>
            <a:r>
              <a:rPr lang="en-US" b="1" i="0" u="none" strike="noStrike" dirty="0">
                <a:solidFill>
                  <a:srgbClr val="000000"/>
                </a:solidFill>
                <a:effectLst/>
              </a:rPr>
              <a:t>Message Numbering</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msg1: A generic unnumbered message (optional in diagrams but not preferred for clarity).</a:t>
            </a:r>
          </a:p>
          <a:p>
            <a:pPr marL="742950" lvl="1" indent="-285750" algn="l">
              <a:buFont typeface="+mj-lt"/>
              <a:buAutoNum type="arabicPeriod"/>
            </a:pPr>
            <a:r>
              <a:rPr lang="en-US" b="0" i="0" u="none" strike="noStrike" dirty="0">
                <a:solidFill>
                  <a:srgbClr val="000000"/>
                </a:solidFill>
                <a:effectLst/>
              </a:rPr>
              <a:t>1: msg2: Indicates the </a:t>
            </a:r>
            <a:r>
              <a:rPr lang="en-US" b="1" i="0" u="none" strike="noStrike" dirty="0">
                <a:solidFill>
                  <a:srgbClr val="000000"/>
                </a:solidFill>
                <a:effectLst/>
              </a:rPr>
              <a:t>first message</a:t>
            </a:r>
            <a:r>
              <a:rPr lang="en-US" b="0" i="0" u="none" strike="noStrike" dirty="0">
                <a:solidFill>
                  <a:srgbClr val="000000"/>
                </a:solidFill>
                <a:effectLst/>
              </a:rPr>
              <a:t> sent from :A to :B.</a:t>
            </a:r>
          </a:p>
          <a:p>
            <a:pPr marL="742950" lvl="1" indent="-285750" algn="l">
              <a:buFont typeface="+mj-lt"/>
              <a:buAutoNum type="arabicPeriod"/>
            </a:pPr>
            <a:r>
              <a:rPr lang="en-US" b="0" i="0" u="none" strike="noStrike" dirty="0">
                <a:solidFill>
                  <a:srgbClr val="000000"/>
                </a:solidFill>
                <a:effectLst/>
              </a:rPr>
              <a:t>1.1: msg3: A </a:t>
            </a:r>
            <a:r>
              <a:rPr lang="en-US" b="1" i="0" u="none" strike="noStrike" dirty="0">
                <a:solidFill>
                  <a:srgbClr val="000000"/>
                </a:solidFill>
                <a:effectLst/>
              </a:rPr>
              <a:t>nested message</a:t>
            </a:r>
            <a:r>
              <a:rPr lang="en-US" b="0" i="0" u="none" strike="noStrike" dirty="0">
                <a:solidFill>
                  <a:srgbClr val="000000"/>
                </a:solidFill>
                <a:effectLst/>
              </a:rPr>
              <a:t>, indicating that msg3 is triggered during the execution of msg2.</a:t>
            </a:r>
          </a:p>
          <a:p>
            <a:pPr algn="l">
              <a:buFont typeface="+mj-lt"/>
              <a:buAutoNum type="arabicPeriod"/>
            </a:pPr>
            <a:r>
              <a:rPr lang="en-US" b="1" i="0" u="none" strike="noStrike" dirty="0">
                <a:solidFill>
                  <a:srgbClr val="000000"/>
                </a:solidFill>
                <a:effectLst/>
              </a:rPr>
              <a:t>Key Concept: Nested 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When a message (msg2) triggers another message (msg3), the latter is shown with an incremented sub-number (e.g., 1.1).</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Sequence numbering helps to track the </a:t>
            </a:r>
            <a:r>
              <a:rPr lang="en-US" b="1" i="0" u="none" strike="noStrike" dirty="0">
                <a:solidFill>
                  <a:srgbClr val="000000"/>
                </a:solidFill>
                <a:effectLst/>
              </a:rPr>
              <a:t>order of execution</a:t>
            </a:r>
            <a:r>
              <a:rPr lang="en-US" b="0" i="0" u="none" strike="noStrike" dirty="0">
                <a:solidFill>
                  <a:srgbClr val="000000"/>
                </a:solidFill>
                <a:effectLst/>
              </a:rPr>
              <a:t> in complex systems. Nested numbering (e.g., 1.1) indicates a dependent or internal action triggered by another message.</a:t>
            </a:r>
          </a:p>
          <a:p>
            <a:endParaRPr lang="tr-TR" dirty="0">
              <a:latin typeface="Times" charset="0"/>
              <a:ea typeface="ＭＳ Ｐゴシック" charset="0"/>
              <a:cs typeface="ＭＳ Ｐゴシック" charset="0"/>
            </a:endParaRPr>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xfrm>
            <a:off x="1173163" y="696913"/>
            <a:ext cx="4638675" cy="3479800"/>
          </a:xfrm>
          <a:ln/>
        </p:spPr>
      </p:sp>
      <p:sp>
        <p:nvSpPr>
          <p:cNvPr id="99331"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latin typeface="Times" charset="0"/>
              <a:ea typeface="ＭＳ Ｐゴシック" charset="0"/>
              <a:cs typeface="ＭＳ Ｐゴシック" charset="0"/>
            </a:endParaRP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xfrm>
            <a:off x="1173163" y="696913"/>
            <a:ext cx="4638675" cy="3479800"/>
          </a:xfrm>
          <a:ln/>
        </p:spPr>
      </p:sp>
      <p:sp>
        <p:nvSpPr>
          <p:cNvPr id="10137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Sequence Numbering (Expanded Example)</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Messages in Order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msg1: A generic message from an external source.</a:t>
            </a:r>
          </a:p>
          <a:p>
            <a:pPr marL="742950" lvl="1" indent="-285750" algn="l">
              <a:buFont typeface="+mj-lt"/>
              <a:buAutoNum type="arabicPeriod"/>
            </a:pPr>
            <a:r>
              <a:rPr lang="en-US" b="0" i="0" u="none" strike="noStrike" dirty="0">
                <a:solidFill>
                  <a:srgbClr val="000000"/>
                </a:solidFill>
                <a:effectLst/>
              </a:rPr>
              <a:t>1: msg2: Sent from :A to :B.</a:t>
            </a:r>
          </a:p>
          <a:p>
            <a:pPr marL="742950" lvl="1" indent="-285750" algn="l">
              <a:buFont typeface="+mj-lt"/>
              <a:buAutoNum type="arabicPeriod"/>
            </a:pPr>
            <a:r>
              <a:rPr lang="en-US" b="0" i="0" u="none" strike="noStrike" dirty="0">
                <a:solidFill>
                  <a:srgbClr val="000000"/>
                </a:solidFill>
                <a:effectLst/>
              </a:rPr>
              <a:t>1.1: msg3: Triggered by msg2, sent from :B to another object.</a:t>
            </a:r>
          </a:p>
          <a:p>
            <a:pPr marL="742950" lvl="1" indent="-285750" algn="l">
              <a:buFont typeface="+mj-lt"/>
              <a:buAutoNum type="arabicPeriod"/>
            </a:pPr>
            <a:r>
              <a:rPr lang="en-US" b="0" i="0" u="none" strike="noStrike" dirty="0">
                <a:solidFill>
                  <a:srgbClr val="000000"/>
                </a:solidFill>
                <a:effectLst/>
              </a:rPr>
              <a:t>2: msg4: A </a:t>
            </a:r>
            <a:r>
              <a:rPr lang="en-US" b="1" i="0" u="none" strike="noStrike" dirty="0">
                <a:solidFill>
                  <a:srgbClr val="000000"/>
                </a:solidFill>
                <a:effectLst/>
              </a:rPr>
              <a:t>second independent message</a:t>
            </a:r>
            <a:r>
              <a:rPr lang="en-US" b="0" i="0" u="none" strike="noStrike" dirty="0">
                <a:solidFill>
                  <a:srgbClr val="000000"/>
                </a:solidFill>
                <a:effectLst/>
              </a:rPr>
              <a:t>, sent from :A to :C.</a:t>
            </a:r>
          </a:p>
          <a:p>
            <a:pPr algn="l">
              <a:buFont typeface="+mj-lt"/>
              <a:buAutoNum type="arabicPeriod"/>
            </a:pPr>
            <a:r>
              <a:rPr lang="en-US" b="1" i="0" u="none" strike="noStrike" dirty="0">
                <a:solidFill>
                  <a:srgbClr val="000000"/>
                </a:solidFill>
                <a:effectLst/>
              </a:rPr>
              <a:t>Nested and Independent 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Nested messages are represented as 1.1, 2.1, etc.</a:t>
            </a:r>
          </a:p>
          <a:p>
            <a:pPr marL="742950" lvl="1" indent="-285750" algn="l">
              <a:buFont typeface="+mj-lt"/>
              <a:buAutoNum type="arabicPeriod"/>
            </a:pPr>
            <a:r>
              <a:rPr lang="en-US" b="0" i="0" u="none" strike="noStrike" dirty="0">
                <a:solidFill>
                  <a:srgbClr val="000000"/>
                </a:solidFill>
                <a:effectLst/>
              </a:rPr>
              <a:t>Independent messages start a new sequence (e.g., 2).</a:t>
            </a:r>
          </a:p>
          <a:p>
            <a:pPr algn="l">
              <a:buFont typeface="+mj-lt"/>
              <a:buAutoNum type="arabicPeriod"/>
            </a:pPr>
            <a:r>
              <a:rPr lang="en-US" b="1" i="0" u="none" strike="noStrike" dirty="0">
                <a:solidFill>
                  <a:srgbClr val="000000"/>
                </a:solidFill>
                <a:effectLst/>
              </a:rPr>
              <a:t>Complex Flow</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2.2: msg6: Indicates a nested message within the sequence initiated by 2.</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visualizes a more </a:t>
            </a:r>
            <a:r>
              <a:rPr lang="en-US" b="1" i="0" u="none" strike="noStrike" dirty="0">
                <a:solidFill>
                  <a:srgbClr val="000000"/>
                </a:solidFill>
                <a:effectLst/>
              </a:rPr>
              <a:t>complex message flow</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Primary messages (e.g., 1: msg2) initiate actions.</a:t>
            </a:r>
          </a:p>
          <a:p>
            <a:pPr algn="l">
              <a:buFont typeface="Arial" panose="020B0604020202020204" pitchFamily="34" charset="0"/>
              <a:buChar char="•"/>
            </a:pPr>
            <a:r>
              <a:rPr lang="en-US" b="0" i="0" u="none" strike="noStrike" dirty="0">
                <a:solidFill>
                  <a:srgbClr val="000000"/>
                </a:solidFill>
                <a:effectLst/>
              </a:rPr>
              <a:t>Nested messages (e.g., 1.1: msg3) represent tasks dependent on the parent message.</a:t>
            </a:r>
          </a:p>
          <a:p>
            <a:pPr algn="l">
              <a:buFont typeface="Arial" panose="020B0604020202020204" pitchFamily="34" charset="0"/>
              <a:buChar char="•"/>
            </a:pPr>
            <a:r>
              <a:rPr lang="en-US" b="0" i="0" u="none" strike="noStrike" dirty="0">
                <a:solidFill>
                  <a:srgbClr val="000000"/>
                </a:solidFill>
                <a:effectLst/>
              </a:rPr>
              <a:t>Independent sequences (e.g., 2: msg4) run parallel to other tasks.</a:t>
            </a:r>
          </a:p>
          <a:p>
            <a:endParaRPr lang="tr-TR" dirty="0">
              <a:latin typeface="Times" charset="0"/>
              <a:ea typeface="ＭＳ Ｐゴシック" charset="0"/>
              <a:cs typeface="ＭＳ Ｐゴシック" charset="0"/>
            </a:endParaRP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xfrm>
            <a:off x="1173163" y="696913"/>
            <a:ext cx="4638675" cy="3479800"/>
          </a:xfrm>
          <a:ln/>
        </p:spPr>
      </p:sp>
      <p:sp>
        <p:nvSpPr>
          <p:cNvPr id="10342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Conditional Messages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Conditional 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Represented with a condition inside square brackets, such as [color = red].</a:t>
            </a:r>
          </a:p>
          <a:p>
            <a:pPr marL="742950" lvl="1" indent="-285750" algn="l">
              <a:buFont typeface="+mj-lt"/>
              <a:buAutoNum type="arabicPeriod"/>
            </a:pPr>
            <a:r>
              <a:rPr lang="en-US" b="0" i="0" u="none" strike="noStrike" dirty="0">
                <a:solidFill>
                  <a:srgbClr val="000000"/>
                </a:solidFill>
                <a:effectLst/>
              </a:rPr>
              <a:t>The message is sent only if the condition evaluates to true.</a:t>
            </a:r>
          </a:p>
          <a:p>
            <a:pPr algn="l">
              <a:buFont typeface="+mj-lt"/>
              <a:buAutoNum type="arabicPeriod"/>
            </a:pPr>
            <a:r>
              <a:rPr lang="en-US" b="1" i="0" u="none" strike="noStrike" dirty="0">
                <a:solidFill>
                  <a:srgbClr val="000000"/>
                </a:solidFill>
                <a:effectLst/>
              </a:rPr>
              <a:t>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:Foo sends message1.</a:t>
            </a:r>
          </a:p>
          <a:p>
            <a:pPr marL="742950" lvl="1" indent="-285750" algn="l">
              <a:buFont typeface="+mj-lt"/>
              <a:buAutoNum type="arabicPeriod"/>
            </a:pPr>
            <a:r>
              <a:rPr lang="en-US" b="0" i="0" u="none" strike="noStrike" dirty="0">
                <a:solidFill>
                  <a:srgbClr val="000000"/>
                </a:solidFill>
                <a:effectLst/>
              </a:rPr>
              <a:t>If [color = red] is true, :Foo sends the calculate message to :Bar.</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Conditional messages in communication diagrams show </a:t>
            </a:r>
            <a:r>
              <a:rPr lang="en-US" b="1" i="0" u="none" strike="noStrike" dirty="0">
                <a:solidFill>
                  <a:srgbClr val="000000"/>
                </a:solidFill>
                <a:effectLst/>
              </a:rPr>
              <a:t>decision-based flows</a:t>
            </a:r>
            <a:r>
              <a:rPr lang="en-US" b="0" i="0" u="none" strike="noStrike" dirty="0">
                <a:solidFill>
                  <a:srgbClr val="000000"/>
                </a:solidFill>
                <a:effectLst/>
              </a:rPr>
              <a:t>. These are used to represent logic like:</a:t>
            </a:r>
          </a:p>
          <a:p>
            <a:pPr algn="l">
              <a:buFont typeface="Arial" panose="020B0604020202020204" pitchFamily="34" charset="0"/>
              <a:buChar char="•"/>
            </a:pPr>
            <a:r>
              <a:rPr lang="en-US" b="0" i="0" u="none" strike="noStrike" dirty="0">
                <a:solidFill>
                  <a:srgbClr val="000000"/>
                </a:solidFill>
                <a:effectLst/>
              </a:rPr>
              <a:t>"Perform this action only if the condition is met."</a:t>
            </a:r>
          </a:p>
          <a:p>
            <a:pPr algn="l"/>
            <a:r>
              <a:rPr lang="en-US" b="1" i="0" u="none" strike="noStrike" dirty="0">
                <a:solidFill>
                  <a:srgbClr val="000000"/>
                </a:solidFill>
                <a:effectLst/>
              </a:rPr>
              <a:t>Use Case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A traffic light system: If the light is red, stop the car.</a:t>
            </a:r>
          </a:p>
          <a:p>
            <a:endParaRPr lang="tr-TR" dirty="0">
              <a:latin typeface="Times" charset="0"/>
              <a:ea typeface="ＭＳ Ｐゴシック" charset="0"/>
              <a:cs typeface="ＭＳ Ｐゴシック" charset="0"/>
            </a:endParaRP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xfrm>
            <a:off x="1173163" y="696913"/>
            <a:ext cx="4638675" cy="3479800"/>
          </a:xfrm>
          <a:ln/>
        </p:spPr>
      </p:sp>
      <p:sp>
        <p:nvSpPr>
          <p:cNvPr id="105475"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Mutually Exclusive Conditional Messages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Mutually Exclusive Paths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Branches are shown with conditions, e.g., 1a [test1] or 1b [not test1].</a:t>
            </a:r>
          </a:p>
          <a:p>
            <a:pPr marL="742950" lvl="1" indent="-285750" algn="l">
              <a:buFont typeface="+mj-lt"/>
              <a:buAutoNum type="arabicPeriod"/>
            </a:pPr>
            <a:r>
              <a:rPr lang="en-US" b="0" i="0" u="none" strike="noStrike" dirty="0">
                <a:solidFill>
                  <a:srgbClr val="000000"/>
                </a:solidFill>
                <a:effectLst/>
              </a:rPr>
              <a:t>Only </a:t>
            </a:r>
            <a:r>
              <a:rPr lang="en-US" b="1" i="0" u="none" strike="noStrike" dirty="0">
                <a:solidFill>
                  <a:srgbClr val="000000"/>
                </a:solidFill>
                <a:effectLst/>
              </a:rPr>
              <a:t>one branch</a:t>
            </a:r>
            <a:r>
              <a:rPr lang="en-US" b="0" i="0" u="none" strike="noStrike" dirty="0">
                <a:solidFill>
                  <a:srgbClr val="000000"/>
                </a:solidFill>
                <a:effectLst/>
              </a:rPr>
              <a:t> is executed based on the condition.</a:t>
            </a:r>
          </a:p>
          <a:p>
            <a:pPr algn="l">
              <a:buFont typeface="+mj-lt"/>
              <a:buAutoNum type="arabicPeriod"/>
            </a:pPr>
            <a:r>
              <a:rPr lang="en-US" b="1" i="0" u="none" strike="noStrike" dirty="0">
                <a:solidFill>
                  <a:srgbClr val="000000"/>
                </a:solidFill>
                <a:effectLst/>
              </a:rPr>
              <a:t>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If [test1] is true:</a:t>
            </a:r>
          </a:p>
          <a:p>
            <a:pPr marL="1143000" lvl="2" indent="-228600" algn="l">
              <a:buFont typeface="+mj-lt"/>
              <a:buAutoNum type="arabicPeriod"/>
            </a:pPr>
            <a:r>
              <a:rPr lang="en-US" b="0" i="0" u="none" strike="noStrike" dirty="0">
                <a:solidFill>
                  <a:srgbClr val="000000"/>
                </a:solidFill>
                <a:effectLst/>
              </a:rPr>
              <a:t>msg2 is sent to :B, and then msg3 to :C.</a:t>
            </a:r>
          </a:p>
          <a:p>
            <a:pPr marL="742950" lvl="1" indent="-285750" algn="l">
              <a:buFont typeface="+mj-lt"/>
              <a:buAutoNum type="arabicPeriod"/>
            </a:pPr>
            <a:r>
              <a:rPr lang="en-US" b="0" i="0" u="none" strike="noStrike" dirty="0">
                <a:solidFill>
                  <a:srgbClr val="000000"/>
                </a:solidFill>
                <a:effectLst/>
              </a:rPr>
              <a:t>If [not test1] is true:</a:t>
            </a:r>
          </a:p>
          <a:p>
            <a:pPr marL="1143000" lvl="2" indent="-228600" algn="l">
              <a:buFont typeface="+mj-lt"/>
              <a:buAutoNum type="arabicPeriod"/>
            </a:pPr>
            <a:r>
              <a:rPr lang="en-US" b="0" i="0" u="none" strike="noStrike" dirty="0">
                <a:solidFill>
                  <a:srgbClr val="000000"/>
                </a:solidFill>
                <a:effectLst/>
              </a:rPr>
              <a:t>msg4 is sent to :D, followed by msg5.</a:t>
            </a:r>
          </a:p>
          <a:p>
            <a:pPr algn="l">
              <a:buFont typeface="+mj-lt"/>
              <a:buAutoNum type="arabicPeriod"/>
            </a:pPr>
            <a:r>
              <a:rPr lang="en-US" b="1" i="0" u="none" strike="noStrike" dirty="0">
                <a:solidFill>
                  <a:srgbClr val="000000"/>
                </a:solidFill>
                <a:effectLst/>
              </a:rPr>
              <a:t>Unconditional Follow-Up</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After either path completes, msg6 is sent to :E</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Mutually exclusive paths show </a:t>
            </a:r>
            <a:r>
              <a:rPr lang="en-US" b="1" i="0" u="none" strike="noStrike" dirty="0">
                <a:solidFill>
                  <a:srgbClr val="000000"/>
                </a:solidFill>
                <a:effectLst/>
              </a:rPr>
              <a:t>decision-based branching</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Useful in systems where actions depend on conditions.</a:t>
            </a:r>
          </a:p>
          <a:p>
            <a:pPr algn="l">
              <a:buFont typeface="Arial" panose="020B0604020202020204" pitchFamily="34" charset="0"/>
              <a:buChar char="•"/>
            </a:pPr>
            <a:r>
              <a:rPr lang="en-US" b="0" i="0" u="none" strike="noStrike" dirty="0">
                <a:solidFill>
                  <a:srgbClr val="000000"/>
                </a:solidFill>
                <a:effectLst/>
              </a:rPr>
              <a:t>After completing one branch, the flow can return to a </a:t>
            </a:r>
            <a:r>
              <a:rPr lang="en-US" b="1" i="0" u="none" strike="noStrike" dirty="0">
                <a:solidFill>
                  <a:srgbClr val="000000"/>
                </a:solidFill>
                <a:effectLst/>
              </a:rPr>
              <a:t>shared step</a:t>
            </a:r>
            <a:r>
              <a:rPr lang="en-US" b="0" i="0" u="none" strike="noStrike" dirty="0">
                <a:solidFill>
                  <a:srgbClr val="000000"/>
                </a:solidFill>
                <a:effectLst/>
              </a:rPr>
              <a:t>.</a:t>
            </a:r>
          </a:p>
          <a:p>
            <a:pPr algn="l"/>
            <a:r>
              <a:rPr lang="en-US" b="1" i="0" u="none" strike="noStrike" dirty="0">
                <a:solidFill>
                  <a:srgbClr val="000000"/>
                </a:solidFill>
                <a:effectLst/>
              </a:rPr>
              <a:t>Use Case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Login validation:</a:t>
            </a:r>
          </a:p>
          <a:p>
            <a:pPr marL="742950" lvl="1" indent="-285750" algn="l">
              <a:buFont typeface="Arial" panose="020B0604020202020204" pitchFamily="34" charset="0"/>
              <a:buChar char="•"/>
            </a:pPr>
            <a:r>
              <a:rPr lang="en-US" b="0" i="0" u="none" strike="noStrike" dirty="0">
                <a:solidFill>
                  <a:srgbClr val="000000"/>
                </a:solidFill>
                <a:effectLst/>
              </a:rPr>
              <a:t>If credentials are valid, grant access.</a:t>
            </a:r>
          </a:p>
          <a:p>
            <a:pPr marL="742950" lvl="1" indent="-285750" algn="l">
              <a:buFont typeface="Arial" panose="020B0604020202020204" pitchFamily="34" charset="0"/>
              <a:buChar char="•"/>
            </a:pPr>
            <a:r>
              <a:rPr lang="en-US" b="0" i="0" u="none" strike="noStrike" dirty="0">
                <a:solidFill>
                  <a:srgbClr val="000000"/>
                </a:solidFill>
                <a:effectLst/>
              </a:rPr>
              <a:t>If not, display an error.</a:t>
            </a:r>
          </a:p>
          <a:p>
            <a:endParaRPr lang="tr-TR" dirty="0">
              <a:latin typeface="Times" charset="0"/>
              <a:ea typeface="ＭＳ Ｐゴシック" charset="0"/>
              <a:cs typeface="ＭＳ Ｐゴシック" charset="0"/>
            </a:endParaRPr>
          </a:p>
        </p:txBody>
      </p:sp>
      <p:sp>
        <p:nvSpPr>
          <p:cNvPr id="105476"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xfrm>
            <a:off x="1173163" y="696913"/>
            <a:ext cx="4638675" cy="3479800"/>
          </a:xfrm>
          <a:ln/>
        </p:spPr>
      </p:sp>
      <p:sp>
        <p:nvSpPr>
          <p:cNvPr id="107523"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3: Iteration in Communication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Iteration Representation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Asterisk (*) denotes repetition.</a:t>
            </a:r>
          </a:p>
          <a:p>
            <a:pPr marL="742950" lvl="1" indent="-285750" algn="l">
              <a:buFont typeface="+mj-lt"/>
              <a:buAutoNum type="arabicPeriod"/>
            </a:pPr>
            <a:r>
              <a:rPr lang="en-US" b="0" i="0" u="none" strike="noStrike" dirty="0">
                <a:solidFill>
                  <a:srgbClr val="000000"/>
                </a:solidFill>
                <a:effectLst/>
              </a:rPr>
              <a:t>Optional iteration condition (e.g., [</a:t>
            </a:r>
            <a:r>
              <a:rPr lang="en-US" b="0" i="0" u="none" strike="noStrike" dirty="0" err="1">
                <a:solidFill>
                  <a:srgbClr val="000000"/>
                </a:solidFill>
                <a:effectLst/>
              </a:rPr>
              <a:t>i</a:t>
            </a:r>
            <a:r>
              <a:rPr lang="en-US" b="0" i="0" u="none" strike="noStrike" dirty="0">
                <a:solidFill>
                  <a:srgbClr val="000000"/>
                </a:solidFill>
                <a:effectLst/>
              </a:rPr>
              <a:t> = 1..n]) specifies the range or criteria.</a:t>
            </a:r>
          </a:p>
          <a:p>
            <a:pPr algn="l">
              <a:buFont typeface="+mj-lt"/>
              <a:buAutoNum type="arabicPeriod"/>
            </a:pPr>
            <a:r>
              <a:rPr lang="en-US" b="1" i="0" u="none" strike="noStrike" dirty="0">
                <a:solidFill>
                  <a:srgbClr val="000000"/>
                </a:solidFill>
                <a:effectLst/>
              </a:rPr>
              <a:t>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:Simulator calls </a:t>
            </a:r>
            <a:r>
              <a:rPr lang="en-US" b="0" i="0" u="none" strike="noStrike" dirty="0" err="1">
                <a:solidFill>
                  <a:srgbClr val="000000"/>
                </a:solidFill>
                <a:effectLst/>
              </a:rPr>
              <a:t>nextInt</a:t>
            </a:r>
            <a:r>
              <a:rPr lang="en-US" b="0" i="0" u="none" strike="noStrike" dirty="0">
                <a:solidFill>
                  <a:srgbClr val="000000"/>
                </a:solidFill>
                <a:effectLst/>
              </a:rPr>
              <a:t> on :Random multiple times.</a:t>
            </a:r>
          </a:p>
          <a:p>
            <a:pPr marL="742950" lvl="1" indent="-285750" algn="l">
              <a:buFont typeface="+mj-lt"/>
              <a:buAutoNum type="arabicPeriod"/>
            </a:pPr>
            <a:r>
              <a:rPr lang="en-US" b="0" i="0" u="none" strike="noStrike" dirty="0">
                <a:solidFill>
                  <a:srgbClr val="000000"/>
                </a:solidFill>
                <a:effectLst/>
              </a:rPr>
              <a:t>The iteration [</a:t>
            </a:r>
            <a:r>
              <a:rPr lang="en-US" b="0" i="0" u="none" strike="noStrike" dirty="0" err="1">
                <a:solidFill>
                  <a:srgbClr val="000000"/>
                </a:solidFill>
                <a:effectLst/>
              </a:rPr>
              <a:t>i</a:t>
            </a:r>
            <a:r>
              <a:rPr lang="en-US" b="0" i="0" u="none" strike="noStrike" dirty="0">
                <a:solidFill>
                  <a:srgbClr val="000000"/>
                </a:solidFill>
                <a:effectLst/>
              </a:rPr>
              <a:t> = 1..n] indicates the loop executes n times.</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Iteration in communication diagrams models repetitive actions:</a:t>
            </a:r>
          </a:p>
          <a:p>
            <a:pPr algn="l">
              <a:buFont typeface="Arial" panose="020B0604020202020204" pitchFamily="34" charset="0"/>
              <a:buChar char="•"/>
            </a:pPr>
            <a:r>
              <a:rPr lang="en-US" b="0" i="0" u="none" strike="noStrike" dirty="0">
                <a:solidFill>
                  <a:srgbClr val="000000"/>
                </a:solidFill>
                <a:effectLst/>
              </a:rPr>
              <a:t>It highlights </a:t>
            </a:r>
            <a:r>
              <a:rPr lang="en-US" b="1" i="0" u="none" strike="noStrike" dirty="0">
                <a:solidFill>
                  <a:srgbClr val="000000"/>
                </a:solidFill>
                <a:effectLst/>
              </a:rPr>
              <a:t>loops or repeated interactions</a:t>
            </a:r>
            <a:r>
              <a:rPr lang="en-US" b="0" i="0" u="none" strike="noStrike" dirty="0">
                <a:solidFill>
                  <a:srgbClr val="000000"/>
                </a:solidFill>
                <a:effectLst/>
              </a:rPr>
              <a:t> between objects.</a:t>
            </a:r>
          </a:p>
          <a:p>
            <a:pPr algn="l"/>
            <a:r>
              <a:rPr lang="en-US" b="1" i="0" u="none" strike="noStrike" dirty="0">
                <a:solidFill>
                  <a:srgbClr val="000000"/>
                </a:solidFill>
                <a:effectLst/>
              </a:rPr>
              <a:t>Use Case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A simulation running for n iterations, such as generating random numbers for a weather model.</a:t>
            </a:r>
          </a:p>
          <a:p>
            <a:endParaRPr lang="tr-TR" dirty="0">
              <a:latin typeface="Times" charset="0"/>
              <a:ea typeface="ＭＳ Ｐゴシック" charset="0"/>
              <a:cs typeface="ＭＳ Ｐゴシック" charset="0"/>
            </a:endParaRPr>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xfrm>
            <a:off x="1173163" y="696913"/>
            <a:ext cx="4638675" cy="3479800"/>
          </a:xfrm>
          <a:ln/>
        </p:spPr>
      </p:sp>
      <p:sp>
        <p:nvSpPr>
          <p:cNvPr id="109571"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Static Method Invocation (Message to a Class)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Static Method Invocation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static method</a:t>
            </a:r>
            <a:r>
              <a:rPr lang="en-US" b="0" i="0" u="none" strike="noStrike" dirty="0">
                <a:solidFill>
                  <a:srgbClr val="000000"/>
                </a:solidFill>
                <a:effectLst/>
              </a:rPr>
              <a:t> is a method that belongs to the class, not an instance of the class.</a:t>
            </a:r>
          </a:p>
          <a:p>
            <a:pPr marL="742950" lvl="1" indent="-285750" algn="l">
              <a:buFont typeface="+mj-lt"/>
              <a:buAutoNum type="arabicPeriod"/>
            </a:pPr>
            <a:r>
              <a:rPr lang="en-US" b="0" i="0" u="none" strike="noStrike" dirty="0">
                <a:solidFill>
                  <a:srgbClr val="000000"/>
                </a:solidFill>
                <a:effectLst/>
              </a:rPr>
              <a:t>In the diagram, </a:t>
            </a:r>
            <a:r>
              <a:rPr lang="en-US" b="0" i="0" u="none" strike="noStrike" dirty="0" err="1">
                <a:solidFill>
                  <a:srgbClr val="000000"/>
                </a:solidFill>
                <a:effectLst/>
              </a:rPr>
              <a:t>getAvailableLocales</a:t>
            </a:r>
            <a:r>
              <a:rPr lang="en-US" b="0" i="0" u="none" strike="noStrike" dirty="0">
                <a:solidFill>
                  <a:srgbClr val="000000"/>
                </a:solidFill>
                <a:effectLst/>
              </a:rPr>
              <a:t> is called directly on the Calendar class.</a:t>
            </a:r>
          </a:p>
          <a:p>
            <a:pPr algn="l">
              <a:buFont typeface="+mj-lt"/>
              <a:buAutoNum type="arabicPeriod"/>
            </a:pPr>
            <a:r>
              <a:rPr lang="en-US" b="1" i="0" u="none" strike="noStrike" dirty="0">
                <a:solidFill>
                  <a:srgbClr val="000000"/>
                </a:solidFill>
                <a:effectLst/>
              </a:rPr>
              <a:t>Diagram Details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:Foo sends the message </a:t>
            </a:r>
            <a:r>
              <a:rPr lang="en-US" b="0" i="0" u="none" strike="noStrike" dirty="0" err="1">
                <a:solidFill>
                  <a:srgbClr val="000000"/>
                </a:solidFill>
                <a:effectLst/>
              </a:rPr>
              <a:t>doX</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As part of this action, Foo calls the </a:t>
            </a:r>
            <a:r>
              <a:rPr lang="en-US" b="0" i="0" u="none" strike="noStrike" dirty="0" err="1">
                <a:solidFill>
                  <a:srgbClr val="000000"/>
                </a:solidFill>
                <a:effectLst/>
              </a:rPr>
              <a:t>getAvailableLocales</a:t>
            </a:r>
            <a:r>
              <a:rPr lang="en-US" b="0" i="0" u="none" strike="noStrike" dirty="0">
                <a:solidFill>
                  <a:srgbClr val="000000"/>
                </a:solidFill>
                <a:effectLst/>
              </a:rPr>
              <a:t> method on the Calendar class (static method).</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Static methods are </a:t>
            </a:r>
            <a:r>
              <a:rPr lang="en-US" b="1" i="0" u="none" strike="noStrike" dirty="0">
                <a:solidFill>
                  <a:srgbClr val="000000"/>
                </a:solidFill>
                <a:effectLst/>
              </a:rPr>
              <a:t>class-level methods</a:t>
            </a:r>
            <a:r>
              <a:rPr lang="en-US" b="0" i="0" u="none" strike="noStrike" dirty="0">
                <a:solidFill>
                  <a:srgbClr val="000000"/>
                </a:solidFill>
                <a:effectLst/>
              </a:rPr>
              <a:t> and do not require an instance of the class. This is commonly used for utility functions like retrieving configuration details, constants, or global settings.</a:t>
            </a:r>
          </a:p>
          <a:p>
            <a:pPr algn="l"/>
            <a:r>
              <a:rPr lang="en-US" b="1" i="0" u="none" strike="noStrike" dirty="0">
                <a:solidFill>
                  <a:srgbClr val="000000"/>
                </a:solidFill>
                <a:effectLst/>
              </a:rPr>
              <a:t>Example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err="1">
                <a:solidFill>
                  <a:srgbClr val="000000"/>
                </a:solidFill>
                <a:effectLst/>
              </a:rPr>
              <a:t>Math.sqrt</a:t>
            </a:r>
            <a:r>
              <a:rPr lang="en-US" b="0" i="0" u="none" strike="noStrike" dirty="0">
                <a:solidFill>
                  <a:srgbClr val="000000"/>
                </a:solidFill>
                <a:effectLst/>
              </a:rPr>
              <a:t>() in Java is a static method that calculates the square root without needing an object.</a:t>
            </a:r>
          </a:p>
          <a:p>
            <a:endParaRPr lang="tr-TR" dirty="0">
              <a:latin typeface="Times" charset="0"/>
              <a:ea typeface="ＭＳ Ｐゴシック" charset="0"/>
              <a:cs typeface="ＭＳ Ｐゴシック" charset="0"/>
            </a:endParaRPr>
          </a:p>
        </p:txBody>
      </p:sp>
      <p:sp>
        <p:nvSpPr>
          <p:cNvPr id="109572"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xfrm>
            <a:off x="1173163" y="696913"/>
            <a:ext cx="4638675" cy="3479800"/>
          </a:xfrm>
          <a:ln/>
        </p:spPr>
      </p:sp>
      <p:sp>
        <p:nvSpPr>
          <p:cNvPr id="11161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Modeling Polymorphic Cases in Communication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Polymorphic 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polymorphic message</a:t>
            </a:r>
            <a:r>
              <a:rPr lang="en-US" b="0" i="0" u="none" strike="noStrike" dirty="0">
                <a:solidFill>
                  <a:srgbClr val="000000"/>
                </a:solidFill>
                <a:effectLst/>
              </a:rPr>
              <a:t> like authorize is sent to a generic object (Payment).</a:t>
            </a:r>
          </a:p>
          <a:p>
            <a:pPr marL="742950" lvl="1" indent="-285750" algn="l">
              <a:buFont typeface="+mj-lt"/>
              <a:buAutoNum type="arabicPeriod"/>
            </a:pPr>
            <a:r>
              <a:rPr lang="en-US" b="0" i="0" u="none" strike="noStrike" dirty="0">
                <a:solidFill>
                  <a:srgbClr val="000000"/>
                </a:solidFill>
                <a:effectLst/>
              </a:rPr>
              <a:t>The actual implementation depends on the runtime type (</a:t>
            </a:r>
            <a:r>
              <a:rPr lang="en-US" b="0" i="0" u="none" strike="noStrike" dirty="0" err="1">
                <a:solidFill>
                  <a:srgbClr val="000000"/>
                </a:solidFill>
                <a:effectLst/>
              </a:rPr>
              <a:t>DebitPayment</a:t>
            </a:r>
            <a:r>
              <a:rPr lang="en-US" b="0" i="0" u="none" strike="noStrike" dirty="0">
                <a:solidFill>
                  <a:srgbClr val="000000"/>
                </a:solidFill>
                <a:effectLst/>
              </a:rPr>
              <a:t> or </a:t>
            </a:r>
            <a:r>
              <a:rPr lang="en-US" b="0" i="0" u="none" strike="noStrike" dirty="0" err="1">
                <a:solidFill>
                  <a:srgbClr val="000000"/>
                </a:solidFill>
                <a:effectLst/>
              </a:rPr>
              <a:t>CreditPayment</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Diagram Details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:Register sends authorize to :Payment {abstract} (abstract class or interface).</a:t>
            </a:r>
          </a:p>
          <a:p>
            <a:pPr marL="742950" lvl="1" indent="-285750" algn="l">
              <a:buFont typeface="+mj-lt"/>
              <a:buAutoNum type="arabicPeriod"/>
            </a:pPr>
            <a:r>
              <a:rPr lang="en-US" b="0" i="0" u="none" strike="noStrike" dirty="0">
                <a:solidFill>
                  <a:srgbClr val="000000"/>
                </a:solidFill>
                <a:effectLst/>
              </a:rPr>
              <a:t>Depending on the subclass:</a:t>
            </a:r>
          </a:p>
          <a:p>
            <a:pPr marL="1143000" lvl="2" indent="-228600" algn="l">
              <a:buFont typeface="+mj-lt"/>
              <a:buAutoNum type="arabicPeriod"/>
            </a:pPr>
            <a:r>
              <a:rPr lang="en-US" b="0" i="0" u="none" strike="noStrike" dirty="0" err="1">
                <a:solidFill>
                  <a:srgbClr val="000000"/>
                </a:solidFill>
                <a:effectLst/>
              </a:rPr>
              <a:t>DebitPayment</a:t>
            </a:r>
            <a:r>
              <a:rPr lang="en-US" b="0" i="0" u="none" strike="noStrike" dirty="0">
                <a:solidFill>
                  <a:srgbClr val="000000"/>
                </a:solidFill>
                <a:effectLst/>
              </a:rPr>
              <a:t> executes methods </a:t>
            </a:r>
            <a:r>
              <a:rPr lang="en-US" b="0" i="0" u="none" strike="noStrike" dirty="0" err="1">
                <a:solidFill>
                  <a:srgbClr val="000000"/>
                </a:solidFill>
                <a:effectLst/>
              </a:rPr>
              <a:t>doA</a:t>
            </a:r>
            <a:r>
              <a:rPr lang="en-US" b="0" i="0" u="none" strike="noStrike" dirty="0">
                <a:solidFill>
                  <a:srgbClr val="000000"/>
                </a:solidFill>
                <a:effectLst/>
              </a:rPr>
              <a:t> and </a:t>
            </a:r>
            <a:r>
              <a:rPr lang="en-US" b="0" i="0" u="none" strike="noStrike" dirty="0" err="1">
                <a:solidFill>
                  <a:srgbClr val="000000"/>
                </a:solidFill>
                <a:effectLst/>
              </a:rPr>
              <a:t>doB</a:t>
            </a:r>
            <a:r>
              <a:rPr lang="en-US" b="0" i="0" u="none" strike="noStrike" dirty="0">
                <a:solidFill>
                  <a:srgbClr val="000000"/>
                </a:solidFill>
                <a:effectLst/>
              </a:rPr>
              <a:t>.</a:t>
            </a:r>
          </a:p>
          <a:p>
            <a:pPr marL="1143000" lvl="2" indent="-228600" algn="l">
              <a:buFont typeface="+mj-lt"/>
              <a:buAutoNum type="arabicPeriod"/>
            </a:pPr>
            <a:r>
              <a:rPr lang="en-US" b="0" i="0" u="none" strike="noStrike" dirty="0" err="1">
                <a:solidFill>
                  <a:srgbClr val="000000"/>
                </a:solidFill>
                <a:effectLst/>
              </a:rPr>
              <a:t>CreditPayment</a:t>
            </a:r>
            <a:r>
              <a:rPr lang="en-US" b="0" i="0" u="none" strike="noStrike" dirty="0">
                <a:solidFill>
                  <a:srgbClr val="000000"/>
                </a:solidFill>
                <a:effectLst/>
              </a:rPr>
              <a:t> interacts with :Bar.</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Polymorphism allows the same message to invoke </a:t>
            </a:r>
            <a:r>
              <a:rPr lang="en-US" b="1" i="0" u="none" strike="noStrike" dirty="0">
                <a:solidFill>
                  <a:srgbClr val="000000"/>
                </a:solidFill>
                <a:effectLst/>
              </a:rPr>
              <a:t>different behaviors</a:t>
            </a:r>
            <a:r>
              <a:rPr lang="en-US" b="0" i="0" u="none" strike="noStrike" dirty="0">
                <a:solidFill>
                  <a:srgbClr val="000000"/>
                </a:solidFill>
                <a:effectLst/>
              </a:rPr>
              <a:t> based on the object's type. This is useful for designing extensible systems where new behaviors can be added by introducing new subclasses.</a:t>
            </a:r>
          </a:p>
          <a:p>
            <a:endParaRPr lang="tr-TR" dirty="0">
              <a:latin typeface="Times" charset="0"/>
              <a:ea typeface="ＭＳ Ｐゴシック" charset="0"/>
              <a:cs typeface="ＭＳ Ｐゴシック" charset="0"/>
            </a:endParaRPr>
          </a:p>
        </p:txBody>
      </p:sp>
      <p:sp>
        <p:nvSpPr>
          <p:cNvPr id="11162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xfrm>
            <a:off x="1173163" y="696913"/>
            <a:ext cx="4638675" cy="3479800"/>
          </a:xfrm>
          <a:ln/>
        </p:spPr>
      </p:sp>
      <p:sp>
        <p:nvSpPr>
          <p:cNvPr id="11366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3: Asynchronous Messages in Communication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Asynchronous Messaging</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sender does </a:t>
            </a:r>
            <a:r>
              <a:rPr lang="en-US" b="1" i="0" u="none" strike="noStrike" dirty="0">
                <a:solidFill>
                  <a:srgbClr val="000000"/>
                </a:solidFill>
                <a:effectLst/>
              </a:rPr>
              <a:t>not wait</a:t>
            </a:r>
            <a:r>
              <a:rPr lang="en-US" b="0" i="0" u="none" strike="noStrike" dirty="0">
                <a:solidFill>
                  <a:srgbClr val="000000"/>
                </a:solidFill>
                <a:effectLst/>
              </a:rPr>
              <a:t> for the receiver to complete its task.</a:t>
            </a:r>
          </a:p>
          <a:p>
            <a:pPr marL="742950" lvl="1" indent="-285750" algn="l">
              <a:buFont typeface="+mj-lt"/>
              <a:buAutoNum type="arabicPeriod"/>
            </a:pPr>
            <a:r>
              <a:rPr lang="en-US" b="0" i="0" u="none" strike="noStrike" dirty="0">
                <a:solidFill>
                  <a:srgbClr val="000000"/>
                </a:solidFill>
                <a:effectLst/>
              </a:rPr>
              <a:t>Represented by a </a:t>
            </a:r>
            <a:r>
              <a:rPr lang="en-US" b="1" i="0" u="none" strike="noStrike" dirty="0">
                <a:solidFill>
                  <a:srgbClr val="000000"/>
                </a:solidFill>
                <a:effectLst/>
              </a:rPr>
              <a:t>stick arrow</a:t>
            </a:r>
            <a:r>
              <a:rPr lang="en-US" b="0" i="0" u="none" strike="noStrike" dirty="0">
                <a:solidFill>
                  <a:srgbClr val="000000"/>
                </a:solidFill>
                <a:effectLst/>
              </a:rPr>
              <a:t> in the diagram.</a:t>
            </a:r>
          </a:p>
          <a:p>
            <a:pPr algn="l">
              <a:buFont typeface="+mj-lt"/>
              <a:buAutoNum type="arabicPeriod"/>
            </a:pPr>
            <a:r>
              <a:rPr lang="en-US" b="1" i="0" u="none" strike="noStrike" dirty="0">
                <a:solidFill>
                  <a:srgbClr val="000000"/>
                </a:solidFill>
                <a:effectLst/>
              </a:rPr>
              <a:t>Diagram Details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
            </a:r>
            <a:r>
              <a:rPr lang="en-US" b="0" i="0" u="none" strike="noStrike" dirty="0" err="1">
                <a:solidFill>
                  <a:srgbClr val="000000"/>
                </a:solidFill>
                <a:effectLst/>
              </a:rPr>
              <a:t>ClockStarter</a:t>
            </a:r>
            <a:r>
              <a:rPr lang="en-US" b="0" i="0" u="none" strike="noStrike" dirty="0">
                <a:solidFill>
                  <a:srgbClr val="000000"/>
                </a:solidFill>
                <a:effectLst/>
              </a:rPr>
              <a:t> sends </a:t>
            </a:r>
            <a:r>
              <a:rPr lang="en-US" b="0" i="0" u="none" strike="noStrike" dirty="0" err="1">
                <a:solidFill>
                  <a:srgbClr val="000000"/>
                </a:solidFill>
                <a:effectLst/>
              </a:rPr>
              <a:t>startClock</a:t>
            </a:r>
            <a:r>
              <a:rPr lang="en-US" b="0" i="0" u="none" strike="noStrike" dirty="0">
                <a:solidFill>
                  <a:srgbClr val="000000"/>
                </a:solidFill>
                <a:effectLst/>
              </a:rPr>
              <a:t> to :Clock.</a:t>
            </a:r>
          </a:p>
          <a:p>
            <a:pPr marL="742950" lvl="1" indent="-285750" algn="l">
              <a:buFont typeface="+mj-lt"/>
              <a:buAutoNum type="arabicPeriod"/>
            </a:pPr>
            <a:r>
              <a:rPr lang="en-US" b="0" i="0" u="none" strike="noStrike" dirty="0">
                <a:solidFill>
                  <a:srgbClr val="000000"/>
                </a:solidFill>
                <a:effectLst/>
              </a:rPr>
              <a:t>:Clock begins its task (runs asynchronously).</a:t>
            </a:r>
          </a:p>
          <a:p>
            <a:pPr marL="742950" lvl="1" indent="-285750" algn="l">
              <a:buFont typeface="+mj-lt"/>
              <a:buAutoNum type="arabicPeriod"/>
            </a:pPr>
            <a:r>
              <a:rPr lang="en-US" b="0" i="0" u="none" strike="noStrike" dirty="0">
                <a:solidFill>
                  <a:srgbClr val="000000"/>
                </a:solidFill>
                <a:effectLst/>
              </a:rPr>
              <a:t>The final </a:t>
            </a:r>
            <a:r>
              <a:rPr lang="en-US" b="0" i="0" u="none" strike="noStrike" dirty="0" err="1">
                <a:solidFill>
                  <a:srgbClr val="000000"/>
                </a:solidFill>
                <a:effectLst/>
              </a:rPr>
              <a:t>runFinalization</a:t>
            </a:r>
            <a:r>
              <a:rPr lang="en-US" b="0" i="0" u="none" strike="noStrike" dirty="0">
                <a:solidFill>
                  <a:srgbClr val="000000"/>
                </a:solidFill>
                <a:effectLst/>
              </a:rPr>
              <a:t> is sent to the system to finalize the process.</a:t>
            </a:r>
          </a:p>
          <a:p>
            <a:pPr algn="l">
              <a:buFont typeface="+mj-lt"/>
              <a:buAutoNum type="arabicPeriod"/>
            </a:pPr>
            <a:r>
              <a:rPr lang="en-US" b="1" i="0" u="none" strike="noStrike" dirty="0">
                <a:solidFill>
                  <a:srgbClr val="000000"/>
                </a:solidFill>
                <a:effectLst/>
              </a:rPr>
              <a:t>Active Object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:Clock is an </a:t>
            </a:r>
            <a:r>
              <a:rPr lang="en-US" b="1" i="0" u="none" strike="noStrike" dirty="0">
                <a:solidFill>
                  <a:srgbClr val="000000"/>
                </a:solidFill>
                <a:effectLst/>
              </a:rPr>
              <a:t>active object</a:t>
            </a:r>
            <a:r>
              <a:rPr lang="en-US" b="0" i="0" u="none" strike="noStrike" dirty="0">
                <a:solidFill>
                  <a:srgbClr val="000000"/>
                </a:solidFill>
                <a:effectLst/>
              </a:rPr>
              <a:t> that runs on its own thread.</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Asynchronous messaging is commonly used in multi-threaded systems to </a:t>
            </a:r>
            <a:r>
              <a:rPr lang="en-US" b="1" i="0" u="none" strike="noStrike" dirty="0">
                <a:solidFill>
                  <a:srgbClr val="000000"/>
                </a:solidFill>
                <a:effectLst/>
              </a:rPr>
              <a:t>improve efficiency</a:t>
            </a:r>
            <a:r>
              <a:rPr lang="en-US" b="0" i="0" u="none" strike="noStrike" dirty="0">
                <a:solidFill>
                  <a:srgbClr val="000000"/>
                </a:solidFill>
                <a:effectLst/>
              </a:rPr>
              <a:t>. An </a:t>
            </a:r>
            <a:r>
              <a:rPr lang="en-US" b="1" i="0" u="none" strike="noStrike" dirty="0">
                <a:solidFill>
                  <a:srgbClr val="000000"/>
                </a:solidFill>
                <a:effectLst/>
              </a:rPr>
              <a:t>active object</a:t>
            </a:r>
            <a:r>
              <a:rPr lang="en-US" b="0" i="0" u="none" strike="noStrike" dirty="0">
                <a:solidFill>
                  <a:srgbClr val="000000"/>
                </a:solidFill>
                <a:effectLst/>
              </a:rPr>
              <a:t> manages its own execution, allowing the sender to continue without delay.</a:t>
            </a:r>
          </a:p>
          <a:p>
            <a:endParaRPr lang="tr-TR" dirty="0">
              <a:latin typeface="Times" charset="0"/>
              <a:ea typeface="ＭＳ Ｐゴシック" charset="0"/>
              <a:cs typeface="ＭＳ Ｐゴシック" charset="0"/>
            </a:endParaRPr>
          </a:p>
        </p:txBody>
      </p:sp>
      <p:sp>
        <p:nvSpPr>
          <p:cNvPr id="11366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tr-TR" sz="12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15715" name="Rectangle 2"/>
          <p:cNvSpPr>
            <a:spLocks noGrp="1" noRot="1" noChangeAspect="1" noChangeArrowheads="1" noTextEdit="1"/>
          </p:cNvSpPr>
          <p:nvPr>
            <p:ph type="sldImg"/>
          </p:nvPr>
        </p:nvSpPr>
        <p:spPr>
          <a:xfrm>
            <a:off x="1173163" y="696913"/>
            <a:ext cx="4638675" cy="3479800"/>
          </a:xfrm>
          <a:ln/>
        </p:spPr>
      </p:sp>
      <p:sp>
        <p:nvSpPr>
          <p:cNvPr id="11571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Choosing Sequence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Time Ordering</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Sequence diagrams clearly represent the </a:t>
            </a:r>
            <a:r>
              <a:rPr lang="en-US" b="1" i="0" u="none" strike="noStrike" dirty="0">
                <a:solidFill>
                  <a:srgbClr val="000000"/>
                </a:solidFill>
                <a:effectLst/>
              </a:rPr>
              <a:t>time order of interactions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They align naturally with use cases, which also focus on </a:t>
            </a:r>
            <a:r>
              <a:rPr lang="en-US" b="1" i="0" u="none" strike="noStrike" dirty="0">
                <a:solidFill>
                  <a:srgbClr val="000000"/>
                </a:solidFill>
                <a:effectLst/>
              </a:rPr>
              <a:t>time-dependent interactions</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Details in Messages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Sequence diagrams make it </a:t>
            </a:r>
            <a:r>
              <a:rPr lang="en-US" b="1" i="0" u="none" strike="noStrike" dirty="0">
                <a:solidFill>
                  <a:srgbClr val="000000"/>
                </a:solidFill>
                <a:effectLst/>
              </a:rPr>
              <a:t>easier to add detailed information</a:t>
            </a:r>
            <a:r>
              <a:rPr lang="en-US" b="0" i="0" u="none" strike="noStrike" dirty="0">
                <a:solidFill>
                  <a:srgbClr val="000000"/>
                </a:solidFill>
                <a:effectLst/>
              </a:rPr>
              <a:t> to messages.</a:t>
            </a:r>
          </a:p>
          <a:p>
            <a:pPr marL="742950" lvl="1" indent="-285750" algn="l">
              <a:buFont typeface="+mj-lt"/>
              <a:buAutoNum type="arabicPeriod"/>
            </a:pPr>
            <a:r>
              <a:rPr lang="en-US" b="0" i="0" u="none" strike="noStrike" dirty="0">
                <a:solidFill>
                  <a:srgbClr val="000000"/>
                </a:solidFill>
                <a:effectLst/>
              </a:rPr>
              <a:t>Communication diagrams, on the other hand, have less space for adding such details.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17763" name="Rectangle 2"/>
          <p:cNvSpPr>
            <a:spLocks noGrp="1" noRot="1" noChangeAspect="1" noChangeArrowheads="1" noTextEdit="1"/>
          </p:cNvSpPr>
          <p:nvPr>
            <p:ph type="sldImg"/>
          </p:nvPr>
        </p:nvSpPr>
        <p:spPr>
          <a:xfrm>
            <a:off x="1173163" y="696913"/>
            <a:ext cx="4638675" cy="3479800"/>
          </a:xfrm>
          <a:ln/>
        </p:spPr>
      </p:sp>
      <p:sp>
        <p:nvSpPr>
          <p:cNvPr id="11776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Choosing Communication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Projection of Class Diagrams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Communication diagrams can be viewed as a </a:t>
            </a:r>
            <a:r>
              <a:rPr lang="en-US" b="1" i="0" u="none" strike="noStrike" dirty="0">
                <a:solidFill>
                  <a:srgbClr val="000000"/>
                </a:solidFill>
                <a:effectLst/>
              </a:rPr>
              <a:t>projection of a class diagram</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Useful when deriving an interaction diagram from class structure.</a:t>
            </a:r>
          </a:p>
          <a:p>
            <a:pPr algn="l">
              <a:buFont typeface="+mj-lt"/>
              <a:buAutoNum type="arabicPeriod"/>
            </a:pPr>
            <a:r>
              <a:rPr lang="en-US" b="1" i="0" u="none" strike="noStrike" dirty="0">
                <a:solidFill>
                  <a:srgbClr val="000000"/>
                </a:solidFill>
                <a:effectLst/>
              </a:rPr>
              <a:t>Validation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Communication diagrams are </a:t>
            </a:r>
            <a:r>
              <a:rPr lang="en-US" b="1" i="0" u="none" strike="noStrike" dirty="0">
                <a:solidFill>
                  <a:srgbClr val="000000"/>
                </a:solidFill>
                <a:effectLst/>
              </a:rPr>
              <a:t>effective for validating class diagrams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They ensure the relationships and associations between classes are correctly modeled.</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19811" name="Rectangle 2"/>
          <p:cNvSpPr>
            <a:spLocks noGrp="1" noRot="1" noChangeAspect="1" noChangeArrowheads="1" noTextEdit="1"/>
          </p:cNvSpPr>
          <p:nvPr>
            <p:ph type="sldImg"/>
          </p:nvPr>
        </p:nvSpPr>
        <p:spPr>
          <a:xfrm>
            <a:off x="1173163" y="696913"/>
            <a:ext cx="4638675" cy="3479800"/>
          </a:xfrm>
          <a:ln/>
        </p:spPr>
      </p:sp>
      <p:sp>
        <p:nvSpPr>
          <p:cNvPr id="11981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Behavior Model – State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state diagram</a:t>
            </a:r>
            <a:r>
              <a:rPr lang="en-US" b="0" i="0" u="none" strike="noStrike" dirty="0">
                <a:solidFill>
                  <a:srgbClr val="000000"/>
                </a:solidFill>
                <a:effectLst/>
              </a:rPr>
              <a:t> models the behavior of a system, subsystem, or object over time by showing the states it can be in and how it transitions between these states.</a:t>
            </a:r>
          </a:p>
          <a:p>
            <a:pPr algn="l">
              <a:buFont typeface="+mj-lt"/>
              <a:buAutoNum type="arabicPeriod"/>
            </a:pP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state</a:t>
            </a:r>
            <a:r>
              <a:rPr lang="en-US" b="0" i="0" u="none" strike="noStrike" dirty="0">
                <a:solidFill>
                  <a:srgbClr val="000000"/>
                </a:solidFill>
                <a:effectLst/>
              </a:rPr>
              <a:t> represents a condition where the system or object behaves in a specific way in response to events.</a:t>
            </a:r>
          </a:p>
          <a:p>
            <a:pPr algn="l">
              <a:buFont typeface="+mj-lt"/>
              <a:buAutoNum type="arabicPeriod"/>
            </a:pPr>
            <a:r>
              <a:rPr lang="en-US" b="1" i="0" u="none" strike="noStrike" dirty="0">
                <a:solidFill>
                  <a:srgbClr val="000000"/>
                </a:solidFill>
                <a:effectLst/>
              </a:rPr>
              <a:t>Transitions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Events cause the system to transition from one state to another.</a:t>
            </a:r>
          </a:p>
          <a:p>
            <a:pPr marL="742950" lvl="1" indent="-285750" algn="l">
              <a:buFont typeface="+mj-lt"/>
              <a:buAutoNum type="arabicPeriod"/>
            </a:pPr>
            <a:r>
              <a:rPr lang="en-US" b="0" i="0" u="none" strike="noStrike" dirty="0">
                <a:solidFill>
                  <a:srgbClr val="000000"/>
                </a:solidFill>
                <a:effectLst/>
              </a:rPr>
              <a:t>After transitioning, the system may behave differently in the new state.</a:t>
            </a:r>
          </a:p>
          <a:p>
            <a:pPr algn="l">
              <a:buFont typeface="+mj-lt"/>
              <a:buAutoNum type="arabicPeriod"/>
            </a:pPr>
            <a:r>
              <a:rPr lang="en-US" b="1" i="0" u="none" strike="noStrike" dirty="0">
                <a:solidFill>
                  <a:srgbClr val="000000"/>
                </a:solidFill>
                <a:effectLst/>
              </a:rPr>
              <a:t>Graph Structure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Nodes represent </a:t>
            </a: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Arcs represent </a:t>
            </a:r>
            <a:r>
              <a:rPr lang="en-US" b="1" i="0" u="none" strike="noStrike" dirty="0">
                <a:solidFill>
                  <a:srgbClr val="000000"/>
                </a:solidFill>
                <a:effectLst/>
              </a:rPr>
              <a:t>transitions</a:t>
            </a:r>
            <a:r>
              <a:rPr lang="en-US" b="0" i="0" u="none" strike="noStrike" dirty="0">
                <a:solidFill>
                  <a:srgbClr val="000000"/>
                </a:solidFill>
                <a:effectLst/>
              </a:rPr>
              <a:t> triggered by events.</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State diagrams provide a </a:t>
            </a:r>
            <a:r>
              <a:rPr lang="en-US" b="1" i="0" u="none" strike="noStrike" dirty="0">
                <a:solidFill>
                  <a:srgbClr val="000000"/>
                </a:solidFill>
                <a:effectLst/>
              </a:rPr>
              <a:t>dynamic view</a:t>
            </a:r>
            <a:r>
              <a:rPr lang="en-US" b="0" i="0" u="none" strike="noStrike" dirty="0">
                <a:solidFill>
                  <a:srgbClr val="000000"/>
                </a:solidFill>
                <a:effectLst/>
              </a:rPr>
              <a:t> of a system. They help visualize:</a:t>
            </a:r>
          </a:p>
          <a:p>
            <a:pPr algn="l">
              <a:buFont typeface="Arial" panose="020B0604020202020204" pitchFamily="34" charset="0"/>
              <a:buChar char="•"/>
            </a:pPr>
            <a:r>
              <a:rPr lang="en-US" b="0" i="0" u="none" strike="noStrike" dirty="0">
                <a:solidFill>
                  <a:srgbClr val="000000"/>
                </a:solidFill>
                <a:effectLst/>
              </a:rPr>
              <a:t>How a system reacts to events.</a:t>
            </a:r>
          </a:p>
          <a:p>
            <a:pPr algn="l">
              <a:buFont typeface="Arial" panose="020B0604020202020204" pitchFamily="34" charset="0"/>
              <a:buChar char="•"/>
            </a:pPr>
            <a:r>
              <a:rPr lang="en-US" b="0" i="0" u="none" strike="noStrike" dirty="0">
                <a:solidFill>
                  <a:srgbClr val="000000"/>
                </a:solidFill>
                <a:effectLst/>
              </a:rPr>
              <a:t>What triggers state changes and what behavior changes occur as a result.</a:t>
            </a:r>
          </a:p>
          <a:p>
            <a:pPr algn="l"/>
            <a:r>
              <a:rPr lang="en-US" b="1" i="0" u="none" strike="noStrike" dirty="0">
                <a:solidFill>
                  <a:srgbClr val="000000"/>
                </a:solidFill>
                <a:effectLst/>
              </a:rPr>
              <a:t>Example</a:t>
            </a:r>
            <a:r>
              <a:rPr lang="en-US" b="0" i="0" u="none" strike="noStrike" dirty="0">
                <a:solidFill>
                  <a:srgbClr val="000000"/>
                </a:solidFill>
                <a:effectLst/>
              </a:rPr>
              <a:t>: In a vending machine:</a:t>
            </a:r>
          </a:p>
          <a:p>
            <a:pPr algn="l">
              <a:buFont typeface="Arial" panose="020B0604020202020204" pitchFamily="34" charset="0"/>
              <a:buChar char="•"/>
            </a:pPr>
            <a:r>
              <a:rPr lang="en-US" b="0" i="0" u="none" strike="noStrike" dirty="0">
                <a:solidFill>
                  <a:srgbClr val="000000"/>
                </a:solidFill>
                <a:effectLst/>
              </a:rPr>
              <a:t>States: Waiting for payment, dispensing item, idle.</a:t>
            </a:r>
          </a:p>
          <a:p>
            <a:pPr algn="l">
              <a:buFont typeface="Arial" panose="020B0604020202020204" pitchFamily="34" charset="0"/>
              <a:buChar char="•"/>
            </a:pPr>
            <a:r>
              <a:rPr lang="en-US" b="0" i="0" u="none" strike="noStrike" dirty="0">
                <a:solidFill>
                  <a:srgbClr val="000000"/>
                </a:solidFill>
                <a:effectLst/>
              </a:rPr>
              <a:t>Transitions: Payment received, item dispensed.</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21859" name="Rectangle 2"/>
          <p:cNvSpPr>
            <a:spLocks noGrp="1" noRot="1" noChangeAspect="1" noChangeArrowheads="1" noTextEdit="1"/>
          </p:cNvSpPr>
          <p:nvPr>
            <p:ph type="sldImg"/>
          </p:nvPr>
        </p:nvSpPr>
        <p:spPr>
          <a:xfrm>
            <a:off x="1173163" y="696913"/>
            <a:ext cx="4638675" cy="3479800"/>
          </a:xfrm>
          <a:ln/>
        </p:spPr>
      </p:sp>
      <p:sp>
        <p:nvSpPr>
          <p:cNvPr id="12186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State Diagram Example (Tic-Tac-Toe)</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Context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example models the states of a Tic-Tac-Toe (Noughts and Crosses) game.</a:t>
            </a:r>
          </a:p>
          <a:p>
            <a:pPr algn="l">
              <a:buFont typeface="+mj-lt"/>
              <a:buAutoNum type="arabicPeriod"/>
            </a:pP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mj-lt"/>
              <a:buAutoNum type="arabicPeriod"/>
            </a:pPr>
            <a:r>
              <a:rPr lang="en-US" b="1" i="0" u="none" strike="noStrike" dirty="0" err="1">
                <a:solidFill>
                  <a:srgbClr val="000000"/>
                </a:solidFill>
                <a:effectLst/>
              </a:rPr>
              <a:t>XTurn</a:t>
            </a:r>
            <a:r>
              <a:rPr lang="en-US" b="0" i="0" u="none" strike="noStrike" dirty="0">
                <a:solidFill>
                  <a:srgbClr val="000000"/>
                </a:solidFill>
                <a:effectLst/>
              </a:rPr>
              <a:t>: Player X's turn.</a:t>
            </a:r>
          </a:p>
          <a:p>
            <a:pPr marL="742950" lvl="1" indent="-285750" algn="l">
              <a:buFont typeface="+mj-lt"/>
              <a:buAutoNum type="arabicPeriod"/>
            </a:pPr>
            <a:r>
              <a:rPr lang="en-US" b="1" i="0" u="none" strike="noStrike" dirty="0" err="1">
                <a:solidFill>
                  <a:srgbClr val="000000"/>
                </a:solidFill>
                <a:effectLst/>
              </a:rPr>
              <a:t>OTurn</a:t>
            </a:r>
            <a:r>
              <a:rPr lang="en-US" b="0" i="0" u="none" strike="noStrike" dirty="0">
                <a:solidFill>
                  <a:srgbClr val="000000"/>
                </a:solidFill>
                <a:effectLst/>
              </a:rPr>
              <a:t>: Player O's turn.</a:t>
            </a:r>
          </a:p>
          <a:p>
            <a:pPr marL="742950" lvl="1" indent="-285750" algn="l">
              <a:buFont typeface="+mj-lt"/>
              <a:buAutoNum type="arabicPeriod"/>
            </a:pPr>
            <a:r>
              <a:rPr lang="en-US" b="0" i="0" u="none" strike="noStrike" dirty="0">
                <a:solidFill>
                  <a:srgbClr val="000000"/>
                </a:solidFill>
                <a:effectLst/>
              </a:rPr>
              <a:t>End states: </a:t>
            </a:r>
            <a:r>
              <a:rPr lang="en-US" b="1" i="0" u="none" strike="noStrike" dirty="0" err="1">
                <a:solidFill>
                  <a:srgbClr val="000000"/>
                </a:solidFill>
                <a:effectLst/>
              </a:rPr>
              <a:t>XWin</a:t>
            </a:r>
            <a:r>
              <a:rPr lang="en-US" b="0" i="0" u="none" strike="noStrike" dirty="0">
                <a:solidFill>
                  <a:srgbClr val="000000"/>
                </a:solidFill>
                <a:effectLst/>
              </a:rPr>
              <a:t>, </a:t>
            </a:r>
            <a:r>
              <a:rPr lang="en-US" b="1" i="0" u="none" strike="noStrike" dirty="0" err="1">
                <a:solidFill>
                  <a:srgbClr val="000000"/>
                </a:solidFill>
                <a:effectLst/>
              </a:rPr>
              <a:t>OWin</a:t>
            </a:r>
            <a:r>
              <a:rPr lang="en-US" b="0" i="0" u="none" strike="noStrike" dirty="0">
                <a:solidFill>
                  <a:srgbClr val="000000"/>
                </a:solidFill>
                <a:effectLst/>
              </a:rPr>
              <a:t>, </a:t>
            </a:r>
            <a:r>
              <a:rPr lang="en-US" b="1" i="0" u="none" strike="noStrike" dirty="0">
                <a:solidFill>
                  <a:srgbClr val="000000"/>
                </a:solidFill>
                <a:effectLst/>
              </a:rPr>
              <a:t>Tie</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Transitions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Moves alternate between X and O (</a:t>
            </a:r>
            <a:r>
              <a:rPr lang="en-US" b="0" i="0" u="none" strike="noStrike" dirty="0" err="1">
                <a:solidFill>
                  <a:srgbClr val="000000"/>
                </a:solidFill>
                <a:effectLst/>
              </a:rPr>
              <a:t>XTurn</a:t>
            </a:r>
            <a:r>
              <a:rPr lang="en-US" b="0" i="0" u="none" strike="noStrike" dirty="0">
                <a:solidFill>
                  <a:srgbClr val="000000"/>
                </a:solidFill>
                <a:effectLst/>
              </a:rPr>
              <a:t> → </a:t>
            </a:r>
            <a:r>
              <a:rPr lang="en-US" b="0" i="0" u="none" strike="noStrike" dirty="0" err="1">
                <a:solidFill>
                  <a:srgbClr val="000000"/>
                </a:solidFill>
                <a:effectLst/>
              </a:rPr>
              <a:t>OTurn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Depending on the game outcome, the states transition to:</a:t>
            </a:r>
          </a:p>
          <a:p>
            <a:pPr marL="1143000" lvl="2" indent="-228600" algn="l">
              <a:buFont typeface="+mj-lt"/>
              <a:buAutoNum type="arabicPeriod"/>
            </a:pPr>
            <a:r>
              <a:rPr lang="en-US" b="1" i="0" u="none" strike="noStrike" dirty="0" err="1">
                <a:solidFill>
                  <a:srgbClr val="000000"/>
                </a:solidFill>
                <a:effectLst/>
              </a:rPr>
              <a:t>XWin</a:t>
            </a:r>
            <a:r>
              <a:rPr lang="en-US" b="0" i="0" u="none" strike="noStrike" dirty="0">
                <a:solidFill>
                  <a:srgbClr val="000000"/>
                </a:solidFill>
                <a:effectLst/>
              </a:rPr>
              <a:t>: If Player X wins.</a:t>
            </a:r>
          </a:p>
          <a:p>
            <a:pPr marL="1143000" lvl="2" indent="-228600" algn="l">
              <a:buFont typeface="+mj-lt"/>
              <a:buAutoNum type="arabicPeriod"/>
            </a:pPr>
            <a:r>
              <a:rPr lang="en-US" b="1" i="0" u="none" strike="noStrike" dirty="0" err="1">
                <a:solidFill>
                  <a:srgbClr val="000000"/>
                </a:solidFill>
                <a:effectLst/>
              </a:rPr>
              <a:t>OWin</a:t>
            </a:r>
            <a:r>
              <a:rPr lang="en-US" b="0" i="0" u="none" strike="noStrike" dirty="0">
                <a:solidFill>
                  <a:srgbClr val="000000"/>
                </a:solidFill>
                <a:effectLst/>
              </a:rPr>
              <a:t>: If Player O wins.</a:t>
            </a:r>
          </a:p>
          <a:p>
            <a:pPr marL="1143000" lvl="2" indent="-228600" algn="l">
              <a:buFont typeface="+mj-lt"/>
              <a:buAutoNum type="arabicPeriod"/>
            </a:pPr>
            <a:r>
              <a:rPr lang="en-US" b="1" i="0" u="none" strike="noStrike" dirty="0">
                <a:solidFill>
                  <a:srgbClr val="000000"/>
                </a:solidFill>
                <a:effectLst/>
              </a:rPr>
              <a:t>Tie</a:t>
            </a:r>
            <a:r>
              <a:rPr lang="en-US" b="0" i="0" u="none" strike="noStrike" dirty="0">
                <a:solidFill>
                  <a:srgbClr val="000000"/>
                </a:solidFill>
                <a:effectLst/>
              </a:rPr>
              <a:t>: If the game ends in a draw.</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models the </a:t>
            </a:r>
            <a:r>
              <a:rPr lang="en-US" b="1" i="0" u="none" strike="noStrike" dirty="0">
                <a:solidFill>
                  <a:srgbClr val="000000"/>
                </a:solidFill>
                <a:effectLst/>
              </a:rPr>
              <a:t>flow of a game</a:t>
            </a:r>
            <a:r>
              <a:rPr lang="en-US" b="0" i="0" u="none" strike="noStrike" dirty="0">
                <a:solidFill>
                  <a:srgbClr val="000000"/>
                </a:solidFill>
                <a:effectLst/>
              </a:rPr>
              <a:t> based on player turns and outcomes:</a:t>
            </a:r>
          </a:p>
          <a:p>
            <a:pPr algn="l">
              <a:buFont typeface="Arial" panose="020B0604020202020204" pitchFamily="34" charset="0"/>
              <a:buChar char="•"/>
            </a:pPr>
            <a:r>
              <a:rPr lang="en-US" b="1" i="0" u="none" strike="noStrike" dirty="0">
                <a:solidFill>
                  <a:srgbClr val="000000"/>
                </a:solidFill>
                <a:effectLst/>
              </a:rPr>
              <a:t>Transitions</a:t>
            </a:r>
            <a:r>
              <a:rPr lang="en-US" b="0" i="0" u="none" strike="noStrike" dirty="0">
                <a:solidFill>
                  <a:srgbClr val="000000"/>
                </a:solidFill>
                <a:effectLst/>
              </a:rPr>
              <a:t>: Player actions trigger state changes (e.g., from </a:t>
            </a:r>
            <a:r>
              <a:rPr lang="en-US" b="0" i="0" u="none" strike="noStrike" dirty="0" err="1">
                <a:solidFill>
                  <a:srgbClr val="000000"/>
                </a:solidFill>
                <a:effectLst/>
              </a:rPr>
              <a:t>XTurn</a:t>
            </a:r>
            <a:r>
              <a:rPr lang="en-US" b="0" i="0" u="none" strike="noStrike" dirty="0">
                <a:solidFill>
                  <a:srgbClr val="000000"/>
                </a:solidFill>
                <a:effectLst/>
              </a:rPr>
              <a:t> to </a:t>
            </a:r>
            <a:r>
              <a:rPr lang="en-US" b="0" i="0" u="none" strike="noStrike" dirty="0" err="1">
                <a:solidFill>
                  <a:srgbClr val="000000"/>
                </a:solidFill>
                <a:effectLst/>
              </a:rPr>
              <a:t>OTurn</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a:solidFill>
                  <a:srgbClr val="000000"/>
                </a:solidFill>
                <a:effectLst/>
              </a:rPr>
              <a:t>End States</a:t>
            </a:r>
            <a:r>
              <a:rPr lang="en-US" b="0" i="0" u="none" strike="noStrike" dirty="0">
                <a:solidFill>
                  <a:srgbClr val="000000"/>
                </a:solidFill>
                <a:effectLst/>
              </a:rPr>
              <a:t>: The game concludes in one of three outcomes.</a:t>
            </a:r>
          </a:p>
          <a:p>
            <a:pPr algn="l"/>
            <a:r>
              <a:rPr lang="en-US" b="1" i="0" u="none" strike="noStrike" dirty="0">
                <a:solidFill>
                  <a:srgbClr val="000000"/>
                </a:solidFill>
                <a:effectLst/>
              </a:rPr>
              <a:t>Example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X plays a move → O's turn → Repeat until a win or tie.</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23907" name="Rectangle 2"/>
          <p:cNvSpPr>
            <a:spLocks noGrp="1" noRot="1" noChangeAspect="1" noChangeArrowheads="1" noTextEdit="1"/>
          </p:cNvSpPr>
          <p:nvPr>
            <p:ph type="sldImg"/>
          </p:nvPr>
        </p:nvSpPr>
        <p:spPr>
          <a:xfrm>
            <a:off x="1173163" y="696913"/>
            <a:ext cx="4638675" cy="3479800"/>
          </a:xfrm>
          <a:ln/>
        </p:spPr>
      </p:sp>
      <p:sp>
        <p:nvSpPr>
          <p:cNvPr id="123908"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States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 any time, a system is in </a:t>
            </a:r>
            <a:r>
              <a:rPr lang="en-US" b="1" i="0" u="none" strike="noStrike" dirty="0">
                <a:solidFill>
                  <a:srgbClr val="000000"/>
                </a:solidFill>
                <a:effectLst/>
              </a:rPr>
              <a:t>one specific state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It will remain in that state until an </a:t>
            </a:r>
            <a:r>
              <a:rPr lang="en-US" b="1" i="0" u="none" strike="noStrike" dirty="0">
                <a:solidFill>
                  <a:srgbClr val="000000"/>
                </a:solidFill>
                <a:effectLst/>
              </a:rPr>
              <a:t>event triggers a transition</a:t>
            </a:r>
            <a:r>
              <a:rPr lang="en-US" b="0" i="0" u="none" strike="noStrike" dirty="0">
                <a:solidFill>
                  <a:srgbClr val="000000"/>
                </a:solidFill>
                <a:effectLst/>
              </a:rPr>
              <a:t> to a different state.</a:t>
            </a:r>
          </a:p>
          <a:p>
            <a:pPr algn="l">
              <a:buFont typeface="+mj-lt"/>
              <a:buAutoNum type="arabicPeriod"/>
            </a:pPr>
            <a:r>
              <a:rPr lang="en-US" b="1" i="0" u="none" strike="noStrike" dirty="0">
                <a:solidFill>
                  <a:srgbClr val="000000"/>
                </a:solidFill>
                <a:effectLst/>
              </a:rPr>
              <a:t>Representation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state</a:t>
            </a:r>
            <a:r>
              <a:rPr lang="en-US" b="0" i="0" u="none" strike="noStrike" dirty="0">
                <a:solidFill>
                  <a:srgbClr val="000000"/>
                </a:solidFill>
                <a:effectLst/>
              </a:rPr>
              <a:t> is shown as a rounded rectangle containing the state's name.</a:t>
            </a:r>
          </a:p>
          <a:p>
            <a:pPr algn="l">
              <a:buFont typeface="+mj-lt"/>
              <a:buAutoNum type="arabicPeriod"/>
            </a:pPr>
            <a:r>
              <a:rPr lang="en-US" b="1" i="0" u="none" strike="noStrike" dirty="0">
                <a:solidFill>
                  <a:srgbClr val="000000"/>
                </a:solidFill>
                <a:effectLst/>
              </a:rPr>
              <a:t>Special States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Start state</a:t>
            </a:r>
            <a:r>
              <a:rPr lang="en-US" b="0" i="0" u="none" strike="noStrike" dirty="0">
                <a:solidFill>
                  <a:srgbClr val="000000"/>
                </a:solidFill>
                <a:effectLst/>
              </a:rPr>
              <a:t>: Represented by a black circle.</a:t>
            </a:r>
          </a:p>
          <a:p>
            <a:pPr marL="742950" lvl="1" indent="-285750" algn="l">
              <a:buFont typeface="+mj-lt"/>
              <a:buAutoNum type="arabicPeriod"/>
            </a:pPr>
            <a:r>
              <a:rPr lang="en-US" b="1" i="0" u="none" strike="noStrike" dirty="0">
                <a:solidFill>
                  <a:srgbClr val="000000"/>
                </a:solidFill>
                <a:effectLst/>
              </a:rPr>
              <a:t>End state</a:t>
            </a:r>
            <a:r>
              <a:rPr lang="en-US" b="0" i="0" u="none" strike="noStrike" dirty="0">
                <a:solidFill>
                  <a:srgbClr val="000000"/>
                </a:solidFill>
                <a:effectLst/>
              </a:rPr>
              <a:t>: Represented by a circle with a ring around it.</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States define the </a:t>
            </a:r>
            <a:r>
              <a:rPr lang="en-US" b="1" i="0" u="none" strike="noStrike" dirty="0">
                <a:solidFill>
                  <a:srgbClr val="000000"/>
                </a:solidFill>
                <a:effectLst/>
              </a:rPr>
              <a:t>behavior</a:t>
            </a:r>
            <a:r>
              <a:rPr lang="en-US" b="0" i="0" u="none" strike="noStrike" dirty="0">
                <a:solidFill>
                  <a:srgbClr val="000000"/>
                </a:solidFill>
                <a:effectLst/>
              </a:rPr>
              <a:t> of a system at a specific time. The system remains in one state until an event causes it to move to another state.</a:t>
            </a:r>
          </a:p>
          <a:p>
            <a:pPr algn="l"/>
            <a:r>
              <a:rPr lang="en-US" b="1" i="0" u="none" strike="noStrike" dirty="0">
                <a:solidFill>
                  <a:srgbClr val="000000"/>
                </a:solidFill>
                <a:effectLst/>
              </a:rPr>
              <a:t>Example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A washing machine:</a:t>
            </a:r>
          </a:p>
          <a:p>
            <a:pPr marL="742950" lvl="1" indent="-285750" algn="l">
              <a:buFont typeface="Arial" panose="020B0604020202020204" pitchFamily="34" charset="0"/>
              <a:buChar char="•"/>
            </a:pPr>
            <a:r>
              <a:rPr lang="en-US" b="0" i="0" u="none" strike="noStrike" dirty="0">
                <a:solidFill>
                  <a:srgbClr val="000000"/>
                </a:solidFill>
                <a:effectLst/>
              </a:rPr>
              <a:t>States: Idle, Washing, Rinsing, Spinning.</a:t>
            </a:r>
          </a:p>
          <a:p>
            <a:pPr marL="742950" lvl="1" indent="-285750" algn="l">
              <a:buFont typeface="Arial" panose="020B0604020202020204" pitchFamily="34" charset="0"/>
              <a:buChar char="•"/>
            </a:pPr>
            <a:r>
              <a:rPr lang="en-US" b="0" i="0" u="none" strike="noStrike" dirty="0">
                <a:solidFill>
                  <a:srgbClr val="000000"/>
                </a:solidFill>
                <a:effectLst/>
              </a:rPr>
              <a:t>Start state: Idle.</a:t>
            </a:r>
          </a:p>
          <a:p>
            <a:pPr marL="742950" lvl="1" indent="-285750" algn="l">
              <a:buFont typeface="Arial" panose="020B0604020202020204" pitchFamily="34" charset="0"/>
              <a:buChar char="•"/>
            </a:pPr>
            <a:r>
              <a:rPr lang="en-US" b="0" i="0" u="none" strike="noStrike" dirty="0">
                <a:solidFill>
                  <a:srgbClr val="000000"/>
                </a:solidFill>
                <a:effectLst/>
              </a:rPr>
              <a:t>End state: Completed.</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25955" name="Rectangle 2"/>
          <p:cNvSpPr>
            <a:spLocks noGrp="1" noRot="1" noChangeAspect="1" noChangeArrowheads="1" noTextEdit="1"/>
          </p:cNvSpPr>
          <p:nvPr>
            <p:ph type="sldImg"/>
          </p:nvPr>
        </p:nvSpPr>
        <p:spPr>
          <a:xfrm>
            <a:off x="1173163" y="696913"/>
            <a:ext cx="4638675" cy="3479800"/>
          </a:xfrm>
          <a:ln/>
        </p:spPr>
      </p:sp>
      <p:sp>
        <p:nvSpPr>
          <p:cNvPr id="12595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Transitions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transition represents a </a:t>
            </a:r>
            <a:r>
              <a:rPr lang="en-US" b="1" i="0" u="none" strike="noStrike" dirty="0">
                <a:solidFill>
                  <a:srgbClr val="000000"/>
                </a:solidFill>
                <a:effectLst/>
              </a:rPr>
              <a:t>state change</a:t>
            </a:r>
            <a:r>
              <a:rPr lang="en-US" b="0" i="0" u="none" strike="noStrike" dirty="0">
                <a:solidFill>
                  <a:srgbClr val="000000"/>
                </a:solidFill>
                <a:effectLst/>
              </a:rPr>
              <a:t> in response to an event.</a:t>
            </a:r>
          </a:p>
          <a:p>
            <a:pPr marL="742950" lvl="1" indent="-285750" algn="l">
              <a:buFont typeface="+mj-lt"/>
              <a:buAutoNum type="arabicPeriod"/>
            </a:pPr>
            <a:r>
              <a:rPr lang="en-US" b="0" i="0" u="none" strike="noStrike" dirty="0">
                <a:solidFill>
                  <a:srgbClr val="000000"/>
                </a:solidFill>
                <a:effectLst/>
              </a:rPr>
              <a:t>Transitions are </a:t>
            </a:r>
            <a:r>
              <a:rPr lang="en-US" b="1" i="0" u="none" strike="noStrike" dirty="0">
                <a:solidFill>
                  <a:srgbClr val="000000"/>
                </a:solidFill>
                <a:effectLst/>
              </a:rPr>
              <a:t>instantaneous</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Labeling</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Each transition is labeled with the </a:t>
            </a:r>
            <a:r>
              <a:rPr lang="en-US" b="1" i="0" u="none" strike="noStrike" dirty="0">
                <a:solidFill>
                  <a:srgbClr val="000000"/>
                </a:solidFill>
                <a:effectLst/>
              </a:rPr>
              <a:t>event</a:t>
            </a:r>
            <a:r>
              <a:rPr lang="en-US" b="0" i="0" u="none" strike="noStrike" dirty="0">
                <a:solidFill>
                  <a:srgbClr val="000000"/>
                </a:solidFill>
                <a:effectLst/>
              </a:rPr>
              <a:t> that causes the state change.</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Transitions show how a system moves from one state to another. They are triggered by events, and the labels on transitions explain what caused the change.</a:t>
            </a:r>
          </a:p>
          <a:p>
            <a:pPr algn="l"/>
            <a:r>
              <a:rPr lang="en-US" b="1" i="0" u="none" strike="noStrike" dirty="0">
                <a:solidFill>
                  <a:srgbClr val="000000"/>
                </a:solidFill>
                <a:effectLst/>
              </a:rPr>
              <a:t>Example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In an elevator:</a:t>
            </a:r>
          </a:p>
          <a:p>
            <a:pPr marL="742950" lvl="1" indent="-285750" algn="l">
              <a:buFont typeface="Arial" panose="020B0604020202020204" pitchFamily="34" charset="0"/>
              <a:buChar char="•"/>
            </a:pPr>
            <a:r>
              <a:rPr lang="en-US" b="0" i="0" u="none" strike="noStrike" dirty="0">
                <a:solidFill>
                  <a:srgbClr val="000000"/>
                </a:solidFill>
                <a:effectLst/>
              </a:rPr>
              <a:t>Event: Button pressed → Transition from "Idle" to "Moving."</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28003" name="Rectangle 2"/>
          <p:cNvSpPr>
            <a:spLocks noGrp="1" noRot="1" noChangeAspect="1" noChangeArrowheads="1" noTextEdit="1"/>
          </p:cNvSpPr>
          <p:nvPr>
            <p:ph type="sldImg"/>
          </p:nvPr>
        </p:nvSpPr>
        <p:spPr>
          <a:xfrm>
            <a:off x="1173163" y="696913"/>
            <a:ext cx="4638675" cy="3479800"/>
          </a:xfrm>
          <a:ln/>
        </p:spPr>
      </p:sp>
      <p:sp>
        <p:nvSpPr>
          <p:cNvPr id="12800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3: State Diagram Example with Time-Outs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Traffic Light System</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States: </a:t>
            </a:r>
            <a:r>
              <a:rPr lang="en-US" b="0" i="0" u="none" strike="noStrike" dirty="0" err="1">
                <a:solidFill>
                  <a:srgbClr val="000000"/>
                </a:solidFill>
                <a:effectLst/>
              </a:rPr>
              <a:t>GreenLight</a:t>
            </a:r>
            <a:r>
              <a:rPr lang="en-US" b="0" i="0" u="none" strike="noStrike" dirty="0">
                <a:solidFill>
                  <a:srgbClr val="000000"/>
                </a:solidFill>
                <a:effectLst/>
              </a:rPr>
              <a:t>, </a:t>
            </a:r>
            <a:r>
              <a:rPr lang="en-US" b="0" i="0" u="none" strike="noStrike" dirty="0" err="1">
                <a:solidFill>
                  <a:srgbClr val="000000"/>
                </a:solidFill>
                <a:effectLst/>
              </a:rPr>
              <a:t>YellowLight</a:t>
            </a:r>
            <a:r>
              <a:rPr lang="en-US" b="0" i="0" u="none" strike="noStrike" dirty="0">
                <a:solidFill>
                  <a:srgbClr val="000000"/>
                </a:solidFill>
                <a:effectLst/>
              </a:rPr>
              <a:t>, </a:t>
            </a:r>
            <a:r>
              <a:rPr lang="en-US" b="0" i="0" u="none" strike="noStrike" dirty="0" err="1">
                <a:solidFill>
                  <a:srgbClr val="000000"/>
                </a:solidFill>
                <a:effectLst/>
              </a:rPr>
              <a:t>RedLight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Transitions:</a:t>
            </a:r>
          </a:p>
          <a:p>
            <a:pPr marL="1143000" lvl="2" indent="-228600" algn="l">
              <a:buFont typeface="+mj-lt"/>
              <a:buAutoNum type="arabicPeriod"/>
            </a:pPr>
            <a:r>
              <a:rPr lang="en-US" b="1" i="0" u="none" strike="noStrike" dirty="0" err="1">
                <a:solidFill>
                  <a:srgbClr val="000000"/>
                </a:solidFill>
                <a:effectLst/>
              </a:rPr>
              <a:t>GreenLight</a:t>
            </a:r>
            <a:r>
              <a:rPr lang="en-US" b="1" i="0" u="none" strike="noStrike" dirty="0">
                <a:solidFill>
                  <a:srgbClr val="000000"/>
                </a:solidFill>
                <a:effectLst/>
              </a:rPr>
              <a:t> → </a:t>
            </a:r>
            <a:r>
              <a:rPr lang="en-US" b="1" i="0" u="none" strike="noStrike" dirty="0" err="1">
                <a:solidFill>
                  <a:srgbClr val="000000"/>
                </a:solidFill>
                <a:effectLst/>
              </a:rPr>
              <a:t>YellowLight</a:t>
            </a:r>
            <a:r>
              <a:rPr lang="en-US" b="0" i="0" u="none" strike="noStrike" dirty="0">
                <a:solidFill>
                  <a:srgbClr val="000000"/>
                </a:solidFill>
                <a:effectLst/>
              </a:rPr>
              <a:t>: After 25 seconds.</a:t>
            </a:r>
          </a:p>
          <a:p>
            <a:pPr marL="1143000" lvl="2" indent="-228600" algn="l">
              <a:buFont typeface="+mj-lt"/>
              <a:buAutoNum type="arabicPeriod"/>
            </a:pPr>
            <a:r>
              <a:rPr lang="en-US" b="1" i="0" u="none" strike="noStrike" dirty="0" err="1">
                <a:solidFill>
                  <a:srgbClr val="000000"/>
                </a:solidFill>
                <a:effectLst/>
              </a:rPr>
              <a:t>YellowLight</a:t>
            </a:r>
            <a:r>
              <a:rPr lang="en-US" b="1" i="0" u="none" strike="noStrike" dirty="0">
                <a:solidFill>
                  <a:srgbClr val="000000"/>
                </a:solidFill>
                <a:effectLst/>
              </a:rPr>
              <a:t> → </a:t>
            </a:r>
            <a:r>
              <a:rPr lang="en-US" b="1" i="0" u="none" strike="noStrike" dirty="0" err="1">
                <a:solidFill>
                  <a:srgbClr val="000000"/>
                </a:solidFill>
                <a:effectLst/>
              </a:rPr>
              <a:t>RedLight</a:t>
            </a:r>
            <a:r>
              <a:rPr lang="en-US" b="0" i="0" u="none" strike="noStrike" dirty="0">
                <a:solidFill>
                  <a:srgbClr val="000000"/>
                </a:solidFill>
                <a:effectLst/>
              </a:rPr>
              <a:t>: After 5 seconds.</a:t>
            </a:r>
          </a:p>
          <a:p>
            <a:pPr marL="1143000" lvl="2" indent="-228600" algn="l">
              <a:buFont typeface="+mj-lt"/>
              <a:buAutoNum type="arabicPeriod"/>
            </a:pPr>
            <a:r>
              <a:rPr lang="en-US" b="1" i="0" u="none" strike="noStrike" dirty="0" err="1">
                <a:solidFill>
                  <a:srgbClr val="000000"/>
                </a:solidFill>
                <a:effectLst/>
              </a:rPr>
              <a:t>RedLight</a:t>
            </a:r>
            <a:r>
              <a:rPr lang="en-US" b="1" i="0" u="none" strike="noStrike" dirty="0">
                <a:solidFill>
                  <a:srgbClr val="000000"/>
                </a:solidFill>
                <a:effectLst/>
              </a:rPr>
              <a:t> → </a:t>
            </a:r>
            <a:r>
              <a:rPr lang="en-US" b="1" i="0" u="none" strike="noStrike" dirty="0" err="1">
                <a:solidFill>
                  <a:srgbClr val="000000"/>
                </a:solidFill>
                <a:effectLst/>
              </a:rPr>
              <a:t>GreenLight</a:t>
            </a:r>
            <a:r>
              <a:rPr lang="en-US" b="0" i="0" u="none" strike="noStrike" dirty="0">
                <a:solidFill>
                  <a:srgbClr val="000000"/>
                </a:solidFill>
                <a:effectLst/>
              </a:rPr>
              <a:t>: After 30 seconds.</a:t>
            </a:r>
          </a:p>
          <a:p>
            <a:pPr algn="l">
              <a:buFont typeface="+mj-lt"/>
              <a:buAutoNum type="arabicPeriod"/>
            </a:pPr>
            <a:r>
              <a:rPr lang="en-US" b="1" i="0" u="none" strike="noStrike" dirty="0">
                <a:solidFill>
                  <a:srgbClr val="000000"/>
                </a:solidFill>
                <a:effectLst/>
              </a:rPr>
              <a:t>Enhanced 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Includes conditions like </a:t>
            </a:r>
            <a:r>
              <a:rPr lang="en-US" b="0" i="0" u="none" strike="noStrike" dirty="0" err="1">
                <a:solidFill>
                  <a:srgbClr val="000000"/>
                </a:solidFill>
                <a:effectLst/>
              </a:rPr>
              <a:t>vehicleWaitingToTurn</a:t>
            </a:r>
            <a:r>
              <a:rPr lang="en-US" b="0" i="0" u="none" strike="noStrike" dirty="0">
                <a:solidFill>
                  <a:srgbClr val="000000"/>
                </a:solidFill>
                <a:effectLst/>
              </a:rPr>
              <a:t> for more complex behaviors.</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State diagrams with time-outs model </a:t>
            </a:r>
            <a:r>
              <a:rPr lang="en-US" b="1" i="0" u="none" strike="noStrike" dirty="0">
                <a:solidFill>
                  <a:srgbClr val="000000"/>
                </a:solidFill>
                <a:effectLst/>
              </a:rPr>
              <a:t>time-dependent behaviors</a:t>
            </a:r>
            <a:r>
              <a:rPr lang="en-US" b="0" i="0" u="none" strike="noStrike" dirty="0">
                <a:solidFill>
                  <a:srgbClr val="000000"/>
                </a:solidFill>
                <a:effectLst/>
              </a:rPr>
              <a:t>, such as traffic lights. The system changes states after specific time intervals or based on conditions.</a:t>
            </a:r>
          </a:p>
          <a:p>
            <a:pPr algn="l"/>
            <a:r>
              <a:rPr lang="en-US" b="1" i="0" u="none" strike="noStrike" dirty="0">
                <a:solidFill>
                  <a:srgbClr val="000000"/>
                </a:solidFill>
                <a:effectLst/>
              </a:rPr>
              <a:t>Use Case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Traffic management systems, ensuring timed signal changes.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30051" name="Rectangle 2"/>
          <p:cNvSpPr>
            <a:spLocks noGrp="1" noRot="1" noChangeAspect="1" noChangeArrowheads="1" noTextEdit="1"/>
          </p:cNvSpPr>
          <p:nvPr>
            <p:ph type="sldImg"/>
          </p:nvPr>
        </p:nvSpPr>
        <p:spPr>
          <a:xfrm>
            <a:off x="1173163" y="696913"/>
            <a:ext cx="4638675" cy="3479800"/>
          </a:xfrm>
          <a:ln/>
        </p:spPr>
      </p:sp>
      <p:sp>
        <p:nvSpPr>
          <p:cNvPr id="13005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4: State Diagram Example with Conditional Transitions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Course Registration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States:</a:t>
            </a:r>
          </a:p>
          <a:p>
            <a:pPr marL="1143000" lvl="2" indent="-228600" algn="l">
              <a:buFont typeface="+mj-lt"/>
              <a:buAutoNum type="arabicPeriod"/>
            </a:pPr>
            <a:r>
              <a:rPr lang="en-US" b="0" i="0" u="none" strike="noStrike" dirty="0">
                <a:solidFill>
                  <a:srgbClr val="000000"/>
                </a:solidFill>
                <a:effectLst/>
              </a:rPr>
              <a:t>Planned → </a:t>
            </a:r>
            <a:r>
              <a:rPr lang="en-US" b="0" i="0" u="none" strike="noStrike" dirty="0" err="1">
                <a:solidFill>
                  <a:srgbClr val="000000"/>
                </a:solidFill>
                <a:effectLst/>
              </a:rPr>
              <a:t>OpenNotEnoughStudents</a:t>
            </a:r>
            <a:r>
              <a:rPr lang="en-US" b="0" i="0" u="none" strike="noStrike" dirty="0">
                <a:solidFill>
                  <a:srgbClr val="000000"/>
                </a:solidFill>
                <a:effectLst/>
              </a:rPr>
              <a:t> → </a:t>
            </a:r>
            <a:r>
              <a:rPr lang="en-US" b="0" i="0" u="none" strike="noStrike" dirty="0" err="1">
                <a:solidFill>
                  <a:srgbClr val="000000"/>
                </a:solidFill>
                <a:effectLst/>
              </a:rPr>
              <a:t>OpenEnoughStudents</a:t>
            </a:r>
            <a:r>
              <a:rPr lang="en-US" b="0" i="0" u="none" strike="noStrike" dirty="0">
                <a:solidFill>
                  <a:srgbClr val="000000"/>
                </a:solidFill>
                <a:effectLst/>
              </a:rPr>
              <a:t> → Closed or Cancelled.</a:t>
            </a:r>
          </a:p>
          <a:p>
            <a:pPr algn="l">
              <a:buFont typeface="+mj-lt"/>
              <a:buAutoNum type="arabicPeriod"/>
            </a:pPr>
            <a:r>
              <a:rPr lang="en-US" b="1" i="0" u="none" strike="noStrike" dirty="0">
                <a:solidFill>
                  <a:srgbClr val="000000"/>
                </a:solidFill>
                <a:effectLst/>
              </a:rPr>
              <a:t>Conditional Transitions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Transitions depend on conditions like:</a:t>
            </a:r>
          </a:p>
          <a:p>
            <a:pPr marL="1143000" lvl="2" indent="-228600" algn="l">
              <a:buFont typeface="+mj-lt"/>
              <a:buAutoNum type="arabicPeriod"/>
            </a:pPr>
            <a:r>
              <a:rPr lang="en-US" b="0" i="0" u="none" strike="noStrike" dirty="0" err="1">
                <a:solidFill>
                  <a:srgbClr val="000000"/>
                </a:solidFill>
                <a:effectLst/>
              </a:rPr>
              <a:t>classSize</a:t>
            </a:r>
            <a:r>
              <a:rPr lang="en-US" b="0" i="0" u="none" strike="noStrike" dirty="0">
                <a:solidFill>
                  <a:srgbClr val="000000"/>
                </a:solidFill>
                <a:effectLst/>
              </a:rPr>
              <a:t> &gt;= minimum → Move to </a:t>
            </a:r>
            <a:r>
              <a:rPr lang="en-US" b="0" i="0" u="none" strike="noStrike" dirty="0" err="1">
                <a:solidFill>
                  <a:srgbClr val="000000"/>
                </a:solidFill>
                <a:effectLst/>
              </a:rPr>
              <a:t>OpenEnoughStudents</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cancel → Move to Cancelled.</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shows </a:t>
            </a:r>
            <a:r>
              <a:rPr lang="en-US" b="1" i="0" u="none" strike="noStrike" dirty="0">
                <a:solidFill>
                  <a:srgbClr val="000000"/>
                </a:solidFill>
                <a:effectLst/>
              </a:rPr>
              <a:t>conditional transitions</a:t>
            </a:r>
            <a:r>
              <a:rPr lang="en-US" b="0" i="0" u="none" strike="noStrike" dirty="0">
                <a:solidFill>
                  <a:srgbClr val="000000"/>
                </a:solidFill>
                <a:effectLst/>
              </a:rPr>
              <a:t> for a course registration system:</a:t>
            </a:r>
          </a:p>
          <a:p>
            <a:pPr algn="l">
              <a:buFont typeface="Arial" panose="020B0604020202020204" pitchFamily="34" charset="0"/>
              <a:buChar char="•"/>
            </a:pPr>
            <a:r>
              <a:rPr lang="en-US" b="0" i="0" u="none" strike="noStrike" dirty="0">
                <a:solidFill>
                  <a:srgbClr val="000000"/>
                </a:solidFill>
                <a:effectLst/>
              </a:rPr>
              <a:t>If enough students enroll, the state transitions to </a:t>
            </a:r>
            <a:r>
              <a:rPr lang="en-US" b="1" i="0" u="none" strike="noStrike" dirty="0" err="1">
                <a:solidFill>
                  <a:srgbClr val="000000"/>
                </a:solidFill>
                <a:effectLst/>
              </a:rPr>
              <a:t>OpenEnoughStudents</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If canceled, it transitions to </a:t>
            </a:r>
            <a:r>
              <a:rPr lang="en-US" b="1" i="0" u="none" strike="noStrike" dirty="0">
                <a:solidFill>
                  <a:srgbClr val="000000"/>
                </a:solidFill>
                <a:effectLst/>
              </a:rPr>
              <a:t>Cancelled</a:t>
            </a:r>
            <a:r>
              <a:rPr lang="en-US" b="0" i="0" u="none" strike="noStrike" dirty="0">
                <a:solidFill>
                  <a:srgbClr val="000000"/>
                </a:solidFill>
                <a:effectLst/>
              </a:rPr>
              <a:t>.</a:t>
            </a:r>
          </a:p>
          <a:p>
            <a:pPr algn="l"/>
            <a:r>
              <a:rPr lang="en-US" b="1" i="0" u="none" strike="noStrike" dirty="0">
                <a:solidFill>
                  <a:srgbClr val="000000"/>
                </a:solidFill>
                <a:effectLst/>
              </a:rPr>
              <a:t>Use Case</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Academic systems for managing course registrations.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32099" name="Rectangle 2"/>
          <p:cNvSpPr>
            <a:spLocks noGrp="1" noRot="1" noChangeAspect="1" noChangeArrowheads="1" noTextEdit="1"/>
          </p:cNvSpPr>
          <p:nvPr>
            <p:ph type="sldImg"/>
          </p:nvPr>
        </p:nvSpPr>
        <p:spPr>
          <a:xfrm>
            <a:off x="1173163" y="696913"/>
            <a:ext cx="4638675" cy="3479800"/>
          </a:xfrm>
          <a:ln/>
        </p:spPr>
      </p:sp>
      <p:sp>
        <p:nvSpPr>
          <p:cNvPr id="13210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Activities in State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An </a:t>
            </a:r>
            <a:r>
              <a:rPr lang="en-US" b="1" i="0" u="none" strike="noStrike" dirty="0">
                <a:solidFill>
                  <a:srgbClr val="000000"/>
                </a:solidFill>
                <a:effectLst/>
              </a:rPr>
              <a:t>activity</a:t>
            </a:r>
            <a:r>
              <a:rPr lang="en-US" b="0" i="0" u="none" strike="noStrike" dirty="0">
                <a:solidFill>
                  <a:srgbClr val="000000"/>
                </a:solidFill>
                <a:effectLst/>
              </a:rPr>
              <a:t> is something that occurs while a system is in a specific state.</a:t>
            </a:r>
          </a:p>
          <a:p>
            <a:pPr marL="742950" lvl="1" indent="-285750" algn="l">
              <a:buFont typeface="+mj-lt"/>
              <a:buAutoNum type="arabicPeriod"/>
            </a:pPr>
            <a:r>
              <a:rPr lang="en-US" b="0" i="0" u="none" strike="noStrike" dirty="0">
                <a:solidFill>
                  <a:srgbClr val="000000"/>
                </a:solidFill>
                <a:effectLst/>
              </a:rPr>
              <a:t>Activities take a </a:t>
            </a:r>
            <a:r>
              <a:rPr lang="en-US" b="1" i="0" u="none" strike="noStrike" dirty="0">
                <a:solidFill>
                  <a:srgbClr val="000000"/>
                </a:solidFill>
                <a:effectLst/>
              </a:rPr>
              <a:t>period of time</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Transitions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system may transition out of the state after the activity finishes.</a:t>
            </a:r>
          </a:p>
          <a:p>
            <a:pPr marL="742950" lvl="1" indent="-285750" algn="l">
              <a:buFont typeface="+mj-lt"/>
              <a:buAutoNum type="arabicPeriod"/>
            </a:pPr>
            <a:r>
              <a:rPr lang="en-US" b="0" i="0" u="none" strike="noStrike" dirty="0">
                <a:solidFill>
                  <a:srgbClr val="000000"/>
                </a:solidFill>
                <a:effectLst/>
              </a:rPr>
              <a:t>Other transitions may interrupt the activity or cause an early exit from the state.</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Activities represent </a:t>
            </a:r>
            <a:r>
              <a:rPr lang="en-US" b="1" i="0" u="none" strike="noStrike" dirty="0">
                <a:solidFill>
                  <a:srgbClr val="000000"/>
                </a:solidFill>
                <a:effectLst/>
              </a:rPr>
              <a:t>ongoing processes</a:t>
            </a:r>
            <a:r>
              <a:rPr lang="en-US" b="0" i="0" u="none" strike="noStrike" dirty="0">
                <a:solidFill>
                  <a:srgbClr val="000000"/>
                </a:solidFill>
                <a:effectLst/>
              </a:rPr>
              <a:t> in a state. For example, during a washing machine's "Washing" state, the activity could be the spinning of clothes. When the washing completes, the system transitions to the next state (e.g., "Rinsing").</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34147" name="Rectangle 2"/>
          <p:cNvSpPr>
            <a:spLocks noGrp="1" noRot="1" noChangeAspect="1" noChangeArrowheads="1" noTextEdit="1"/>
          </p:cNvSpPr>
          <p:nvPr>
            <p:ph type="sldImg"/>
          </p:nvPr>
        </p:nvSpPr>
        <p:spPr>
          <a:xfrm>
            <a:off x="1173163" y="696913"/>
            <a:ext cx="4638675" cy="3479800"/>
          </a:xfrm>
          <a:ln/>
        </p:spPr>
      </p:sp>
      <p:sp>
        <p:nvSpPr>
          <p:cNvPr id="134148"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State Diagram Example with Activity</a:t>
            </a:r>
          </a:p>
          <a:p>
            <a:pPr algn="l"/>
            <a:r>
              <a:rPr lang="en-US" b="1" i="0" u="none" strike="noStrike" dirty="0">
                <a:solidFill>
                  <a:srgbClr val="000000"/>
                </a:solidFill>
                <a:effectLst/>
              </a:rPr>
              <a:t>Diagram Description:</a:t>
            </a:r>
          </a:p>
          <a:p>
            <a:pPr algn="l">
              <a:buFont typeface="Arial" panose="020B0604020202020204" pitchFamily="34" charset="0"/>
              <a:buChar char="•"/>
            </a:pP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err="1">
                <a:solidFill>
                  <a:srgbClr val="000000"/>
                </a:solidFill>
                <a:effectLst/>
              </a:rPr>
              <a:t>ProposeSelection</a:t>
            </a:r>
            <a:r>
              <a:rPr lang="en-US" b="0" i="0" u="none" strike="noStrike" dirty="0">
                <a:solidFill>
                  <a:srgbClr val="000000"/>
                </a:solidFill>
                <a:effectLst/>
              </a:rPr>
              <a:t>: The user selects a song.</a:t>
            </a:r>
          </a:p>
          <a:p>
            <a:pPr marL="742950" lvl="1" indent="-285750" algn="l">
              <a:buFont typeface="Arial" panose="020B0604020202020204" pitchFamily="34" charset="0"/>
              <a:buChar char="•"/>
            </a:pPr>
            <a:r>
              <a:rPr lang="en-US" b="1" i="0" u="none" strike="noStrike" dirty="0" err="1">
                <a:solidFill>
                  <a:srgbClr val="000000"/>
                </a:solidFill>
                <a:effectLst/>
              </a:rPr>
              <a:t>MusicPlaying</a:t>
            </a:r>
            <a:r>
              <a:rPr lang="en-US" b="0" i="0" u="none" strike="noStrike" dirty="0">
                <a:solidFill>
                  <a:srgbClr val="000000"/>
                </a:solidFill>
                <a:effectLst/>
              </a:rPr>
              <a:t>: The jukebox plays the selected song.</a:t>
            </a:r>
          </a:p>
          <a:p>
            <a:pPr algn="l">
              <a:buFont typeface="Arial" panose="020B0604020202020204" pitchFamily="34" charset="0"/>
              <a:buChar char="•"/>
            </a:pPr>
            <a:r>
              <a:rPr lang="en-US" b="1" i="0" u="none" strike="noStrike" dirty="0">
                <a:solidFill>
                  <a:srgbClr val="000000"/>
                </a:solidFill>
                <a:effectLst/>
              </a:rPr>
              <a:t>Transition</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From </a:t>
            </a:r>
            <a:r>
              <a:rPr lang="en-US" b="1" i="0" u="none" strike="noStrike" dirty="0" err="1">
                <a:solidFill>
                  <a:srgbClr val="000000"/>
                </a:solidFill>
                <a:effectLst/>
              </a:rPr>
              <a:t>ProposeSelection</a:t>
            </a:r>
            <a:r>
              <a:rPr lang="en-US" b="0" i="0" u="none" strike="noStrike" dirty="0">
                <a:solidFill>
                  <a:srgbClr val="000000"/>
                </a:solidFill>
                <a:effectLst/>
              </a:rPr>
              <a:t> to </a:t>
            </a:r>
            <a:r>
              <a:rPr lang="en-US" b="1" i="0" u="none" strike="noStrike" dirty="0" err="1">
                <a:solidFill>
                  <a:srgbClr val="000000"/>
                </a:solidFill>
                <a:effectLst/>
              </a:rPr>
              <a:t>MusicPlaying</a:t>
            </a:r>
            <a:r>
              <a:rPr lang="en-US" b="0" i="0" u="none" strike="noStrike" dirty="0">
                <a:solidFill>
                  <a:srgbClr val="000000"/>
                </a:solidFill>
                <a:effectLst/>
              </a:rPr>
              <a:t> occurs when the button is pressed.</a:t>
            </a:r>
          </a:p>
          <a:p>
            <a:pPr marL="742950" lvl="1" indent="-285750" algn="l">
              <a:buFont typeface="Arial" panose="020B0604020202020204" pitchFamily="34" charset="0"/>
              <a:buChar char="•"/>
            </a:pPr>
            <a:r>
              <a:rPr lang="en-US" b="0" i="0" u="none" strike="noStrike" dirty="0">
                <a:solidFill>
                  <a:srgbClr val="000000"/>
                </a:solidFill>
                <a:effectLst/>
              </a:rPr>
              <a:t>Activity in </a:t>
            </a:r>
            <a:r>
              <a:rPr lang="en-US" b="1" i="0" u="none" strike="noStrike" dirty="0" err="1">
                <a:solidFill>
                  <a:srgbClr val="000000"/>
                </a:solidFill>
                <a:effectLst/>
              </a:rPr>
              <a:t>MusicPlaying</a:t>
            </a:r>
            <a:r>
              <a:rPr lang="en-US" b="0" i="0" u="none" strike="noStrike" dirty="0">
                <a:solidFill>
                  <a:srgbClr val="000000"/>
                </a:solidFill>
                <a:effectLst/>
              </a:rPr>
              <a:t>: do/play chosen selection.</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diagram models a </a:t>
            </a:r>
            <a:r>
              <a:rPr lang="en-US" b="1" i="0" u="none" strike="noStrike" dirty="0">
                <a:solidFill>
                  <a:srgbClr val="000000"/>
                </a:solidFill>
                <a:effectLst/>
              </a:rPr>
              <a:t>jukebox</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The user selects a song in the </a:t>
            </a:r>
            <a:r>
              <a:rPr lang="en-US" b="1" i="0" u="none" strike="noStrike" dirty="0" err="1">
                <a:solidFill>
                  <a:srgbClr val="000000"/>
                </a:solidFill>
                <a:effectLst/>
              </a:rPr>
              <a:t>ProposeSelection</a:t>
            </a:r>
            <a:r>
              <a:rPr lang="en-US" b="0" i="0" u="none" strike="noStrike" dirty="0">
                <a:solidFill>
                  <a:srgbClr val="000000"/>
                </a:solidFill>
                <a:effectLst/>
              </a:rPr>
              <a:t> state.</a:t>
            </a:r>
          </a:p>
          <a:p>
            <a:pPr algn="l">
              <a:buFont typeface="Arial" panose="020B0604020202020204" pitchFamily="34" charset="0"/>
              <a:buChar char="•"/>
            </a:pPr>
            <a:r>
              <a:rPr lang="en-US" b="0" i="0" u="none" strike="noStrike" dirty="0">
                <a:solidFill>
                  <a:srgbClr val="000000"/>
                </a:solidFill>
                <a:effectLst/>
              </a:rPr>
              <a:t>When the button is pressed, the system transitions to </a:t>
            </a:r>
            <a:r>
              <a:rPr lang="en-US" b="1" i="0" u="none" strike="noStrike" dirty="0" err="1">
                <a:solidFill>
                  <a:srgbClr val="000000"/>
                </a:solidFill>
                <a:effectLst/>
              </a:rPr>
              <a:t>MusicPlaying</a:t>
            </a:r>
            <a:r>
              <a:rPr lang="en-US" b="0" i="0" u="none" strike="noStrike" dirty="0">
                <a:solidFill>
                  <a:srgbClr val="000000"/>
                </a:solidFill>
                <a:effectLst/>
              </a:rPr>
              <a:t> and plays the song.</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36195" name="Rectangle 2"/>
          <p:cNvSpPr>
            <a:spLocks noGrp="1" noRot="1" noChangeAspect="1" noChangeArrowheads="1" noTextEdit="1"/>
          </p:cNvSpPr>
          <p:nvPr>
            <p:ph type="sldImg"/>
          </p:nvPr>
        </p:nvSpPr>
        <p:spPr>
          <a:xfrm>
            <a:off x="1173163" y="696913"/>
            <a:ext cx="4638675" cy="3479800"/>
          </a:xfrm>
          <a:ln/>
        </p:spPr>
      </p:sp>
      <p:sp>
        <p:nvSpPr>
          <p:cNvPr id="13619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3: Actions in State Diagrams</a:t>
            </a:r>
          </a:p>
          <a:p>
            <a:pPr algn="l"/>
            <a:r>
              <a:rPr lang="en-US" b="1" i="0" u="none" strike="noStrike" dirty="0">
                <a:solidFill>
                  <a:srgbClr val="000000"/>
                </a:solidFill>
                <a:effectLst/>
              </a:rPr>
              <a:t>Key Points: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An </a:t>
            </a:r>
            <a:r>
              <a:rPr lang="en-US" b="1" i="0" u="none" strike="noStrike" dirty="0">
                <a:solidFill>
                  <a:srgbClr val="000000"/>
                </a:solidFill>
                <a:effectLst/>
              </a:rPr>
              <a:t>action</a:t>
            </a:r>
            <a:r>
              <a:rPr lang="en-US" b="0" i="0" u="none" strike="noStrike" dirty="0">
                <a:solidFill>
                  <a:srgbClr val="000000"/>
                </a:solidFill>
                <a:effectLst/>
              </a:rPr>
              <a:t> occurs almost </a:t>
            </a:r>
            <a:r>
              <a:rPr lang="en-US" b="1" i="0" u="none" strike="noStrike" dirty="0">
                <a:solidFill>
                  <a:srgbClr val="000000"/>
                </a:solidFill>
                <a:effectLst/>
              </a:rPr>
              <a:t>instantaneously</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It happens:</a:t>
            </a:r>
          </a:p>
          <a:p>
            <a:pPr marL="1143000" lvl="2" indent="-228600" algn="l">
              <a:buFont typeface="+mj-lt"/>
              <a:buAutoNum type="arabicPeriod"/>
            </a:pPr>
            <a:r>
              <a:rPr lang="en-US" b="0" i="0" u="none" strike="noStrike" dirty="0">
                <a:solidFill>
                  <a:srgbClr val="000000"/>
                </a:solidFill>
                <a:effectLst/>
              </a:rPr>
              <a:t>During a transition,</a:t>
            </a:r>
          </a:p>
          <a:p>
            <a:pPr marL="1143000" lvl="2" indent="-228600" algn="l">
              <a:buFont typeface="+mj-lt"/>
              <a:buAutoNum type="arabicPeriod"/>
            </a:pPr>
            <a:r>
              <a:rPr lang="en-US" b="0" i="0" u="none" strike="noStrike" dirty="0">
                <a:solidFill>
                  <a:srgbClr val="000000"/>
                </a:solidFill>
                <a:effectLst/>
              </a:rPr>
              <a:t>Upon entering a state, or</a:t>
            </a:r>
          </a:p>
          <a:p>
            <a:pPr marL="1143000" lvl="2" indent="-228600" algn="l">
              <a:buFont typeface="+mj-lt"/>
              <a:buAutoNum type="arabicPeriod"/>
            </a:pPr>
            <a:r>
              <a:rPr lang="en-US" b="0" i="0" u="none" strike="noStrike" dirty="0">
                <a:solidFill>
                  <a:srgbClr val="000000"/>
                </a:solidFill>
                <a:effectLst/>
              </a:rPr>
              <a:t>Upon exiting a state.</a:t>
            </a:r>
          </a:p>
          <a:p>
            <a:pPr algn="l">
              <a:buFont typeface="+mj-lt"/>
              <a:buAutoNum type="arabicPeriod"/>
            </a:pPr>
            <a:r>
              <a:rPr lang="en-US" b="1" i="0" u="none" strike="noStrike" dirty="0">
                <a:solidFill>
                  <a:srgbClr val="000000"/>
                </a:solidFill>
                <a:effectLst/>
              </a:rPr>
              <a:t>Duration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An action should </a:t>
            </a:r>
            <a:r>
              <a:rPr lang="en-US" b="1" i="0" u="none" strike="noStrike" dirty="0">
                <a:solidFill>
                  <a:srgbClr val="000000"/>
                </a:solidFill>
                <a:effectLst/>
              </a:rPr>
              <a:t>not take noticeable time</a:t>
            </a:r>
            <a:r>
              <a:rPr lang="en-US" b="0" i="0" u="none" strike="noStrike" dirty="0">
                <a:solidFill>
                  <a:srgbClr val="000000"/>
                </a:solidFill>
                <a:effectLst/>
              </a:rPr>
              <a:t>.</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Actions are </a:t>
            </a:r>
            <a:r>
              <a:rPr lang="en-US" b="1" i="0" u="none" strike="noStrike" dirty="0">
                <a:solidFill>
                  <a:srgbClr val="000000"/>
                </a:solidFill>
                <a:effectLst/>
              </a:rPr>
              <a:t>quick events</a:t>
            </a:r>
            <a:r>
              <a:rPr lang="en-US" b="0" i="0" u="none" strike="noStrike" dirty="0">
                <a:solidFill>
                  <a:srgbClr val="000000"/>
                </a:solidFill>
                <a:effectLst/>
              </a:rPr>
              <a:t> that occur when entering or leaving a state, or during a transition. For example:</a:t>
            </a:r>
          </a:p>
          <a:p>
            <a:pPr algn="l">
              <a:buFont typeface="Arial" panose="020B0604020202020204" pitchFamily="34" charset="0"/>
              <a:buChar char="•"/>
            </a:pPr>
            <a:r>
              <a:rPr lang="en-US" b="0" i="0" u="none" strike="noStrike" dirty="0">
                <a:solidFill>
                  <a:srgbClr val="000000"/>
                </a:solidFill>
                <a:effectLst/>
              </a:rPr>
              <a:t>An elevator </a:t>
            </a:r>
            <a:r>
              <a:rPr lang="en-US" b="1" i="0" u="none" strike="noStrike" dirty="0">
                <a:solidFill>
                  <a:srgbClr val="000000"/>
                </a:solidFill>
                <a:effectLst/>
              </a:rPr>
              <a:t>opens doors</a:t>
            </a:r>
            <a:r>
              <a:rPr lang="en-US" b="0" i="0" u="none" strike="noStrike" dirty="0">
                <a:solidFill>
                  <a:srgbClr val="000000"/>
                </a:solidFill>
                <a:effectLst/>
              </a:rPr>
              <a:t> when entering the "Idle" state.</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38243" name="Rectangle 2"/>
          <p:cNvSpPr>
            <a:spLocks noGrp="1" noRot="1" noChangeAspect="1" noChangeArrowheads="1" noTextEdit="1"/>
          </p:cNvSpPr>
          <p:nvPr>
            <p:ph type="sldImg"/>
          </p:nvPr>
        </p:nvSpPr>
        <p:spPr>
          <a:xfrm>
            <a:off x="1173163" y="696913"/>
            <a:ext cx="4638675" cy="3479800"/>
          </a:xfrm>
          <a:ln/>
        </p:spPr>
      </p:sp>
      <p:sp>
        <p:nvSpPr>
          <p:cNvPr id="13824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4: State Diagram Example with Actions</a:t>
            </a:r>
          </a:p>
          <a:p>
            <a:pPr algn="l"/>
            <a:r>
              <a:rPr lang="en-US" b="1" i="0" u="none" strike="noStrike" dirty="0">
                <a:solidFill>
                  <a:srgbClr val="000000"/>
                </a:solidFill>
                <a:effectLst/>
              </a:rPr>
              <a:t>Diagram Description:</a:t>
            </a:r>
          </a:p>
          <a:p>
            <a:pPr algn="l">
              <a:buFont typeface="Arial" panose="020B0604020202020204" pitchFamily="34" charset="0"/>
              <a:buChar char="•"/>
            </a:pPr>
            <a:r>
              <a:rPr lang="en-US" b="1" i="0" u="none" strike="noStrike" dirty="0">
                <a:solidFill>
                  <a:srgbClr val="000000"/>
                </a:solidFill>
                <a:effectLst/>
              </a:rPr>
              <a:t>System</a:t>
            </a:r>
            <a:r>
              <a:rPr lang="en-US" b="0" i="0" u="none" strike="noStrike" dirty="0">
                <a:solidFill>
                  <a:srgbClr val="000000"/>
                </a:solidFill>
                <a:effectLst/>
              </a:rPr>
              <a:t>: Garage Door Opener.</a:t>
            </a:r>
          </a:p>
          <a:p>
            <a:pPr algn="l">
              <a:buFont typeface="Arial" panose="020B0604020202020204" pitchFamily="34" charset="0"/>
              <a:buChar char="•"/>
            </a:pP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a:solidFill>
                  <a:srgbClr val="000000"/>
                </a:solidFill>
                <a:effectLst/>
              </a:rPr>
              <a:t>Closed</a:t>
            </a:r>
            <a:r>
              <a:rPr lang="en-US" b="0" i="0" u="none" strike="noStrike" dirty="0">
                <a:solidFill>
                  <a:srgbClr val="000000"/>
                </a:solidFill>
                <a:effectLst/>
              </a:rPr>
              <a:t>: Motor stops.</a:t>
            </a:r>
          </a:p>
          <a:p>
            <a:pPr marL="742950" lvl="1" indent="-285750" algn="l">
              <a:buFont typeface="Arial" panose="020B0604020202020204" pitchFamily="34" charset="0"/>
              <a:buChar char="•"/>
            </a:pPr>
            <a:r>
              <a:rPr lang="en-US" b="1" i="0" u="none" strike="noStrike" dirty="0">
                <a:solidFill>
                  <a:srgbClr val="000000"/>
                </a:solidFill>
                <a:effectLst/>
              </a:rPr>
              <a:t>Opening</a:t>
            </a:r>
            <a:r>
              <a:rPr lang="en-US" b="0" i="0" u="none" strike="noStrike" dirty="0">
                <a:solidFill>
                  <a:srgbClr val="000000"/>
                </a:solidFill>
                <a:effectLst/>
              </a:rPr>
              <a:t>: Motor runs forward.</a:t>
            </a:r>
          </a:p>
          <a:p>
            <a:pPr marL="742950" lvl="1" indent="-285750" algn="l">
              <a:buFont typeface="Arial" panose="020B0604020202020204" pitchFamily="34" charset="0"/>
              <a:buChar char="•"/>
            </a:pPr>
            <a:r>
              <a:rPr lang="en-US" b="1" i="0" u="none" strike="noStrike" dirty="0">
                <a:solidFill>
                  <a:srgbClr val="000000"/>
                </a:solidFill>
                <a:effectLst/>
              </a:rPr>
              <a:t>Open</a:t>
            </a:r>
            <a:r>
              <a:rPr lang="en-US" b="0" i="0" u="none" strike="noStrike" dirty="0">
                <a:solidFill>
                  <a:srgbClr val="000000"/>
                </a:solidFill>
                <a:effectLst/>
              </a:rPr>
              <a:t>: Motor stops.</a:t>
            </a:r>
          </a:p>
          <a:p>
            <a:pPr marL="742950" lvl="1" indent="-285750" algn="l">
              <a:buFont typeface="Arial" panose="020B0604020202020204" pitchFamily="34" charset="0"/>
              <a:buChar char="•"/>
            </a:pPr>
            <a:r>
              <a:rPr lang="en-US" b="1" i="0" u="none" strike="noStrike" dirty="0">
                <a:solidFill>
                  <a:srgbClr val="000000"/>
                </a:solidFill>
                <a:effectLst/>
              </a:rPr>
              <a:t>Closing</a:t>
            </a:r>
            <a:r>
              <a:rPr lang="en-US" b="0" i="0" u="none" strike="noStrike" dirty="0">
                <a:solidFill>
                  <a:srgbClr val="000000"/>
                </a:solidFill>
                <a:effectLst/>
              </a:rPr>
              <a:t>: Motor runs in reverse.</a:t>
            </a:r>
          </a:p>
          <a:p>
            <a:pPr algn="l">
              <a:buFont typeface="Arial" panose="020B0604020202020204" pitchFamily="34" charset="0"/>
              <a:buChar char="•"/>
            </a:pPr>
            <a:r>
              <a:rPr lang="en-US" b="1" i="0" u="none" strike="noStrike" dirty="0">
                <a:solidFill>
                  <a:srgbClr val="000000"/>
                </a:solidFill>
                <a:effectLst/>
              </a:rPr>
              <a:t>Transitions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Button press triggers transitions:</a:t>
            </a:r>
          </a:p>
          <a:p>
            <a:pPr marL="1143000" lvl="2" indent="-228600" algn="l">
              <a:buFont typeface="Arial" panose="020B0604020202020204" pitchFamily="34" charset="0"/>
              <a:buChar char="•"/>
            </a:pPr>
            <a:r>
              <a:rPr lang="en-US" b="1" i="0" u="none" strike="noStrike" dirty="0">
                <a:solidFill>
                  <a:srgbClr val="000000"/>
                </a:solidFill>
                <a:effectLst/>
              </a:rPr>
              <a:t>Closed → Opening → Open</a:t>
            </a:r>
            <a:r>
              <a:rPr lang="en-US" b="0" i="0" u="none" strike="noStrike" dirty="0">
                <a:solidFill>
                  <a:srgbClr val="000000"/>
                </a:solidFill>
                <a:effectLst/>
              </a:rPr>
              <a:t>.</a:t>
            </a:r>
          </a:p>
          <a:p>
            <a:pPr marL="1143000" lvl="2" indent="-228600" algn="l">
              <a:buFont typeface="Arial" panose="020B0604020202020204" pitchFamily="34" charset="0"/>
              <a:buChar char="•"/>
            </a:pPr>
            <a:r>
              <a:rPr lang="en-US" b="1" i="0" u="none" strike="noStrike" dirty="0">
                <a:solidFill>
                  <a:srgbClr val="000000"/>
                </a:solidFill>
                <a:effectLst/>
              </a:rPr>
              <a:t>Open → Closing → Closed</a:t>
            </a:r>
            <a:r>
              <a:rPr lang="en-US" b="0" i="0" u="none" strike="noStrike" dirty="0">
                <a:solidFill>
                  <a:srgbClr val="000000"/>
                </a:solidFill>
                <a:effectLst/>
              </a:rPr>
              <a:t>.</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state diagram models the behavior of a </a:t>
            </a:r>
            <a:r>
              <a:rPr lang="en-US" b="1" i="0" u="none" strike="noStrike" dirty="0">
                <a:solidFill>
                  <a:srgbClr val="000000"/>
                </a:solidFill>
                <a:effectLst/>
              </a:rPr>
              <a:t>garage door opener</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When closed, pressing the button moves it to </a:t>
            </a:r>
            <a:r>
              <a:rPr lang="en-US" b="1" i="0" u="none" strike="noStrike" dirty="0">
                <a:solidFill>
                  <a:srgbClr val="000000"/>
                </a:solidFill>
                <a:effectLst/>
              </a:rPr>
              <a:t>Opening</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Once opened, pressing the button again starts </a:t>
            </a:r>
            <a:r>
              <a:rPr lang="en-US" b="1" i="0" u="none" strike="noStrike" dirty="0">
                <a:solidFill>
                  <a:srgbClr val="000000"/>
                </a:solidFill>
                <a:effectLst/>
              </a:rPr>
              <a:t>Closing</a:t>
            </a:r>
            <a:r>
              <a:rPr lang="en-US" b="0" i="0" u="none" strike="noStrike" dirty="0">
                <a:solidFill>
                  <a:srgbClr val="000000"/>
                </a:solidFill>
                <a:effectLst/>
              </a:rPr>
              <a: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40291" name="Rectangle 2"/>
          <p:cNvSpPr>
            <a:spLocks noGrp="1" noRot="1" noChangeAspect="1" noChangeArrowheads="1" noTextEdit="1"/>
          </p:cNvSpPr>
          <p:nvPr>
            <p:ph type="sldImg"/>
          </p:nvPr>
        </p:nvSpPr>
        <p:spPr>
          <a:xfrm>
            <a:off x="1173163" y="696913"/>
            <a:ext cx="4638675" cy="3479800"/>
          </a:xfrm>
          <a:ln/>
        </p:spPr>
      </p:sp>
      <p:sp>
        <p:nvSpPr>
          <p:cNvPr id="14029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5: Another State Diagram Example</a:t>
            </a:r>
          </a:p>
          <a:p>
            <a:pPr algn="l"/>
            <a:r>
              <a:rPr lang="en-US" b="1" i="0" u="none" strike="noStrike" dirty="0">
                <a:solidFill>
                  <a:srgbClr val="000000"/>
                </a:solidFill>
                <a:effectLst/>
              </a:rPr>
              <a:t>Diagram Description:</a:t>
            </a:r>
          </a:p>
          <a:p>
            <a:pPr algn="l">
              <a:buFont typeface="Arial" panose="020B0604020202020204" pitchFamily="34" charset="0"/>
              <a:buChar char="•"/>
            </a:pPr>
            <a:r>
              <a:rPr lang="en-US" b="1" i="0" u="none" strike="noStrike" dirty="0">
                <a:solidFill>
                  <a:srgbClr val="000000"/>
                </a:solidFill>
                <a:effectLst/>
              </a:rPr>
              <a:t>System</a:t>
            </a:r>
            <a:r>
              <a:rPr lang="en-US" b="0" i="0" u="none" strike="noStrike" dirty="0">
                <a:solidFill>
                  <a:srgbClr val="000000"/>
                </a:solidFill>
                <a:effectLst/>
              </a:rPr>
              <a:t>: Tape Recorder.</a:t>
            </a:r>
          </a:p>
          <a:p>
            <a:pPr algn="l">
              <a:buFont typeface="Arial" panose="020B0604020202020204" pitchFamily="34" charset="0"/>
              <a:buChar char="•"/>
            </a:pP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a:solidFill>
                  <a:srgbClr val="000000"/>
                </a:solidFill>
                <a:effectLst/>
              </a:rPr>
              <a:t>Recording</a:t>
            </a:r>
            <a:r>
              <a:rPr lang="en-US" b="0" i="0" u="none" strike="noStrike" dirty="0">
                <a:solidFill>
                  <a:srgbClr val="000000"/>
                </a:solidFill>
                <a:effectLst/>
              </a:rPr>
              <a:t>: Records until the end of the program or tape.</a:t>
            </a:r>
          </a:p>
          <a:p>
            <a:pPr marL="742950" lvl="1" indent="-285750" algn="l">
              <a:buFont typeface="Arial" panose="020B0604020202020204" pitchFamily="34" charset="0"/>
              <a:buChar char="•"/>
            </a:pPr>
            <a:r>
              <a:rPr lang="en-US" b="1" i="0" u="none" strike="noStrike" dirty="0">
                <a:solidFill>
                  <a:srgbClr val="000000"/>
                </a:solidFill>
                <a:effectLst/>
              </a:rPr>
              <a:t>Rewinding</a:t>
            </a:r>
            <a:r>
              <a:rPr lang="en-US" b="0" i="0" u="none" strike="noStrike" dirty="0">
                <a:solidFill>
                  <a:srgbClr val="000000"/>
                </a:solidFill>
                <a:effectLst/>
              </a:rPr>
              <a:t>: Tape rewinds.</a:t>
            </a:r>
          </a:p>
          <a:p>
            <a:pPr marL="742950" lvl="1" indent="-285750" algn="l">
              <a:buFont typeface="Arial" panose="020B0604020202020204" pitchFamily="34" charset="0"/>
              <a:buChar char="•"/>
            </a:pPr>
            <a:r>
              <a:rPr lang="en-US" b="1" i="0" u="none" strike="noStrike" dirty="0">
                <a:solidFill>
                  <a:srgbClr val="000000"/>
                </a:solidFill>
                <a:effectLst/>
              </a:rPr>
              <a:t>Wait</a:t>
            </a:r>
            <a:r>
              <a:rPr lang="en-US" b="0" i="0" u="none" strike="noStrike" dirty="0">
                <a:solidFill>
                  <a:srgbClr val="000000"/>
                </a:solidFill>
                <a:effectLst/>
              </a:rPr>
              <a:t>: The system pauses after rewinding.</a:t>
            </a:r>
          </a:p>
          <a:p>
            <a:pPr algn="l">
              <a:buFont typeface="Arial" panose="020B0604020202020204" pitchFamily="34" charset="0"/>
              <a:buChar char="•"/>
            </a:pPr>
            <a:r>
              <a:rPr lang="en-US" b="1" i="0" u="none" strike="noStrike" dirty="0">
                <a:solidFill>
                  <a:srgbClr val="000000"/>
                </a:solidFill>
                <a:effectLst/>
              </a:rPr>
              <a:t>Transitions</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a:solidFill>
                  <a:srgbClr val="000000"/>
                </a:solidFill>
                <a:effectLst/>
              </a:rPr>
              <a:t>Recording → Rewinding</a:t>
            </a:r>
            <a:r>
              <a:rPr lang="en-US" b="0" i="0" u="none" strike="noStrike" dirty="0">
                <a:solidFill>
                  <a:srgbClr val="000000"/>
                </a:solidFill>
                <a:effectLst/>
              </a:rPr>
              <a:t>: When the tape ends.</a:t>
            </a:r>
          </a:p>
          <a:p>
            <a:pPr marL="742950" lvl="1" indent="-285750" algn="l">
              <a:buFont typeface="Arial" panose="020B0604020202020204" pitchFamily="34" charset="0"/>
              <a:buChar char="•"/>
            </a:pPr>
            <a:r>
              <a:rPr lang="en-US" b="1" i="0" u="none" strike="noStrike" dirty="0">
                <a:solidFill>
                  <a:srgbClr val="000000"/>
                </a:solidFill>
                <a:effectLst/>
              </a:rPr>
              <a:t>Rewinding → Wait</a:t>
            </a:r>
            <a:r>
              <a:rPr lang="en-US" b="0" i="0" u="none" strike="noStrike" dirty="0">
                <a:solidFill>
                  <a:srgbClr val="000000"/>
                </a:solidFill>
                <a:effectLst/>
              </a:rPr>
              <a:t>: When rewinding finishes.</a:t>
            </a:r>
          </a:p>
          <a:p>
            <a:pPr algn="l"/>
            <a:r>
              <a:rPr lang="en-US" b="1" i="0" u="none" strike="noStrike" dirty="0">
                <a:solidFill>
                  <a:srgbClr val="000000"/>
                </a:solidFill>
                <a:effectLst/>
              </a:rPr>
              <a:t>English Explanation:</a:t>
            </a:r>
          </a:p>
          <a:p>
            <a:pPr algn="l"/>
            <a:r>
              <a:rPr lang="en-US" b="0" i="0" u="none" strike="noStrike" dirty="0">
                <a:solidFill>
                  <a:srgbClr val="000000"/>
                </a:solidFill>
                <a:effectLst/>
              </a:rPr>
              <a:t>This models a </a:t>
            </a:r>
            <a:r>
              <a:rPr lang="en-US" b="1" i="0" u="none" strike="noStrike" dirty="0">
                <a:solidFill>
                  <a:srgbClr val="000000"/>
                </a:solidFill>
                <a:effectLst/>
              </a:rPr>
              <a:t>tape recorder</a:t>
            </a:r>
            <a:r>
              <a:rPr lang="en-US" b="0" i="0" u="none" strike="noStrike" dirty="0">
                <a:solidFill>
                  <a:srgbClr val="000000"/>
                </a:solidFill>
                <a:effectLst/>
              </a:rPr>
              <a:t>:</a:t>
            </a:r>
          </a:p>
          <a:p>
            <a:pPr algn="l">
              <a:buFont typeface="Arial" panose="020B0604020202020204" pitchFamily="34" charset="0"/>
              <a:buChar char="•"/>
            </a:pPr>
            <a:r>
              <a:rPr lang="en-US" b="0" i="0" u="none" strike="noStrike" dirty="0">
                <a:solidFill>
                  <a:srgbClr val="000000"/>
                </a:solidFill>
                <a:effectLst/>
              </a:rPr>
              <a:t>The system transitions from </a:t>
            </a:r>
            <a:r>
              <a:rPr lang="en-US" b="1" i="0" u="none" strike="noStrike" dirty="0">
                <a:solidFill>
                  <a:srgbClr val="000000"/>
                </a:solidFill>
                <a:effectLst/>
              </a:rPr>
              <a:t>Recording</a:t>
            </a:r>
            <a:r>
              <a:rPr lang="en-US" b="0" i="0" u="none" strike="noStrike" dirty="0">
                <a:solidFill>
                  <a:srgbClr val="000000"/>
                </a:solidFill>
                <a:effectLst/>
              </a:rPr>
              <a:t> to </a:t>
            </a:r>
            <a:r>
              <a:rPr lang="en-US" b="1" i="0" u="none" strike="noStrike" dirty="0">
                <a:solidFill>
                  <a:srgbClr val="000000"/>
                </a:solidFill>
                <a:effectLst/>
              </a:rPr>
              <a:t>Rewinding</a:t>
            </a:r>
            <a:r>
              <a:rPr lang="en-US" b="0" i="0" u="none" strike="noStrike" dirty="0">
                <a:solidFill>
                  <a:srgbClr val="000000"/>
                </a:solidFill>
                <a:effectLst/>
              </a:rPr>
              <a:t> when the tape ends.</a:t>
            </a:r>
          </a:p>
          <a:p>
            <a:pPr algn="l">
              <a:buFont typeface="Arial" panose="020B0604020202020204" pitchFamily="34" charset="0"/>
              <a:buChar char="•"/>
            </a:pPr>
            <a:r>
              <a:rPr lang="en-US" b="0" i="0" u="none" strike="noStrike" dirty="0">
                <a:solidFill>
                  <a:srgbClr val="000000"/>
                </a:solidFill>
                <a:effectLst/>
              </a:rPr>
              <a:t>It transitions to </a:t>
            </a:r>
            <a:r>
              <a:rPr lang="en-US" b="1" i="0" u="none" strike="noStrike" dirty="0">
                <a:solidFill>
                  <a:srgbClr val="000000"/>
                </a:solidFill>
                <a:effectLst/>
              </a:rPr>
              <a:t>Wait</a:t>
            </a:r>
            <a:r>
              <a:rPr lang="en-US" b="0" i="0" u="none" strike="noStrike" dirty="0">
                <a:solidFill>
                  <a:srgbClr val="000000"/>
                </a:solidFill>
                <a:effectLst/>
              </a:rPr>
              <a:t> after rewinding.</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42339" name="Rectangle 2"/>
          <p:cNvSpPr>
            <a:spLocks noGrp="1" noRot="1" noChangeAspect="1" noChangeArrowheads="1" noTextEdit="1"/>
          </p:cNvSpPr>
          <p:nvPr>
            <p:ph type="sldImg"/>
          </p:nvPr>
        </p:nvSpPr>
        <p:spPr>
          <a:xfrm>
            <a:off x="1173163" y="696913"/>
            <a:ext cx="4638675" cy="3479800"/>
          </a:xfrm>
          <a:ln/>
        </p:spPr>
      </p:sp>
      <p:sp>
        <p:nvSpPr>
          <p:cNvPr id="14234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Nested Substates and Guard Conditions</a:t>
            </a:r>
          </a:p>
          <a:p>
            <a:pPr algn="l"/>
            <a:r>
              <a:rPr lang="en-US" b="0" i="0" u="none" strike="noStrike" dirty="0">
                <a:solidFill>
                  <a:srgbClr val="000000"/>
                </a:solidFill>
                <a:effectLst/>
              </a:rPr>
              <a:t>This slide explains that a </a:t>
            </a:r>
            <a:r>
              <a:rPr lang="en-US" b="1" i="0" u="none" strike="noStrike" dirty="0">
                <a:solidFill>
                  <a:srgbClr val="000000"/>
                </a:solidFill>
                <a:effectLst/>
              </a:rPr>
              <a:t>state diagram</a:t>
            </a:r>
            <a:r>
              <a:rPr lang="en-US" b="0" i="0" u="none" strike="noStrike" dirty="0">
                <a:solidFill>
                  <a:srgbClr val="000000"/>
                </a:solidFill>
                <a:effectLst/>
              </a:rPr>
              <a:t> can have nested states, also known as </a:t>
            </a:r>
            <a:r>
              <a:rPr lang="en-US" b="1" i="0" u="none" strike="noStrike" dirty="0">
                <a:solidFill>
                  <a:srgbClr val="000000"/>
                </a:solidFill>
                <a:effectLst/>
              </a:rPr>
              <a:t>substates</a:t>
            </a:r>
            <a:r>
              <a:rPr lang="en-US" b="0" i="0" u="none" strike="noStrike" dirty="0">
                <a:solidFill>
                  <a:srgbClr val="000000"/>
                </a:solidFill>
                <a:effectLst/>
              </a:rPr>
              <a:t>, to represent more complex behavior within a single state.</a:t>
            </a:r>
          </a:p>
          <a:p>
            <a:pPr algn="l"/>
            <a:r>
              <a:rPr lang="en-US" b="1" i="0" u="none" strike="noStrike" dirty="0">
                <a:solidFill>
                  <a:srgbClr val="000000"/>
                </a:solidFill>
                <a:effectLst/>
              </a:rPr>
              <a:t>Diagram Explanation (Car’s Automatic Transmission):</a:t>
            </a:r>
          </a:p>
          <a:p>
            <a:pPr algn="l">
              <a:buFont typeface="Arial" panose="020B0604020202020204" pitchFamily="34" charset="0"/>
              <a:buChar char="•"/>
            </a:pPr>
            <a:r>
              <a:rPr lang="en-US" b="1" i="0" u="none" strike="noStrike" dirty="0">
                <a:solidFill>
                  <a:srgbClr val="000000"/>
                </a:solidFill>
                <a:effectLst/>
              </a:rPr>
              <a:t>Outer States</a:t>
            </a:r>
            <a:r>
              <a:rPr lang="en-US" b="0" i="0" u="none" strike="noStrike" dirty="0">
                <a:solidFill>
                  <a:srgbClr val="000000"/>
                </a:solidFill>
                <a:effectLst/>
              </a:rPr>
              <a:t>: The high-level states include Neutral, Reverse, and a compound state labeled Drive.</a:t>
            </a:r>
          </a:p>
          <a:p>
            <a:pPr algn="l">
              <a:buFont typeface="Arial" panose="020B0604020202020204" pitchFamily="34" charset="0"/>
              <a:buChar char="•"/>
            </a:pPr>
            <a:r>
              <a:rPr lang="en-US" b="1" i="0" u="none" strike="noStrike" dirty="0">
                <a:solidFill>
                  <a:srgbClr val="000000"/>
                </a:solidFill>
                <a:effectLst/>
              </a:rPr>
              <a:t>Substates</a:t>
            </a:r>
            <a:r>
              <a:rPr lang="en-US" b="0" i="0" u="none" strike="noStrike" dirty="0">
                <a:solidFill>
                  <a:srgbClr val="000000"/>
                </a:solidFill>
                <a:effectLst/>
              </a:rPr>
              <a:t>: Within Drive, there are three substates: First, Second, and Third.</a:t>
            </a:r>
          </a:p>
          <a:p>
            <a:pPr marL="742950" lvl="1" indent="-285750" algn="l">
              <a:buFont typeface="Arial" panose="020B0604020202020204" pitchFamily="34" charset="0"/>
              <a:buChar char="•"/>
            </a:pPr>
            <a:r>
              <a:rPr lang="en-US" b="0" i="0" u="none" strike="noStrike" dirty="0">
                <a:solidFill>
                  <a:srgbClr val="000000"/>
                </a:solidFill>
                <a:effectLst/>
              </a:rPr>
              <a:t>Transitions between substates are guarded by conditions like:</a:t>
            </a:r>
          </a:p>
          <a:p>
            <a:pPr marL="1143000" lvl="2" indent="-228600" algn="l">
              <a:buFont typeface="Arial" panose="020B0604020202020204" pitchFamily="34" charset="0"/>
              <a:buChar char="•"/>
            </a:pPr>
            <a:r>
              <a:rPr lang="en-US" b="0" i="0" u="none" strike="noStrike" dirty="0" err="1">
                <a:solidFill>
                  <a:srgbClr val="000000"/>
                </a:solidFill>
                <a:effectLst/>
              </a:rPr>
              <a:t>reachSecondSpeed</a:t>
            </a:r>
            <a:r>
              <a:rPr lang="en-US" b="0" i="0" u="none" strike="noStrike" dirty="0">
                <a:solidFill>
                  <a:srgbClr val="000000"/>
                </a:solidFill>
                <a:effectLst/>
              </a:rPr>
              <a:t>[</a:t>
            </a:r>
            <a:r>
              <a:rPr lang="en-US" b="0" i="0" u="none" strike="noStrike" dirty="0" err="1">
                <a:solidFill>
                  <a:srgbClr val="000000"/>
                </a:solidFill>
                <a:effectLst/>
              </a:rPr>
              <a:t>driveSelected</a:t>
            </a:r>
            <a:r>
              <a:rPr lang="en-US" b="0" i="0" u="none" strike="noStrike" dirty="0">
                <a:solidFill>
                  <a:srgbClr val="000000"/>
                </a:solidFill>
                <a:effectLst/>
              </a:rPr>
              <a:t>] (move from First to Second when second speed is reached and the drive is selected).</a:t>
            </a:r>
          </a:p>
          <a:p>
            <a:pPr marL="1143000" lvl="2" indent="-228600" algn="l">
              <a:buFont typeface="Arial" panose="020B0604020202020204" pitchFamily="34" charset="0"/>
              <a:buChar char="•"/>
            </a:pPr>
            <a:r>
              <a:rPr lang="en-US" b="0" i="0" u="none" strike="noStrike" dirty="0" err="1">
                <a:solidFill>
                  <a:srgbClr val="000000"/>
                </a:solidFill>
                <a:effectLst/>
              </a:rPr>
              <a:t>dropBelowSecondSpeed</a:t>
            </a:r>
            <a:r>
              <a:rPr lang="en-US" b="0" i="0" u="none" strike="noStrike" dirty="0">
                <a:solidFill>
                  <a:srgbClr val="000000"/>
                </a:solidFill>
                <a:effectLst/>
              </a:rPr>
              <a:t>[</a:t>
            </a:r>
            <a:r>
              <a:rPr lang="en-US" b="0" i="0" u="none" strike="noStrike" dirty="0" err="1">
                <a:solidFill>
                  <a:srgbClr val="000000"/>
                </a:solidFill>
                <a:effectLst/>
              </a:rPr>
              <a:t>driveSelected</a:t>
            </a:r>
            <a:r>
              <a:rPr lang="en-US" b="0" i="0" u="none" strike="noStrike" dirty="0">
                <a:solidFill>
                  <a:srgbClr val="000000"/>
                </a:solidFill>
                <a:effectLst/>
              </a:rPr>
              <a:t>] (move back to First when speed drops below the threshold).</a:t>
            </a:r>
          </a:p>
          <a:p>
            <a:pPr marL="742950" lvl="1" indent="-285750" algn="l">
              <a:buFont typeface="Arial" panose="020B0604020202020204" pitchFamily="34" charset="0"/>
              <a:buChar char="•"/>
            </a:pPr>
            <a:r>
              <a:rPr lang="en-US" b="0" i="0" u="none" strike="noStrike" dirty="0">
                <a:solidFill>
                  <a:srgbClr val="000000"/>
                </a:solidFill>
                <a:effectLst/>
              </a:rPr>
              <a:t>These nested substates represent finer-grained behavior within the Drive state.</a:t>
            </a:r>
          </a:p>
          <a:p>
            <a:pPr algn="l"/>
            <a:r>
              <a:rPr lang="en-US" b="0" i="0" u="none" strike="noStrike" dirty="0">
                <a:solidFill>
                  <a:srgbClr val="000000"/>
                </a:solidFill>
                <a:effectLst/>
              </a:rPr>
              <a:t>This structure enables modularity and reusability in modeling complex systems.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44387" name="Rectangle 2"/>
          <p:cNvSpPr>
            <a:spLocks noGrp="1" noRot="1" noChangeAspect="1" noChangeArrowheads="1" noTextEdit="1"/>
          </p:cNvSpPr>
          <p:nvPr>
            <p:ph type="sldImg"/>
          </p:nvPr>
        </p:nvSpPr>
        <p:spPr>
          <a:xfrm>
            <a:off x="1173163" y="696913"/>
            <a:ext cx="4638675" cy="3479800"/>
          </a:xfrm>
          <a:ln/>
        </p:spPr>
      </p:sp>
      <p:sp>
        <p:nvSpPr>
          <p:cNvPr id="144388"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State Diagram with Substates Example (Course Section)</a:t>
            </a:r>
          </a:p>
          <a:p>
            <a:pPr algn="l"/>
            <a:r>
              <a:rPr lang="en-US" b="1" i="0" u="none" strike="noStrike" dirty="0">
                <a:solidFill>
                  <a:srgbClr val="000000"/>
                </a:solidFill>
                <a:effectLst/>
              </a:rPr>
              <a:t>Context:</a:t>
            </a:r>
          </a:p>
          <a:p>
            <a:pPr algn="l"/>
            <a:r>
              <a:rPr lang="en-US" b="0" i="0" u="none" strike="noStrike" dirty="0">
                <a:solidFill>
                  <a:srgbClr val="000000"/>
                </a:solidFill>
                <a:effectLst/>
              </a:rPr>
              <a:t>This diagram models the state transitions for a </a:t>
            </a:r>
            <a:r>
              <a:rPr lang="en-US" b="1" i="0" u="none" strike="noStrike" dirty="0" err="1">
                <a:solidFill>
                  <a:srgbClr val="000000"/>
                </a:solidFill>
                <a:effectLst/>
              </a:rPr>
              <a:t>CourseSection</a:t>
            </a:r>
            <a:r>
              <a:rPr lang="en-US" b="0" i="0" u="none" strike="noStrike" dirty="0">
                <a:solidFill>
                  <a:srgbClr val="000000"/>
                </a:solidFill>
                <a:effectLst/>
              </a:rPr>
              <a:t> class, incorporating </a:t>
            </a:r>
            <a:r>
              <a:rPr lang="en-US" b="1" i="0" u="none" strike="noStrike" dirty="0">
                <a:solidFill>
                  <a:srgbClr val="000000"/>
                </a:solidFill>
                <a:effectLst/>
              </a:rPr>
              <a:t>substates</a:t>
            </a:r>
            <a:r>
              <a:rPr lang="en-US" b="0" i="0" u="none" strike="noStrike" dirty="0">
                <a:solidFill>
                  <a:srgbClr val="000000"/>
                </a:solidFill>
                <a:effectLst/>
              </a:rPr>
              <a:t> for the Open state.</a:t>
            </a:r>
          </a:p>
          <a:p>
            <a:pPr algn="l"/>
            <a:r>
              <a:rPr lang="en-US" b="1" i="0" u="none" strike="noStrike" dirty="0">
                <a:solidFill>
                  <a:srgbClr val="000000"/>
                </a:solidFill>
                <a:effectLst/>
              </a:rPr>
              <a:t>Diagram Details:</a:t>
            </a:r>
          </a:p>
          <a:p>
            <a:pPr algn="l">
              <a:buFont typeface="Arial" panose="020B0604020202020204" pitchFamily="34" charset="0"/>
              <a:buChar char="•"/>
            </a:pPr>
            <a:r>
              <a:rPr lang="en-US" b="1" i="0" u="none" strike="noStrike" dirty="0">
                <a:solidFill>
                  <a:srgbClr val="000000"/>
                </a:solidFill>
                <a:effectLst/>
              </a:rPr>
              <a:t>Outer States</a:t>
            </a:r>
            <a:r>
              <a:rPr lang="en-US" b="0" i="0" u="none" strike="noStrike" dirty="0">
                <a:solidFill>
                  <a:srgbClr val="000000"/>
                </a:solidFill>
                <a:effectLst/>
              </a:rPr>
              <a:t>: The high-level states include:</a:t>
            </a:r>
          </a:p>
          <a:p>
            <a:pPr marL="742950" lvl="1" indent="-285750" algn="l">
              <a:buFont typeface="Arial" panose="020B0604020202020204" pitchFamily="34" charset="0"/>
              <a:buChar char="•"/>
            </a:pPr>
            <a:r>
              <a:rPr lang="en-US" b="0" i="0" u="none" strike="noStrike" dirty="0">
                <a:solidFill>
                  <a:srgbClr val="000000"/>
                </a:solidFill>
                <a:effectLst/>
              </a:rPr>
              <a:t>Planned: Initial state where the course section is not yet open for registration.</a:t>
            </a:r>
          </a:p>
          <a:p>
            <a:pPr marL="742950" lvl="1" indent="-285750" algn="l">
              <a:buFont typeface="Arial" panose="020B0604020202020204" pitchFamily="34" charset="0"/>
              <a:buChar char="•"/>
            </a:pPr>
            <a:r>
              <a:rPr lang="en-US" b="0" i="0" u="none" strike="noStrike" dirty="0">
                <a:solidFill>
                  <a:srgbClr val="000000"/>
                </a:solidFill>
                <a:effectLst/>
              </a:rPr>
              <a:t>Cancelled: Course is cancelled, and students are unregistered.</a:t>
            </a:r>
          </a:p>
          <a:p>
            <a:pPr marL="742950" lvl="1" indent="-285750" algn="l">
              <a:buFont typeface="Arial" panose="020B0604020202020204" pitchFamily="34" charset="0"/>
              <a:buChar char="•"/>
            </a:pPr>
            <a:r>
              <a:rPr lang="en-US" b="0" i="0" u="none" strike="noStrike" dirty="0">
                <a:solidFill>
                  <a:srgbClr val="000000"/>
                </a:solidFill>
                <a:effectLst/>
              </a:rPr>
              <a:t>Closed: Course is fully enrolled and cannot accept more registrations.</a:t>
            </a:r>
          </a:p>
          <a:p>
            <a:pPr algn="l">
              <a:buFont typeface="Arial" panose="020B0604020202020204" pitchFamily="34" charset="0"/>
              <a:buChar char="•"/>
            </a:pPr>
            <a:r>
              <a:rPr lang="en-US" b="1" i="0" u="none" strike="noStrike" dirty="0">
                <a:solidFill>
                  <a:srgbClr val="000000"/>
                </a:solidFill>
                <a:effectLst/>
              </a:rPr>
              <a:t>Substates in Open</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err="1">
                <a:solidFill>
                  <a:srgbClr val="000000"/>
                </a:solidFill>
                <a:effectLst/>
              </a:rPr>
              <a:t>NotEnoughStudents</a:t>
            </a:r>
            <a:r>
              <a:rPr lang="en-US" b="0" i="0" u="none" strike="noStrike" dirty="0">
                <a:solidFill>
                  <a:srgbClr val="000000"/>
                </a:solidFill>
                <a:effectLst/>
              </a:rPr>
              <a:t>: This substate indicates that the course has not yet reached the minimum required number of students.</a:t>
            </a:r>
          </a:p>
          <a:p>
            <a:pPr marL="742950" lvl="1" indent="-285750" algn="l">
              <a:buFont typeface="Arial" panose="020B0604020202020204" pitchFamily="34" charset="0"/>
              <a:buChar char="•"/>
            </a:pPr>
            <a:r>
              <a:rPr lang="en-US" b="0" i="0" u="none" strike="noStrike" dirty="0" err="1">
                <a:solidFill>
                  <a:srgbClr val="000000"/>
                </a:solidFill>
                <a:effectLst/>
              </a:rPr>
              <a:t>EnoughStudents</a:t>
            </a:r>
            <a:r>
              <a:rPr lang="en-US" b="0" i="0" u="none" strike="noStrike" dirty="0">
                <a:solidFill>
                  <a:srgbClr val="000000"/>
                </a:solidFill>
                <a:effectLst/>
              </a:rPr>
              <a:t>: This substate indicates the course has the minimum number of students required to proceed.</a:t>
            </a:r>
          </a:p>
          <a:p>
            <a:pPr marL="742950" lvl="1" indent="-285750" algn="l">
              <a:buFont typeface="Arial" panose="020B0604020202020204" pitchFamily="34" charset="0"/>
              <a:buChar char="•"/>
            </a:pPr>
            <a:r>
              <a:rPr lang="en-US" b="0" i="0" u="none" strike="noStrike" dirty="0">
                <a:solidFill>
                  <a:srgbClr val="000000"/>
                </a:solidFill>
                <a:effectLst/>
              </a:rPr>
              <a:t>Transition between these substates depends on the class size:</a:t>
            </a:r>
          </a:p>
          <a:p>
            <a:pPr marL="1143000" lvl="2" indent="-228600" algn="l">
              <a:buFont typeface="Arial" panose="020B0604020202020204" pitchFamily="34" charset="0"/>
              <a:buChar char="•"/>
            </a:pPr>
            <a:r>
              <a:rPr lang="en-US" b="0" i="0" u="none" strike="noStrike" dirty="0" err="1">
                <a:solidFill>
                  <a:srgbClr val="000000"/>
                </a:solidFill>
                <a:effectLst/>
              </a:rPr>
              <a:t>classSize</a:t>
            </a:r>
            <a:r>
              <a:rPr lang="en-US" b="0" i="0" u="none" strike="noStrike" dirty="0">
                <a:solidFill>
                  <a:srgbClr val="000000"/>
                </a:solidFill>
                <a:effectLst/>
              </a:rPr>
              <a:t> &gt;= minimum moves to </a:t>
            </a:r>
            <a:r>
              <a:rPr lang="en-US" b="0" i="0" u="none" strike="noStrike" dirty="0" err="1">
                <a:solidFill>
                  <a:srgbClr val="000000"/>
                </a:solidFill>
                <a:effectLst/>
              </a:rPr>
              <a:t>EnoughStudents</a:t>
            </a:r>
            <a:r>
              <a:rPr lang="en-US" b="0" i="0" u="none" strike="noStrike" dirty="0">
                <a:solidFill>
                  <a:srgbClr val="000000"/>
                </a:solidFill>
                <a:effectLst/>
              </a:rPr>
              <a:t>.</a:t>
            </a:r>
          </a:p>
          <a:p>
            <a:pPr marL="1143000" lvl="2" indent="-228600" algn="l">
              <a:buFont typeface="Arial" panose="020B0604020202020204" pitchFamily="34" charset="0"/>
              <a:buChar char="•"/>
            </a:pPr>
            <a:r>
              <a:rPr lang="en-US" b="0" i="0" u="none" strike="noStrike" dirty="0" err="1">
                <a:solidFill>
                  <a:srgbClr val="000000"/>
                </a:solidFill>
                <a:effectLst/>
              </a:rPr>
              <a:t>classSize</a:t>
            </a:r>
            <a:r>
              <a:rPr lang="en-US" b="0" i="0" u="none" strike="noStrike" dirty="0">
                <a:solidFill>
                  <a:srgbClr val="000000"/>
                </a:solidFill>
                <a:effectLst/>
              </a:rPr>
              <a:t> &lt; minimum moves to </a:t>
            </a:r>
            <a:r>
              <a:rPr lang="en-US" b="0" i="0" u="none" strike="noStrike" dirty="0" err="1">
                <a:solidFill>
                  <a:srgbClr val="000000"/>
                </a:solidFill>
                <a:effectLst/>
              </a:rPr>
              <a:t>NotEnoughStudents</a:t>
            </a:r>
            <a:r>
              <a:rPr lang="en-US" b="0" i="0" u="none" strike="noStrike" dirty="0">
                <a:solidFill>
                  <a:srgbClr val="000000"/>
                </a:solidFill>
                <a:effectLst/>
              </a:rPr>
              <a:t>.</a:t>
            </a:r>
          </a:p>
          <a:p>
            <a:pPr algn="l"/>
            <a:r>
              <a:rPr lang="en-US" b="0" i="0" u="none" strike="noStrike" dirty="0">
                <a:solidFill>
                  <a:srgbClr val="000000"/>
                </a:solidFill>
                <a:effectLst/>
              </a:rPr>
              <a:t>Using substates here simplifies the representation of conditions within the Open state.</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46435" name="Rectangle 2"/>
          <p:cNvSpPr>
            <a:spLocks noGrp="1" noRot="1" noChangeAspect="1" noChangeArrowheads="1" noTextEdit="1"/>
          </p:cNvSpPr>
          <p:nvPr>
            <p:ph type="sldImg"/>
          </p:nvPr>
        </p:nvSpPr>
        <p:spPr>
          <a:xfrm>
            <a:off x="1173163" y="696913"/>
            <a:ext cx="4638675" cy="3479800"/>
          </a:xfrm>
          <a:ln/>
        </p:spPr>
      </p:sp>
      <p:sp>
        <p:nvSpPr>
          <p:cNvPr id="14643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Behavior Model: Activity Diagrams</a:t>
            </a:r>
          </a:p>
          <a:p>
            <a:pPr algn="l">
              <a:buFont typeface="+mj-lt"/>
              <a:buAutoNum type="arabicPeriod"/>
            </a:pPr>
            <a:r>
              <a:rPr lang="en-US" b="1" i="0" u="none" strike="noStrike" dirty="0">
                <a:solidFill>
                  <a:srgbClr val="000000"/>
                </a:solidFill>
                <a:effectLst/>
              </a:rPr>
              <a:t>Definition and Usage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Activity diagrams are like state diagrams but focus on modeling workflows triggered by internal events like computation completion.</a:t>
            </a:r>
          </a:p>
          <a:p>
            <a:pPr marL="742950" lvl="1" indent="-285750" algn="l">
              <a:buFont typeface="+mj-lt"/>
              <a:buAutoNum type="arabicPeriod"/>
            </a:pPr>
            <a:r>
              <a:rPr lang="en-US" b="0" i="0" u="none" strike="noStrike" dirty="0">
                <a:solidFill>
                  <a:srgbClr val="000000"/>
                </a:solidFill>
                <a:effectLst/>
              </a:rPr>
              <a:t>They represent the flow of tasks performed by a system, showing interactions between use cases and components.</a:t>
            </a:r>
          </a:p>
          <a:p>
            <a:pPr marL="742950" lvl="1" indent="-285750" algn="l">
              <a:buFont typeface="+mj-lt"/>
              <a:buAutoNum type="arabicPeriod"/>
            </a:pPr>
            <a:r>
              <a:rPr lang="en-US" b="0" i="0" u="none" strike="noStrike" dirty="0">
                <a:solidFill>
                  <a:srgbClr val="000000"/>
                </a:solidFill>
                <a:effectLst/>
              </a:rPr>
              <a:t>Useful for showing concurrent activities and dependencies among processes.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48483" name="Rectangle 2"/>
          <p:cNvSpPr>
            <a:spLocks noGrp="1" noRot="1" noChangeAspect="1" noChangeArrowheads="1" noTextEdit="1"/>
          </p:cNvSpPr>
          <p:nvPr>
            <p:ph type="sldImg"/>
          </p:nvPr>
        </p:nvSpPr>
        <p:spPr>
          <a:xfrm>
            <a:off x="1173163" y="696913"/>
            <a:ext cx="4638675" cy="3479800"/>
          </a:xfrm>
          <a:ln/>
        </p:spPr>
      </p:sp>
      <p:sp>
        <p:nvSpPr>
          <p:cNvPr id="14848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Representing Concurrency:</a:t>
            </a:r>
          </a:p>
          <a:p>
            <a:pPr algn="l">
              <a:buFont typeface="+mj-lt"/>
              <a:buAutoNum type="arabicPeriod"/>
            </a:pPr>
            <a:r>
              <a:rPr lang="en-US" b="1" i="0" u="none" strike="noStrike" dirty="0">
                <a:solidFill>
                  <a:srgbClr val="000000"/>
                </a:solidFill>
                <a:effectLst/>
              </a:rPr>
              <a:t>Concurrency Mechanisms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Fork</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A single incoming transition splits into multiple outgoing transitions, representing parallel execution.</a:t>
            </a:r>
          </a:p>
          <a:p>
            <a:pPr marL="742950" lvl="1" indent="-285750" algn="l">
              <a:buFont typeface="+mj-lt"/>
              <a:buAutoNum type="arabicPeriod"/>
            </a:pPr>
            <a:r>
              <a:rPr lang="en-US" b="1" i="0" u="none" strike="noStrike" dirty="0">
                <a:solidFill>
                  <a:srgbClr val="000000"/>
                </a:solidFill>
                <a:effectLst/>
              </a:rPr>
              <a:t>Join</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Multiple incoming transitions synchronize to a single outgoing transition.</a:t>
            </a:r>
          </a:p>
          <a:p>
            <a:pPr marL="1143000" lvl="2" indent="-228600" algn="l">
              <a:buFont typeface="+mj-lt"/>
              <a:buAutoNum type="arabicPeriod"/>
            </a:pPr>
            <a:r>
              <a:rPr lang="en-US" b="0" i="0" u="none" strike="noStrike" dirty="0">
                <a:solidFill>
                  <a:srgbClr val="000000"/>
                </a:solidFill>
                <a:effectLst/>
              </a:rPr>
              <a:t>All incoming transitions must be triggered before proceeding.</a:t>
            </a:r>
            <a:endParaRPr lang="tr-TR" dirty="0">
              <a:latin typeface="Times" charset="0"/>
              <a:ea typeface="ＭＳ Ｐゴシック" charset="0"/>
              <a:cs typeface="ＭＳ Ｐゴシック"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50531" name="Rectangle 2"/>
          <p:cNvSpPr>
            <a:spLocks noGrp="1" noRot="1" noChangeAspect="1" noChangeArrowheads="1" noTextEdit="1"/>
          </p:cNvSpPr>
          <p:nvPr>
            <p:ph type="sldImg"/>
          </p:nvPr>
        </p:nvSpPr>
        <p:spPr>
          <a:xfrm>
            <a:off x="1173163" y="696913"/>
            <a:ext cx="4638675" cy="3479800"/>
          </a:xfrm>
          <a:ln/>
        </p:spPr>
      </p:sp>
      <p:sp>
        <p:nvSpPr>
          <p:cNvPr id="15053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742950" lvl="1" indent="-285750" algn="l">
              <a:buFont typeface="+mj-lt"/>
              <a:buAutoNum type="arabicPeriod"/>
            </a:pPr>
            <a:r>
              <a:rPr lang="en-US" b="1" i="0" u="none" strike="noStrike" dirty="0">
                <a:solidFill>
                  <a:srgbClr val="000000"/>
                </a:solidFill>
                <a:effectLst/>
              </a:rPr>
              <a:t>Rendezvous</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Combines multiple incoming and outgoing transitions.</a:t>
            </a:r>
          </a:p>
          <a:p>
            <a:pPr marL="1143000" lvl="2" indent="-228600" algn="l">
              <a:buFont typeface="+mj-lt"/>
              <a:buAutoNum type="arabicPeriod"/>
            </a:pPr>
            <a:r>
              <a:rPr lang="en-US" b="0" i="0" u="none" strike="noStrike" dirty="0">
                <a:solidFill>
                  <a:srgbClr val="000000"/>
                </a:solidFill>
                <a:effectLst/>
              </a:rPr>
              <a:t>All incoming transitions are triggered before all outgoing transitions are executed.</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52579" name="Rectangle 2"/>
          <p:cNvSpPr>
            <a:spLocks noGrp="1" noRot="1" noChangeAspect="1" noChangeArrowheads="1" noTextEdit="1"/>
          </p:cNvSpPr>
          <p:nvPr>
            <p:ph type="sldImg"/>
          </p:nvPr>
        </p:nvSpPr>
        <p:spPr>
          <a:xfrm>
            <a:off x="1173163" y="696913"/>
            <a:ext cx="4638675" cy="3479800"/>
          </a:xfrm>
          <a:ln/>
        </p:spPr>
      </p:sp>
      <p:sp>
        <p:nvSpPr>
          <p:cNvPr id="15258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tr-TR" dirty="0" err="1">
                <a:latin typeface="Times" charset="0"/>
                <a:ea typeface="ＭＳ Ｐゴシック" charset="0"/>
                <a:cs typeface="ＭＳ Ｐゴシック" charset="0"/>
              </a:rPr>
              <a:t>Diamonds</a:t>
            </a:r>
            <a:r>
              <a:rPr lang="tr-TR" dirty="0">
                <a:latin typeface="Times" charset="0"/>
                <a:ea typeface="ＭＳ Ｐゴシック" charset="0"/>
                <a:cs typeface="ＭＳ Ｐゴシック" charset="0"/>
              </a:rPr>
              <a:t>: decision </a:t>
            </a:r>
            <a:r>
              <a:rPr lang="tr-TR" dirty="0" err="1">
                <a:latin typeface="Times" charset="0"/>
                <a:ea typeface="ＭＳ Ｐゴシック" charset="0"/>
                <a:cs typeface="ＭＳ Ｐゴシック" charset="0"/>
              </a:rPr>
              <a:t>node</a:t>
            </a:r>
            <a:r>
              <a:rPr lang="tr-TR" dirty="0">
                <a:latin typeface="Times" charset="0"/>
                <a:ea typeface="ＭＳ Ｐゴシック" charset="0"/>
                <a:cs typeface="ＭＳ Ｐゴシック" charset="0"/>
              </a:rPr>
              <a:t> and </a:t>
            </a:r>
            <a:r>
              <a:rPr lang="tr-TR" dirty="0" err="1">
                <a:latin typeface="Times" charset="0"/>
                <a:ea typeface="ＭＳ Ｐゴシック" charset="0"/>
                <a:cs typeface="ＭＳ Ｐゴシック" charset="0"/>
              </a:rPr>
              <a:t>merge</a:t>
            </a:r>
            <a:r>
              <a:rPr lang="tr-TR" dirty="0">
                <a:latin typeface="Times" charset="0"/>
                <a:ea typeface="ＭＳ Ｐゴシック" charset="0"/>
                <a:cs typeface="ＭＳ Ｐゴシック" charset="0"/>
              </a:rPr>
              <a:t> </a:t>
            </a:r>
            <a:r>
              <a:rPr lang="tr-TR" dirty="0" err="1">
                <a:latin typeface="Times" charset="0"/>
                <a:ea typeface="ＭＳ Ｐゴシック" charset="0"/>
                <a:cs typeface="ＭＳ Ｐゴシック" charset="0"/>
              </a:rPr>
              <a:t>node</a:t>
            </a:r>
            <a:r>
              <a:rPr lang="tr-TR" dirty="0">
                <a:latin typeface="Times" charset="0"/>
                <a:ea typeface="ＭＳ Ｐゴシック" charset="0"/>
                <a:cs typeface="ＭＳ Ｐゴシック" charset="0"/>
              </a:rPr>
              <a:t>.</a:t>
            </a:r>
          </a:p>
          <a:p>
            <a:endParaRPr lang="tr-TR" dirty="0">
              <a:latin typeface="Times" charset="0"/>
              <a:ea typeface="ＭＳ Ｐゴシック" charset="0"/>
              <a:cs typeface="ＭＳ Ｐゴシック" charset="0"/>
            </a:endParaRPr>
          </a:p>
          <a:p>
            <a:pPr algn="l"/>
            <a:r>
              <a:rPr lang="en-US" b="1" i="0" u="none" strike="noStrike" dirty="0">
                <a:solidFill>
                  <a:srgbClr val="000000"/>
                </a:solidFill>
                <a:effectLst/>
              </a:rPr>
              <a:t>Example Activity Diagram:</a:t>
            </a:r>
          </a:p>
          <a:p>
            <a:pPr algn="l">
              <a:buFont typeface="Arial" panose="020B0604020202020204" pitchFamily="34" charset="0"/>
              <a:buChar char="•"/>
            </a:pPr>
            <a:r>
              <a:rPr lang="en-US" b="1" i="0" u="none" strike="noStrike" dirty="0">
                <a:solidFill>
                  <a:srgbClr val="000000"/>
                </a:solidFill>
                <a:effectLst/>
              </a:rPr>
              <a:t>Course Registration Process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Start with a "Receive Course Registration Request."</a:t>
            </a:r>
          </a:p>
          <a:p>
            <a:pPr marL="742950" lvl="1" indent="-285750" algn="l">
              <a:buFont typeface="Arial" panose="020B0604020202020204" pitchFamily="34" charset="0"/>
              <a:buChar char="•"/>
            </a:pPr>
            <a:r>
              <a:rPr lang="en-US" b="0" i="0" u="none" strike="noStrike" dirty="0">
                <a:solidFill>
                  <a:srgbClr val="000000"/>
                </a:solidFill>
                <a:effectLst/>
              </a:rPr>
              <a:t>Decision points like Check Prerequisites or Verify Course Not Full evaluate conditions (e.g., </a:t>
            </a:r>
            <a:r>
              <a:rPr lang="en-US" b="0" i="0" u="none" strike="noStrike" dirty="0" err="1">
                <a:solidFill>
                  <a:srgbClr val="000000"/>
                </a:solidFill>
                <a:effectLst/>
              </a:rPr>
              <a:t>doesNotHavePrereqs</a:t>
            </a:r>
            <a:r>
              <a:rPr lang="en-US" b="0" i="0" u="none" strike="noStrike" dirty="0">
                <a:solidFill>
                  <a:srgbClr val="000000"/>
                </a:solidFill>
                <a:effectLst/>
              </a:rPr>
              <a:t>, </a:t>
            </a:r>
            <a:r>
              <a:rPr lang="en-US" b="0" i="0" u="none" strike="noStrike" dirty="0" err="1">
                <a:solidFill>
                  <a:srgbClr val="000000"/>
                </a:solidFill>
                <a:effectLst/>
              </a:rPr>
              <a:t>notFull</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Actions like Check Special Permission or completing the registration follow based on these conditions.</a:t>
            </a:r>
          </a:p>
          <a:p>
            <a:pPr marL="742950" lvl="1" indent="-285750" algn="l">
              <a:buFont typeface="Arial" panose="020B0604020202020204" pitchFamily="34" charset="0"/>
              <a:buChar char="•"/>
            </a:pPr>
            <a:r>
              <a:rPr lang="en-US" b="0" i="0" u="none" strike="noStrike" dirty="0">
                <a:solidFill>
                  <a:srgbClr val="000000"/>
                </a:solidFill>
                <a:effectLst/>
              </a:rPr>
              <a:t>Black circles indicate start and end of processes.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54627" name="Rectangle 2"/>
          <p:cNvSpPr>
            <a:spLocks noGrp="1" noRot="1" noChangeAspect="1" noChangeArrowheads="1" noTextEdit="1"/>
          </p:cNvSpPr>
          <p:nvPr>
            <p:ph type="sldImg"/>
          </p:nvPr>
        </p:nvSpPr>
        <p:spPr>
          <a:xfrm>
            <a:off x="1173163" y="696913"/>
            <a:ext cx="4638675" cy="3479800"/>
          </a:xfrm>
          <a:ln/>
        </p:spPr>
      </p:sp>
      <p:sp>
        <p:nvSpPr>
          <p:cNvPr id="154628"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err="1">
                <a:solidFill>
                  <a:srgbClr val="000000"/>
                </a:solidFill>
                <a:effectLst/>
              </a:rPr>
              <a:t>Swimlanes</a:t>
            </a:r>
            <a:r>
              <a:rPr lang="en-US" b="1" i="0" u="none" strike="noStrike" dirty="0">
                <a:solidFill>
                  <a:srgbClr val="000000"/>
                </a:solidFill>
                <a:effectLst/>
              </a:rPr>
              <a:t> in Activity Diagrams</a:t>
            </a:r>
          </a:p>
          <a:p>
            <a:pPr algn="l">
              <a:buFont typeface="+mj-lt"/>
              <a:buAutoNum type="arabicPeriod"/>
            </a:pPr>
            <a:r>
              <a:rPr lang="en-US" b="1" i="0" u="none" strike="noStrike" dirty="0">
                <a:solidFill>
                  <a:srgbClr val="000000"/>
                </a:solidFill>
                <a:effectLst/>
              </a:rPr>
              <a:t>Definition</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Swimlanes</a:t>
            </a:r>
            <a:r>
              <a:rPr lang="en-US" b="0" i="0" u="none" strike="noStrike" dirty="0">
                <a:solidFill>
                  <a:srgbClr val="000000"/>
                </a:solidFill>
                <a:effectLst/>
              </a:rPr>
              <a:t> partition activities across different classes or entities.</a:t>
            </a:r>
          </a:p>
          <a:p>
            <a:pPr marL="742950" lvl="1" indent="-285750" algn="l">
              <a:buFont typeface="+mj-lt"/>
              <a:buAutoNum type="arabicPeriod"/>
            </a:pPr>
            <a:r>
              <a:rPr lang="en-US" b="0" i="0" u="none" strike="noStrike" dirty="0">
                <a:solidFill>
                  <a:srgbClr val="000000"/>
                </a:solidFill>
                <a:effectLst/>
              </a:rPr>
              <a:t>They help organize and visualize which class or entity is responsible for a particular activity.</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56675" name="Rectangle 2"/>
          <p:cNvSpPr>
            <a:spLocks noGrp="1" noRot="1" noChangeAspect="1" noChangeArrowheads="1" noTextEdit="1"/>
          </p:cNvSpPr>
          <p:nvPr>
            <p:ph type="sldImg"/>
          </p:nvPr>
        </p:nvSpPr>
        <p:spPr>
          <a:xfrm>
            <a:off x="1173163" y="696913"/>
            <a:ext cx="4638675" cy="3479800"/>
          </a:xfrm>
          <a:ln/>
        </p:spPr>
      </p:sp>
      <p:sp>
        <p:nvSpPr>
          <p:cNvPr id="15667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buFont typeface="+mj-lt"/>
              <a:buAutoNum type="arabicPeriod"/>
            </a:pPr>
            <a:r>
              <a:rPr lang="en-US" b="1" i="0" u="none" strike="noStrike" dirty="0">
                <a:solidFill>
                  <a:srgbClr val="000000"/>
                </a:solidFill>
                <a:effectLst/>
              </a:rPr>
              <a:t>Example Diagram</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Vertical </a:t>
            </a:r>
            <a:r>
              <a:rPr lang="en-US" b="1" i="0" u="none" strike="noStrike" dirty="0" err="1">
                <a:solidFill>
                  <a:srgbClr val="000000"/>
                </a:solidFill>
                <a:effectLst/>
              </a:rPr>
              <a:t>Swimlanes</a:t>
            </a:r>
            <a:r>
              <a:rPr lang="en-US" b="0" i="0" u="none" strike="noStrike" dirty="0">
                <a:solidFill>
                  <a:srgbClr val="000000"/>
                </a:solidFill>
                <a:effectLst/>
              </a:rPr>
              <a:t>: The "Student" and "</a:t>
            </a:r>
            <a:r>
              <a:rPr lang="en-US" b="0" i="0" u="none" strike="noStrike" dirty="0" err="1">
                <a:solidFill>
                  <a:srgbClr val="000000"/>
                </a:solidFill>
                <a:effectLst/>
              </a:rPr>
              <a:t>CourseSection</a:t>
            </a:r>
            <a:r>
              <a:rPr lang="en-US" b="0" i="0" u="none" strike="noStrike" dirty="0">
                <a:solidFill>
                  <a:srgbClr val="000000"/>
                </a:solidFill>
                <a:effectLst/>
              </a:rPr>
              <a:t>" columns in the diagram separate the responsibilities.</a:t>
            </a:r>
          </a:p>
          <a:p>
            <a:pPr marL="742950" lvl="1" indent="-285750" algn="l">
              <a:buFont typeface="+mj-lt"/>
              <a:buAutoNum type="arabicPeriod"/>
            </a:pPr>
            <a:r>
              <a:rPr lang="en-US" b="1" i="0" u="none" strike="noStrike" dirty="0">
                <a:solidFill>
                  <a:srgbClr val="000000"/>
                </a:solidFill>
                <a:effectLst/>
              </a:rPr>
              <a:t>Flow</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The "Student" initiates a request (e.g., "Check prerequisites").</a:t>
            </a:r>
          </a:p>
          <a:p>
            <a:pPr marL="1143000" lvl="2" indent="-228600" algn="l">
              <a:buFont typeface="+mj-lt"/>
              <a:buAutoNum type="arabicPeriod"/>
            </a:pPr>
            <a:r>
              <a:rPr lang="en-US" b="0" i="0" u="none" strike="noStrike" dirty="0">
                <a:solidFill>
                  <a:srgbClr val="000000"/>
                </a:solidFill>
                <a:effectLst/>
              </a:rPr>
              <a:t>The "</a:t>
            </a:r>
            <a:r>
              <a:rPr lang="en-US" b="0" i="0" u="none" strike="noStrike" dirty="0" err="1">
                <a:solidFill>
                  <a:srgbClr val="000000"/>
                </a:solidFill>
                <a:effectLst/>
              </a:rPr>
              <a:t>CourseSection</a:t>
            </a:r>
            <a:r>
              <a:rPr lang="en-US" b="0" i="0" u="none" strike="noStrike" dirty="0">
                <a:solidFill>
                  <a:srgbClr val="000000"/>
                </a:solidFill>
                <a:effectLst/>
              </a:rPr>
              <a:t>" verifies the course and determines its status.</a:t>
            </a:r>
          </a:p>
          <a:p>
            <a:pPr marL="1143000" lvl="2" indent="-228600" algn="l">
              <a:buFont typeface="+mj-lt"/>
              <a:buAutoNum type="arabicPeriod"/>
            </a:pPr>
            <a:r>
              <a:rPr lang="en-US" b="0" i="0" u="none" strike="noStrike" dirty="0">
                <a:solidFill>
                  <a:srgbClr val="000000"/>
                </a:solidFill>
                <a:effectLst/>
              </a:rPr>
              <a:t>The </a:t>
            </a:r>
            <a:r>
              <a:rPr lang="en-US" b="0" i="0" u="none" strike="noStrike" dirty="0" err="1">
                <a:solidFill>
                  <a:srgbClr val="000000"/>
                </a:solidFill>
                <a:effectLst/>
              </a:rPr>
              <a:t>swimlanes</a:t>
            </a:r>
            <a:r>
              <a:rPr lang="en-US" b="0" i="0" u="none" strike="noStrike" dirty="0">
                <a:solidFill>
                  <a:srgbClr val="000000"/>
                </a:solidFill>
                <a:effectLst/>
              </a:rPr>
              <a:t> visually show the interactions between these two entities and the responsibilities of each.</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58723" name="Rectangle 2"/>
          <p:cNvSpPr>
            <a:spLocks noGrp="1" noRot="1" noChangeAspect="1" noChangeArrowheads="1" noTextEdit="1"/>
          </p:cNvSpPr>
          <p:nvPr>
            <p:ph type="sldImg"/>
          </p:nvPr>
        </p:nvSpPr>
        <p:spPr>
          <a:xfrm>
            <a:off x="1173163" y="696913"/>
            <a:ext cx="4638675" cy="3479800"/>
          </a:xfrm>
          <a:ln/>
        </p:spPr>
      </p:sp>
      <p:sp>
        <p:nvSpPr>
          <p:cNvPr id="15872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Implementing Classes Based on Interaction Diagrams and Behavior Models</a:t>
            </a:r>
          </a:p>
          <a:p>
            <a:pPr algn="l">
              <a:buFont typeface="+mj-lt"/>
              <a:buAutoNum type="arabicPeriod"/>
            </a:pPr>
            <a:r>
              <a:rPr lang="en-US" b="1" i="0" u="none" strike="noStrike" dirty="0">
                <a:solidFill>
                  <a:srgbClr val="000000"/>
                </a:solidFill>
                <a:effectLst/>
              </a:rPr>
              <a:t>Key Points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Use diagrams like interaction, activity, and state diagrams selectively for complex parts of the system.</a:t>
            </a:r>
          </a:p>
          <a:p>
            <a:pPr marL="742950" lvl="1" indent="-285750" algn="l">
              <a:buFont typeface="+mj-lt"/>
              <a:buAutoNum type="arabicPeriod"/>
            </a:pPr>
            <a:r>
              <a:rPr lang="en-US" b="0" i="0" u="none" strike="noStrike" dirty="0">
                <a:solidFill>
                  <a:srgbClr val="000000"/>
                </a:solidFill>
                <a:effectLst/>
              </a:rPr>
              <a:t>These diagrams clarify behavior and ensure correct implementation.</a:t>
            </a:r>
          </a:p>
          <a:p>
            <a:pPr marL="742950" lvl="1" indent="-285750" algn="l">
              <a:buFont typeface="+mj-lt"/>
              <a:buAutoNum type="arabicPeriod"/>
            </a:pPr>
            <a:r>
              <a:rPr lang="en-US" b="0" i="0" u="none" strike="noStrike" dirty="0">
                <a:solidFill>
                  <a:srgbClr val="000000"/>
                </a:solidFill>
                <a:effectLst/>
              </a:rPr>
              <a:t>Especially useful when the same event triggers different responses under different conditions.</a:t>
            </a:r>
          </a:p>
          <a:p>
            <a:pPr algn="l">
              <a:buFont typeface="+mj-lt"/>
              <a:buAutoNum type="arabicPeriod"/>
            </a:pPr>
            <a:r>
              <a:rPr lang="en-US" b="1" i="0" u="none" strike="noStrike" dirty="0">
                <a:solidFill>
                  <a:srgbClr val="000000"/>
                </a:solidFill>
                <a:effectLst/>
              </a:rPr>
              <a:t>Examples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State Diagrams</a:t>
            </a:r>
            <a:r>
              <a:rPr lang="en-US" b="0" i="0" u="none" strike="noStrike" dirty="0">
                <a:solidFill>
                  <a:srgbClr val="000000"/>
                </a:solidFill>
                <a:effectLst/>
              </a:rPr>
              <a:t>: Useful for capturing how an object transitions between states based on events.</a:t>
            </a:r>
          </a:p>
          <a:p>
            <a:pPr marL="742950" lvl="1" indent="-285750" algn="l">
              <a:buFont typeface="+mj-lt"/>
              <a:buAutoNum type="arabicPeriod"/>
            </a:pPr>
            <a:r>
              <a:rPr lang="en-US" b="1" i="0" u="none" strike="noStrike" dirty="0">
                <a:solidFill>
                  <a:srgbClr val="000000"/>
                </a:solidFill>
                <a:effectLst/>
              </a:rPr>
              <a:t>Activity Diagrams</a:t>
            </a:r>
            <a:r>
              <a:rPr lang="en-US" b="0" i="0" u="none" strike="noStrike" dirty="0">
                <a:solidFill>
                  <a:srgbClr val="000000"/>
                </a:solidFill>
                <a:effectLst/>
              </a:rPr>
              <a:t>: Ideal for workflows involving multiple classes or components.</a:t>
            </a:r>
          </a:p>
          <a:p>
            <a:pPr algn="l"/>
            <a:r>
              <a:rPr lang="en-US" b="0" i="0" u="none" strike="noStrike" dirty="0">
                <a:solidFill>
                  <a:srgbClr val="000000"/>
                </a:solidFill>
                <a:effectLst/>
              </a:rPr>
              <a:t>In summary, these slides emphasize using diagrams to partition responsibilities clearly (via </a:t>
            </a:r>
            <a:r>
              <a:rPr lang="en-US" b="0" i="0" u="none" strike="noStrike" dirty="0" err="1">
                <a:solidFill>
                  <a:srgbClr val="000000"/>
                </a:solidFill>
                <a:effectLst/>
              </a:rPr>
              <a:t>swimlanes</a:t>
            </a:r>
            <a:r>
              <a:rPr lang="en-US" b="0" i="0" u="none" strike="noStrike" dirty="0">
                <a:solidFill>
                  <a:srgbClr val="000000"/>
                </a:solidFill>
                <a:effectLst/>
              </a:rPr>
              <a:t>) and to implement correct behaviors in complex scenarios. This ensures a better understanding of system dynamics and interactions.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60771" name="Rectangle 2"/>
          <p:cNvSpPr>
            <a:spLocks noGrp="1" noRot="1" noChangeAspect="1" noChangeArrowheads="1" noTextEdit="1"/>
          </p:cNvSpPr>
          <p:nvPr>
            <p:ph type="sldImg"/>
          </p:nvPr>
        </p:nvSpPr>
        <p:spPr>
          <a:xfrm>
            <a:off x="1173163" y="696913"/>
            <a:ext cx="4638675" cy="3479800"/>
          </a:xfrm>
          <a:ln/>
        </p:spPr>
      </p:sp>
      <p:sp>
        <p:nvSpPr>
          <p:cNvPr id="16077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Top Part: Sequence Diagram (Interaction Diagram)</a:t>
            </a:r>
          </a:p>
          <a:p>
            <a:pPr algn="l">
              <a:buFont typeface="Arial" panose="020B0604020202020204" pitchFamily="34" charset="0"/>
              <a:buChar char="•"/>
            </a:pPr>
            <a:r>
              <a:rPr lang="en-US" b="1" i="0" u="none" strike="noStrike" dirty="0">
                <a:solidFill>
                  <a:srgbClr val="000000"/>
                </a:solidFill>
                <a:effectLst/>
              </a:rPr>
              <a:t>Purpose</a:t>
            </a:r>
            <a:r>
              <a:rPr lang="en-US" b="0" i="0" u="none" strike="noStrike" dirty="0">
                <a:solidFill>
                  <a:srgbClr val="000000"/>
                </a:solidFill>
                <a:effectLst/>
              </a:rPr>
              <a:t>: Demonstrates the interactions between system components during the course registration process, focusing on method calls and object communication.</a:t>
            </a:r>
          </a:p>
          <a:p>
            <a:pPr algn="l"/>
            <a:r>
              <a:rPr lang="en-US" b="1" i="0" u="none" strike="noStrike" dirty="0">
                <a:solidFill>
                  <a:srgbClr val="000000"/>
                </a:solidFill>
                <a:effectLst/>
              </a:rPr>
              <a:t>Components:</a:t>
            </a:r>
          </a:p>
          <a:p>
            <a:pPr algn="l">
              <a:buFont typeface="+mj-lt"/>
              <a:buAutoNum type="arabicPeriod"/>
            </a:pPr>
            <a:r>
              <a:rPr lang="en-US" b="1" i="0" u="none" strike="noStrike" dirty="0">
                <a:solidFill>
                  <a:srgbClr val="000000"/>
                </a:solidFill>
                <a:effectLst/>
              </a:rPr>
              <a:t>Actors and Objects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Actor (GUI)</a:t>
            </a:r>
            <a:r>
              <a:rPr lang="en-US" b="0" i="0" u="none" strike="noStrike" dirty="0">
                <a:solidFill>
                  <a:srgbClr val="000000"/>
                </a:solidFill>
                <a:effectLst/>
              </a:rPr>
              <a:t>: Represents the user interface where the user initiates the registration.</a:t>
            </a:r>
          </a:p>
          <a:p>
            <a:pPr marL="742950" lvl="1" indent="-285750" algn="l">
              <a:buFont typeface="+mj-lt"/>
              <a:buAutoNum type="arabicPeriod"/>
            </a:pPr>
            <a:r>
              <a:rPr lang="en-US" b="1" i="0" u="none" strike="noStrike" dirty="0">
                <a:solidFill>
                  <a:srgbClr val="000000"/>
                </a:solidFill>
                <a:effectLst/>
              </a:rPr>
              <a:t>Objects</a:t>
            </a:r>
            <a:r>
              <a:rPr lang="en-US" b="0" i="0" u="none" strike="noStrike" dirty="0">
                <a:solidFill>
                  <a:srgbClr val="000000"/>
                </a:solidFill>
                <a:effectLst/>
              </a:rPr>
              <a:t>:</a:t>
            </a:r>
          </a:p>
          <a:p>
            <a:pPr marL="1143000" lvl="2" indent="-228600" algn="l">
              <a:buFont typeface="+mj-lt"/>
              <a:buAutoNum type="arabicPeriod"/>
            </a:pPr>
            <a:r>
              <a:rPr lang="en-US" b="0" i="0" u="none" strike="noStrike" dirty="0" err="1">
                <a:solidFill>
                  <a:srgbClr val="000000"/>
                </a:solidFill>
                <a:effectLst/>
              </a:rPr>
              <a:t>CourseSection</a:t>
            </a:r>
            <a:r>
              <a:rPr lang="en-US" b="0" i="0" u="none" strike="noStrike" dirty="0">
                <a:solidFill>
                  <a:srgbClr val="000000"/>
                </a:solidFill>
                <a:effectLst/>
              </a:rPr>
              <a:t>: Manages the registration process and checks prerequisites.</a:t>
            </a:r>
          </a:p>
          <a:p>
            <a:pPr marL="1143000" lvl="2" indent="-228600" algn="l">
              <a:buFont typeface="+mj-lt"/>
              <a:buAutoNum type="arabicPeriod"/>
            </a:pPr>
            <a:r>
              <a:rPr lang="en-US" b="0" i="0" u="none" strike="noStrike" dirty="0">
                <a:solidFill>
                  <a:srgbClr val="000000"/>
                </a:solidFill>
                <a:effectLst/>
              </a:rPr>
              <a:t>Registration: Represents the actual registration record.</a:t>
            </a:r>
          </a:p>
          <a:p>
            <a:pPr marL="1143000" lvl="2" indent="-228600" algn="l">
              <a:buFont typeface="+mj-lt"/>
              <a:buAutoNum type="arabicPeriod"/>
            </a:pPr>
            <a:r>
              <a:rPr lang="en-US" b="0" i="0" u="none" strike="noStrike" dirty="0">
                <a:solidFill>
                  <a:srgbClr val="000000"/>
                </a:solidFill>
                <a:effectLst/>
              </a:rPr>
              <a:t>Student: The student object that interacts with the registration.</a:t>
            </a:r>
          </a:p>
          <a:p>
            <a:pPr marL="1143000" lvl="2" indent="-228600" algn="l">
              <a:buFont typeface="+mj-lt"/>
              <a:buAutoNum type="arabicPeriod"/>
            </a:pPr>
            <a:r>
              <a:rPr lang="en-US" b="0" i="0" u="none" strike="noStrike" dirty="0">
                <a:solidFill>
                  <a:srgbClr val="000000"/>
                </a:solidFill>
                <a:effectLst/>
              </a:rPr>
              <a:t>Course: Provides information like prerequisites.</a:t>
            </a:r>
          </a:p>
          <a:p>
            <a:pPr algn="l">
              <a:buFont typeface="+mj-lt"/>
              <a:buAutoNum type="arabicPeriod"/>
            </a:pPr>
            <a:r>
              <a:rPr lang="en-US" b="1" i="0" u="none" strike="noStrike" dirty="0">
                <a:solidFill>
                  <a:srgbClr val="000000"/>
                </a:solidFill>
                <a:effectLst/>
              </a:rPr>
              <a:t>Process Flow</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a:t>
            </a:r>
            <a:r>
              <a:rPr lang="en-US" b="1" i="0" u="none" strike="noStrike" dirty="0">
                <a:solidFill>
                  <a:srgbClr val="000000"/>
                </a:solidFill>
                <a:effectLst/>
              </a:rPr>
              <a:t>GUI</a:t>
            </a:r>
            <a:r>
              <a:rPr lang="en-US" b="0" i="0" u="none" strike="noStrike" dirty="0">
                <a:solidFill>
                  <a:srgbClr val="000000"/>
                </a:solidFill>
                <a:effectLst/>
              </a:rPr>
              <a:t> sends a </a:t>
            </a:r>
            <a:r>
              <a:rPr lang="en-US" b="0" i="0" u="none" strike="noStrike" dirty="0" err="1">
                <a:solidFill>
                  <a:srgbClr val="000000"/>
                </a:solidFill>
                <a:effectLst/>
              </a:rPr>
              <a:t>requestToRegister</a:t>
            </a:r>
            <a:r>
              <a:rPr lang="en-US" b="0" i="0" u="none" strike="noStrike" dirty="0">
                <a:solidFill>
                  <a:srgbClr val="000000"/>
                </a:solidFill>
                <a:effectLst/>
              </a:rPr>
              <a:t> to </a:t>
            </a:r>
            <a:r>
              <a:rPr lang="en-US" b="0" i="0" u="none" strike="noStrike" dirty="0" err="1">
                <a:solidFill>
                  <a:srgbClr val="000000"/>
                </a:solidFill>
                <a:effectLst/>
              </a:rPr>
              <a:t>CourseSection</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CourseSection</a:t>
            </a:r>
            <a:r>
              <a:rPr lang="en-US" b="0" i="0" u="none" strike="noStrike" dirty="0">
                <a:solidFill>
                  <a:srgbClr val="000000"/>
                </a:solidFill>
                <a:effectLst/>
              </a:rPr>
              <a:t> validates the prerequisites for the course by checking </a:t>
            </a:r>
            <a:r>
              <a:rPr lang="en-US" b="0" i="0" u="none" strike="noStrike" dirty="0" err="1">
                <a:solidFill>
                  <a:srgbClr val="000000"/>
                </a:solidFill>
                <a:effectLst/>
              </a:rPr>
              <a:t>hasPrerequisite</a:t>
            </a:r>
            <a:r>
              <a:rPr lang="en-US" b="0" i="0" u="none" strike="noStrike" dirty="0">
                <a:solidFill>
                  <a:srgbClr val="000000"/>
                </a:solidFill>
                <a:effectLst/>
              </a:rPr>
              <a:t> and whether the student has passed the required course (</a:t>
            </a:r>
            <a:r>
              <a:rPr lang="en-US" b="0" i="0" u="none" strike="noStrike" dirty="0" err="1">
                <a:solidFill>
                  <a:srgbClr val="000000"/>
                </a:solidFill>
                <a:effectLst/>
              </a:rPr>
              <a:t>hasPassedCourse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If prerequisites are satisfied (opt block indicates an optional check), a Registration object is created and added to the student's schedule via </a:t>
            </a:r>
            <a:r>
              <a:rPr lang="en-US" b="0" i="0" u="none" strike="noStrike" dirty="0" err="1">
                <a:solidFill>
                  <a:srgbClr val="000000"/>
                </a:solidFill>
                <a:effectLst/>
              </a:rPr>
              <a:t>addToSchedule</a:t>
            </a:r>
            <a:r>
              <a:rPr lang="en-US" b="0" i="0" u="none" strike="noStrike" dirty="0">
                <a:solidFill>
                  <a:srgbClr val="000000"/>
                </a:solidFill>
                <a:effectLst/>
              </a:rPr>
              <a:t>.</a:t>
            </a:r>
          </a:p>
          <a:p>
            <a:pPr algn="l"/>
            <a:r>
              <a:rPr lang="en-US" b="1" i="0" u="none" strike="noStrike" dirty="0">
                <a:solidFill>
                  <a:srgbClr val="000000"/>
                </a:solidFill>
                <a:effectLst/>
              </a:rPr>
              <a:t>Bottom Part: State Diagram (Behavior Model)</a:t>
            </a:r>
          </a:p>
          <a:p>
            <a:pPr algn="l">
              <a:buFont typeface="Arial" panose="020B0604020202020204" pitchFamily="34" charset="0"/>
              <a:buChar char="•"/>
            </a:pPr>
            <a:r>
              <a:rPr lang="en-US" b="1" i="0" u="none" strike="noStrike" dirty="0">
                <a:solidFill>
                  <a:srgbClr val="000000"/>
                </a:solidFill>
                <a:effectLst/>
              </a:rPr>
              <a:t>Purpose</a:t>
            </a:r>
            <a:r>
              <a:rPr lang="en-US" b="0" i="0" u="none" strike="noStrike" dirty="0">
                <a:solidFill>
                  <a:srgbClr val="000000"/>
                </a:solidFill>
                <a:effectLst/>
              </a:rPr>
              <a:t>: Describes the possible states and transitions of the </a:t>
            </a:r>
            <a:r>
              <a:rPr lang="en-US" b="0" i="0" u="none" strike="noStrike" dirty="0" err="1">
                <a:solidFill>
                  <a:srgbClr val="000000"/>
                </a:solidFill>
                <a:effectLst/>
              </a:rPr>
              <a:t>CourseSection</a:t>
            </a:r>
            <a:r>
              <a:rPr lang="en-US" b="0" i="0" u="none" strike="noStrike" dirty="0">
                <a:solidFill>
                  <a:srgbClr val="000000"/>
                </a:solidFill>
                <a:effectLst/>
              </a:rPr>
              <a:t> class during the registration process.</a:t>
            </a:r>
          </a:p>
          <a:p>
            <a:pPr algn="l"/>
            <a:r>
              <a:rPr lang="en-US" b="1" i="0" u="none" strike="noStrike" dirty="0">
                <a:solidFill>
                  <a:srgbClr val="000000"/>
                </a:solidFill>
                <a:effectLst/>
              </a:rPr>
              <a:t>Components:</a:t>
            </a:r>
          </a:p>
          <a:p>
            <a:pPr algn="l">
              <a:buFont typeface="+mj-lt"/>
              <a:buAutoNum type="arabicPeriod"/>
            </a:pP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Planned</a:t>
            </a:r>
            <a:r>
              <a:rPr lang="en-US" b="0" i="0" u="none" strike="noStrike" dirty="0">
                <a:solidFill>
                  <a:srgbClr val="000000"/>
                </a:solidFill>
                <a:effectLst/>
              </a:rPr>
              <a:t>: The course section is planned but not yet open for registration.</a:t>
            </a:r>
          </a:p>
          <a:p>
            <a:pPr marL="742950" lvl="1" indent="-285750" algn="l">
              <a:buFont typeface="+mj-lt"/>
              <a:buAutoNum type="arabicPeriod"/>
            </a:pPr>
            <a:r>
              <a:rPr lang="en-US" b="1" i="0" u="none" strike="noStrike" dirty="0">
                <a:solidFill>
                  <a:srgbClr val="000000"/>
                </a:solidFill>
                <a:effectLst/>
              </a:rPr>
              <a:t>Open</a:t>
            </a:r>
            <a:r>
              <a:rPr lang="en-US" b="0" i="0" u="none" strike="noStrike" dirty="0">
                <a:solidFill>
                  <a:srgbClr val="000000"/>
                </a:solidFill>
                <a:effectLst/>
              </a:rPr>
              <a:t>: Registration is open.</a:t>
            </a:r>
          </a:p>
          <a:p>
            <a:pPr marL="1143000" lvl="2" indent="-228600" algn="l">
              <a:buFont typeface="+mj-lt"/>
              <a:buAutoNum type="arabicPeriod"/>
            </a:pPr>
            <a:r>
              <a:rPr lang="en-US" b="0" i="0" u="none" strike="noStrike" dirty="0">
                <a:solidFill>
                  <a:srgbClr val="000000"/>
                </a:solidFill>
                <a:effectLst/>
              </a:rPr>
              <a:t>Substates:</a:t>
            </a:r>
          </a:p>
          <a:p>
            <a:pPr marL="1600200" lvl="3" indent="-228600" algn="l">
              <a:buFont typeface="+mj-lt"/>
              <a:buAutoNum type="arabicPeriod"/>
            </a:pPr>
            <a:r>
              <a:rPr lang="en-US" b="1" i="0" u="none" strike="noStrike" dirty="0" err="1">
                <a:solidFill>
                  <a:srgbClr val="000000"/>
                </a:solidFill>
                <a:effectLst/>
              </a:rPr>
              <a:t>NotEnoughStudents</a:t>
            </a:r>
            <a:r>
              <a:rPr lang="en-US" b="0" i="0" u="none" strike="noStrike" dirty="0">
                <a:solidFill>
                  <a:srgbClr val="000000"/>
                </a:solidFill>
                <a:effectLst/>
              </a:rPr>
              <a:t>: The minimum number of students hasn’t been met.</a:t>
            </a:r>
          </a:p>
          <a:p>
            <a:pPr marL="1600200" lvl="3" indent="-228600" algn="l">
              <a:buFont typeface="+mj-lt"/>
              <a:buAutoNum type="arabicPeriod"/>
            </a:pPr>
            <a:r>
              <a:rPr lang="en-US" b="1" i="0" u="none" strike="noStrike" dirty="0" err="1">
                <a:solidFill>
                  <a:srgbClr val="000000"/>
                </a:solidFill>
                <a:effectLst/>
              </a:rPr>
              <a:t>EnoughStudents</a:t>
            </a:r>
            <a:r>
              <a:rPr lang="en-US" b="0" i="0" u="none" strike="noStrike" dirty="0">
                <a:solidFill>
                  <a:srgbClr val="000000"/>
                </a:solidFill>
                <a:effectLst/>
              </a:rPr>
              <a:t>: The minimum number of students has been reached.</a:t>
            </a:r>
          </a:p>
          <a:p>
            <a:pPr marL="742950" lvl="1" indent="-285750" algn="l">
              <a:buFont typeface="+mj-lt"/>
              <a:buAutoNum type="arabicPeriod"/>
            </a:pPr>
            <a:r>
              <a:rPr lang="en-US" b="1" i="0" u="none" strike="noStrike" dirty="0">
                <a:solidFill>
                  <a:srgbClr val="000000"/>
                </a:solidFill>
                <a:effectLst/>
              </a:rPr>
              <a:t>Cancelled</a:t>
            </a:r>
            <a:r>
              <a:rPr lang="en-US" b="0" i="0" u="none" strike="noStrike" dirty="0">
                <a:solidFill>
                  <a:srgbClr val="000000"/>
                </a:solidFill>
                <a:effectLst/>
              </a:rPr>
              <a:t>: The course is canceled, and students are unregistered.</a:t>
            </a:r>
          </a:p>
          <a:p>
            <a:pPr marL="742950" lvl="1" indent="-285750" algn="l">
              <a:buFont typeface="+mj-lt"/>
              <a:buAutoNum type="arabicPeriod"/>
            </a:pPr>
            <a:r>
              <a:rPr lang="en-US" b="1" i="0" u="none" strike="noStrike" dirty="0">
                <a:solidFill>
                  <a:srgbClr val="000000"/>
                </a:solidFill>
                <a:effectLst/>
              </a:rPr>
              <a:t>Closed</a:t>
            </a:r>
            <a:r>
              <a:rPr lang="en-US" b="0" i="0" u="none" strike="noStrike" dirty="0">
                <a:solidFill>
                  <a:srgbClr val="000000"/>
                </a:solidFill>
                <a:effectLst/>
              </a:rPr>
              <a:t>: Registration is closed as the class is full.</a:t>
            </a:r>
          </a:p>
          <a:p>
            <a:pPr algn="l">
              <a:buFont typeface="+mj-lt"/>
              <a:buAutoNum type="arabicPeriod"/>
            </a:pPr>
            <a:r>
              <a:rPr lang="en-US" b="1" i="0" u="none" strike="noStrike" dirty="0">
                <a:solidFill>
                  <a:srgbClr val="000000"/>
                </a:solidFill>
                <a:effectLst/>
              </a:rPr>
              <a:t>Transitions</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openRegistration</a:t>
            </a:r>
            <a:r>
              <a:rPr lang="en-US" b="0" i="0" u="none" strike="noStrike" dirty="0">
                <a:solidFill>
                  <a:srgbClr val="000000"/>
                </a:solidFill>
                <a:effectLst/>
              </a:rPr>
              <a:t>: Transitions from Planned to Open.</a:t>
            </a:r>
          </a:p>
          <a:p>
            <a:pPr marL="742950" lvl="1" indent="-285750" algn="l">
              <a:buFont typeface="+mj-lt"/>
              <a:buAutoNum type="arabicPeriod"/>
            </a:pPr>
            <a:r>
              <a:rPr lang="en-US" b="0" i="0" u="none" strike="noStrike" dirty="0">
                <a:solidFill>
                  <a:srgbClr val="000000"/>
                </a:solidFill>
                <a:effectLst/>
              </a:rPr>
              <a:t>Within Open:</a:t>
            </a:r>
          </a:p>
          <a:p>
            <a:pPr marL="1143000" lvl="2" indent="-228600" algn="l">
              <a:buFont typeface="+mj-lt"/>
              <a:buAutoNum type="arabicPeriod"/>
            </a:pPr>
            <a:r>
              <a:rPr lang="en-US" b="0" i="0" u="none" strike="noStrike" dirty="0">
                <a:solidFill>
                  <a:srgbClr val="000000"/>
                </a:solidFill>
                <a:effectLst/>
              </a:rPr>
              <a:t>If </a:t>
            </a:r>
            <a:r>
              <a:rPr lang="en-US" b="0" i="0" u="none" strike="noStrike" dirty="0" err="1">
                <a:solidFill>
                  <a:srgbClr val="000000"/>
                </a:solidFill>
                <a:effectLst/>
              </a:rPr>
              <a:t>classSize</a:t>
            </a:r>
            <a:r>
              <a:rPr lang="en-US" b="0" i="0" u="none" strike="noStrike" dirty="0">
                <a:solidFill>
                  <a:srgbClr val="000000"/>
                </a:solidFill>
                <a:effectLst/>
              </a:rPr>
              <a:t> &gt;= minimum, it moves to </a:t>
            </a:r>
            <a:r>
              <a:rPr lang="en-US" b="0" i="0" u="none" strike="noStrike" dirty="0" err="1">
                <a:solidFill>
                  <a:srgbClr val="000000"/>
                </a:solidFill>
                <a:effectLst/>
              </a:rPr>
              <a:t>EnoughStudents</a:t>
            </a:r>
            <a:r>
              <a:rPr lang="en-US" b="0" i="0" u="none" strike="noStrike" dirty="0">
                <a:solidFill>
                  <a:srgbClr val="000000"/>
                </a:solidFill>
                <a:effectLst/>
              </a:rPr>
              <a:t>.</a:t>
            </a:r>
          </a:p>
          <a:p>
            <a:pPr marL="1143000" lvl="2" indent="-228600" algn="l">
              <a:buFont typeface="+mj-lt"/>
              <a:buAutoNum type="arabicPeriod"/>
            </a:pPr>
            <a:r>
              <a:rPr lang="en-US" b="0" i="0" u="none" strike="noStrike" dirty="0">
                <a:solidFill>
                  <a:srgbClr val="000000"/>
                </a:solidFill>
                <a:effectLst/>
              </a:rPr>
              <a:t>If fewer students register, it remains in </a:t>
            </a:r>
            <a:r>
              <a:rPr lang="en-US" b="0" i="0" u="none" strike="noStrike" dirty="0" err="1">
                <a:solidFill>
                  <a:srgbClr val="000000"/>
                </a:solidFill>
                <a:effectLst/>
              </a:rPr>
              <a:t>NotEnoughStudents</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closeRegistration</a:t>
            </a:r>
            <a:r>
              <a:rPr lang="en-US" b="0" i="0" u="none" strike="noStrike" dirty="0">
                <a:solidFill>
                  <a:srgbClr val="000000"/>
                </a:solidFill>
                <a:effectLst/>
              </a:rPr>
              <a:t>: Transitions </a:t>
            </a:r>
            <a:r>
              <a:rPr lang="en-US" b="0" i="0" u="none" strike="noStrike" dirty="0" err="1">
                <a:solidFill>
                  <a:srgbClr val="000000"/>
                </a:solidFill>
                <a:effectLst/>
              </a:rPr>
              <a:t>EnoughStudents</a:t>
            </a:r>
            <a:r>
              <a:rPr lang="en-US" b="0" i="0" u="none" strike="noStrike" dirty="0">
                <a:solidFill>
                  <a:srgbClr val="000000"/>
                </a:solidFill>
                <a:effectLst/>
              </a:rPr>
              <a:t> to Closed.</a:t>
            </a:r>
          </a:p>
          <a:p>
            <a:pPr marL="742950" lvl="1" indent="-285750" algn="l">
              <a:buFont typeface="+mj-lt"/>
              <a:buAutoNum type="arabicPeriod"/>
            </a:pPr>
            <a:r>
              <a:rPr lang="en-US" b="0" i="0" u="none" strike="noStrike" dirty="0">
                <a:solidFill>
                  <a:srgbClr val="000000"/>
                </a:solidFill>
                <a:effectLst/>
              </a:rPr>
              <a:t>cancel: Cancels the course and moves to Cancelled.</a:t>
            </a:r>
          </a:p>
          <a:p>
            <a:pPr algn="l"/>
            <a:r>
              <a:rPr lang="en-US" b="1" i="0" u="none" strike="noStrike" dirty="0">
                <a:solidFill>
                  <a:srgbClr val="000000"/>
                </a:solidFill>
                <a:effectLst/>
              </a:rPr>
              <a:t>Integration of Interaction and Behavior Models:</a:t>
            </a:r>
          </a:p>
          <a:p>
            <a:pPr algn="l">
              <a:buFont typeface="Arial" panose="020B0604020202020204" pitchFamily="34" charset="0"/>
              <a:buChar char="•"/>
            </a:pPr>
            <a:r>
              <a:rPr lang="en-US" b="0" i="0" u="none" strike="noStrike" dirty="0">
                <a:solidFill>
                  <a:srgbClr val="000000"/>
                </a:solidFill>
                <a:effectLst/>
              </a:rPr>
              <a:t>The </a:t>
            </a:r>
            <a:r>
              <a:rPr lang="en-US" b="1" i="0" u="none" strike="noStrike" dirty="0">
                <a:solidFill>
                  <a:srgbClr val="000000"/>
                </a:solidFill>
                <a:effectLst/>
              </a:rPr>
              <a:t>Sequence Diagram</a:t>
            </a:r>
            <a:r>
              <a:rPr lang="en-US" b="0" i="0" u="none" strike="noStrike" dirty="0">
                <a:solidFill>
                  <a:srgbClr val="000000"/>
                </a:solidFill>
                <a:effectLst/>
              </a:rPr>
              <a:t> highlights the interactions and method calls to manage the registration.</a:t>
            </a:r>
          </a:p>
          <a:p>
            <a:pPr algn="l">
              <a:buFont typeface="Arial" panose="020B0604020202020204" pitchFamily="34" charset="0"/>
              <a:buChar char="•"/>
            </a:pPr>
            <a:r>
              <a:rPr lang="en-US" b="0" i="0" u="none" strike="noStrike" dirty="0">
                <a:solidFill>
                  <a:srgbClr val="000000"/>
                </a:solidFill>
                <a:effectLst/>
              </a:rPr>
              <a:t>The </a:t>
            </a:r>
            <a:r>
              <a:rPr lang="en-US" b="1" i="0" u="none" strike="noStrike" dirty="0">
                <a:solidFill>
                  <a:srgbClr val="000000"/>
                </a:solidFill>
                <a:effectLst/>
              </a:rPr>
              <a:t>State Diagram</a:t>
            </a:r>
            <a:r>
              <a:rPr lang="en-US" b="0" i="0" u="none" strike="noStrike" dirty="0">
                <a:solidFill>
                  <a:srgbClr val="000000"/>
                </a:solidFill>
                <a:effectLst/>
              </a:rPr>
              <a:t> shows how the system transitions through different states based on the course's registration status and class size conditions.</a:t>
            </a:r>
          </a:p>
          <a:p>
            <a:pPr algn="l">
              <a:buFont typeface="Arial" panose="020B0604020202020204" pitchFamily="34" charset="0"/>
              <a:buChar char="•"/>
            </a:pPr>
            <a:r>
              <a:rPr lang="en-US" b="0" i="0" u="none" strike="noStrike" dirty="0">
                <a:solidFill>
                  <a:srgbClr val="000000"/>
                </a:solidFill>
                <a:effectLst/>
              </a:rPr>
              <a:t>Together, they offer a complete view of both </a:t>
            </a:r>
            <a:r>
              <a:rPr lang="en-US" b="0" i="1" u="none" strike="noStrike" dirty="0">
                <a:solidFill>
                  <a:srgbClr val="000000"/>
                </a:solidFill>
                <a:effectLst/>
              </a:rPr>
              <a:t>dynamic interactions</a:t>
            </a:r>
            <a:r>
              <a:rPr lang="en-US" b="0" i="0" u="none" strike="noStrike" dirty="0">
                <a:solidFill>
                  <a:srgbClr val="000000"/>
                </a:solidFill>
                <a:effectLst/>
              </a:rPr>
              <a:t> (how objects communicate) and </a:t>
            </a:r>
            <a:r>
              <a:rPr lang="en-US" b="0" i="1" u="none" strike="noStrike" dirty="0">
                <a:solidFill>
                  <a:srgbClr val="000000"/>
                </a:solidFill>
                <a:effectLst/>
              </a:rPr>
              <a:t>state changes</a:t>
            </a:r>
            <a:r>
              <a:rPr lang="en-US" b="0" i="0" u="none" strike="noStrike" dirty="0">
                <a:solidFill>
                  <a:srgbClr val="000000"/>
                </a:solidFill>
                <a:effectLst/>
              </a:rPr>
              <a:t>(how the system evolves).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a:xfrm>
            <a:off x="1173163" y="696913"/>
            <a:ext cx="4638675" cy="3479800"/>
          </a:xfrm>
          <a:ln/>
        </p:spPr>
      </p:sp>
      <p:sp>
        <p:nvSpPr>
          <p:cNvPr id="162819"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Class Diagram for </a:t>
            </a:r>
            <a:r>
              <a:rPr lang="en-US" b="1" i="0" u="none" strike="noStrike" dirty="0" err="1">
                <a:solidFill>
                  <a:srgbClr val="000000"/>
                </a:solidFill>
                <a:effectLst/>
              </a:rPr>
              <a:t>CourseSection</a:t>
            </a:r>
            <a:endParaRPr lang="en-US" b="1" i="0" u="none" strike="noStrike" dirty="0">
              <a:solidFill>
                <a:srgbClr val="000000"/>
              </a:solidFill>
              <a:effectLst/>
            </a:endParaRPr>
          </a:p>
          <a:p>
            <a:pPr algn="l">
              <a:buFont typeface="+mj-lt"/>
              <a:buAutoNum type="arabicPeriod"/>
            </a:pPr>
            <a:r>
              <a:rPr lang="en-US" b="1" i="0" u="none" strike="noStrike" dirty="0">
                <a:solidFill>
                  <a:srgbClr val="000000"/>
                </a:solidFill>
                <a:effectLst/>
              </a:rPr>
              <a:t>Purpose</a:t>
            </a:r>
            <a:r>
              <a:rPr lang="en-US" b="0" i="0" u="none" strike="noStrike" dirty="0">
                <a:solidFill>
                  <a:srgbClr val="000000"/>
                </a:solidFill>
                <a:effectLst/>
              </a:rPr>
              <a:t>: This shows the relationships between the classes Course, </a:t>
            </a:r>
            <a:r>
              <a:rPr lang="en-US" b="0" i="0" u="none" strike="noStrike" dirty="0" err="1">
                <a:solidFill>
                  <a:srgbClr val="000000"/>
                </a:solidFill>
                <a:effectLst/>
              </a:rPr>
              <a:t>CourseSection</a:t>
            </a:r>
            <a:r>
              <a:rPr lang="en-US" b="0" i="0" u="none" strike="noStrike" dirty="0">
                <a:solidFill>
                  <a:srgbClr val="000000"/>
                </a:solidFill>
                <a:effectLst/>
              </a:rPr>
              <a:t>, Registration, and Student.</a:t>
            </a:r>
          </a:p>
          <a:p>
            <a:pPr marL="742950" lvl="1" indent="-285750" algn="l">
              <a:buFont typeface="+mj-lt"/>
              <a:buAutoNum type="arabicPeriod"/>
            </a:pPr>
            <a:r>
              <a:rPr lang="en-US" b="0" i="0" u="none" strike="noStrike" dirty="0" err="1">
                <a:solidFill>
                  <a:srgbClr val="000000"/>
                </a:solidFill>
                <a:effectLst/>
              </a:rPr>
              <a:t>CourseSection</a:t>
            </a:r>
            <a:r>
              <a:rPr lang="en-US" b="0" i="0" u="none" strike="noStrike" dirty="0">
                <a:solidFill>
                  <a:srgbClr val="000000"/>
                </a:solidFill>
                <a:effectLst/>
              </a:rPr>
              <a:t> holds a reference to Course.</a:t>
            </a:r>
          </a:p>
          <a:p>
            <a:pPr marL="742950" lvl="1" indent="-285750" algn="l">
              <a:buFont typeface="+mj-lt"/>
              <a:buAutoNum type="arabicPeriod"/>
            </a:pPr>
            <a:r>
              <a:rPr lang="en-US" b="0" i="0" u="none" strike="noStrike" dirty="0">
                <a:solidFill>
                  <a:srgbClr val="000000"/>
                </a:solidFill>
                <a:effectLst/>
              </a:rPr>
              <a:t>A </a:t>
            </a:r>
            <a:r>
              <a:rPr lang="en-US" b="0" i="0" u="none" strike="noStrike" dirty="0" err="1">
                <a:solidFill>
                  <a:srgbClr val="000000"/>
                </a:solidFill>
                <a:effectLst/>
              </a:rPr>
              <a:t>CourseSection</a:t>
            </a:r>
            <a:r>
              <a:rPr lang="en-US" b="0" i="0" u="none" strike="noStrike" dirty="0">
                <a:solidFill>
                  <a:srgbClr val="000000"/>
                </a:solidFill>
                <a:effectLst/>
              </a:rPr>
              <a:t> can have many Registration objects, representing students enrolled.</a:t>
            </a:r>
          </a:p>
          <a:p>
            <a:pPr marL="742950" lvl="1" indent="-285750" algn="l">
              <a:buFont typeface="+mj-lt"/>
              <a:buAutoNum type="arabicPeriod"/>
            </a:pPr>
            <a:r>
              <a:rPr lang="en-US" b="0" i="0" u="none" strike="noStrike" dirty="0">
                <a:solidFill>
                  <a:srgbClr val="000000"/>
                </a:solidFill>
                <a:effectLst/>
              </a:rPr>
              <a:t>A Registration object connects a Student to a </a:t>
            </a:r>
            <a:r>
              <a:rPr lang="en-US" b="0" i="0" u="none" strike="noStrike" dirty="0" err="1">
                <a:solidFill>
                  <a:srgbClr val="000000"/>
                </a:solidFill>
                <a:effectLst/>
              </a:rPr>
              <a:t>CourseSection</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Code Example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The </a:t>
            </a:r>
            <a:r>
              <a:rPr lang="en-US" b="0" i="0" u="none" strike="noStrike" dirty="0" err="1">
                <a:solidFill>
                  <a:srgbClr val="000000"/>
                </a:solidFill>
                <a:effectLst/>
              </a:rPr>
              <a:t>CourseSection</a:t>
            </a:r>
            <a:r>
              <a:rPr lang="en-US" b="0" i="0" u="none" strike="noStrike" dirty="0">
                <a:solidFill>
                  <a:srgbClr val="000000"/>
                </a:solidFill>
                <a:effectLst/>
              </a:rPr>
              <a:t> class has fields for Course, a collection of Registration, and helper methods to manage states.</a:t>
            </a:r>
          </a:p>
          <a:p>
            <a:endParaRPr lang="tr-TR" dirty="0">
              <a:latin typeface="Times" charset="0"/>
              <a:ea typeface="ＭＳ Ｐゴシック" charset="0"/>
              <a:cs typeface="ＭＳ Ｐゴシック" charset="0"/>
            </a:endParaRPr>
          </a:p>
        </p:txBody>
      </p:sp>
      <p:sp>
        <p:nvSpPr>
          <p:cNvPr id="162820"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p:cNvSpPr>
            <a:spLocks noGrp="1" noRot="1" noChangeAspect="1" noTextEdit="1"/>
          </p:cNvSpPr>
          <p:nvPr>
            <p:ph type="sldImg"/>
          </p:nvPr>
        </p:nvSpPr>
        <p:spPr>
          <a:xfrm>
            <a:off x="1173163" y="696913"/>
            <a:ext cx="4638675" cy="3479800"/>
          </a:xfrm>
          <a:ln/>
        </p:spPr>
      </p:sp>
      <p:sp>
        <p:nvSpPr>
          <p:cNvPr id="164867" name="Notes Placeholder 2"/>
          <p:cNvSpPr>
            <a:spLocks noGrp="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State Diagram for </a:t>
            </a:r>
            <a:r>
              <a:rPr lang="en-US" b="1" i="0" u="none" strike="noStrike" dirty="0" err="1">
                <a:solidFill>
                  <a:srgbClr val="000000"/>
                </a:solidFill>
                <a:effectLst/>
              </a:rPr>
              <a:t>CourseSection</a:t>
            </a:r>
            <a:endParaRPr lang="en-US" b="1" i="0" u="none" strike="noStrike" dirty="0">
              <a:solidFill>
                <a:srgbClr val="000000"/>
              </a:solidFill>
              <a:effectLst/>
            </a:endParaRPr>
          </a:p>
          <a:p>
            <a:pPr algn="l">
              <a:buFont typeface="+mj-lt"/>
              <a:buAutoNum type="arabicPeriod"/>
            </a:pPr>
            <a:r>
              <a:rPr lang="en-US" b="1" i="0" u="none" strike="noStrike" dirty="0">
                <a:solidFill>
                  <a:srgbClr val="000000"/>
                </a:solidFill>
                <a:effectLst/>
              </a:rPr>
              <a:t>States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Planned</a:t>
            </a:r>
            <a:r>
              <a:rPr lang="en-US" b="0" i="0" u="none" strike="noStrike" dirty="0">
                <a:solidFill>
                  <a:srgbClr val="000000"/>
                </a:solidFill>
                <a:effectLst/>
              </a:rPr>
              <a:t>: Registration not yet open.</a:t>
            </a:r>
          </a:p>
          <a:p>
            <a:pPr marL="742950" lvl="1" indent="-285750" algn="l">
              <a:buFont typeface="+mj-lt"/>
              <a:buAutoNum type="arabicPeriod"/>
            </a:pPr>
            <a:r>
              <a:rPr lang="en-US" b="1" i="0" u="none" strike="noStrike" dirty="0">
                <a:solidFill>
                  <a:srgbClr val="000000"/>
                </a:solidFill>
                <a:effectLst/>
              </a:rPr>
              <a:t>Open</a:t>
            </a:r>
            <a:r>
              <a:rPr lang="en-US" b="0" i="0" u="none" strike="noStrike" dirty="0">
                <a:solidFill>
                  <a:srgbClr val="000000"/>
                </a:solidFill>
                <a:effectLst/>
              </a:rPr>
              <a:t>: Accepting registrations, with substates:</a:t>
            </a:r>
          </a:p>
          <a:p>
            <a:pPr marL="1143000" lvl="2" indent="-228600" algn="l">
              <a:buFont typeface="+mj-lt"/>
              <a:buAutoNum type="arabicPeriod"/>
            </a:pPr>
            <a:r>
              <a:rPr lang="en-US" b="1" i="0" u="none" strike="noStrike" dirty="0" err="1">
                <a:solidFill>
                  <a:srgbClr val="000000"/>
                </a:solidFill>
                <a:effectLst/>
              </a:rPr>
              <a:t>NotEnoughStudents</a:t>
            </a:r>
            <a:r>
              <a:rPr lang="en-US" b="0" i="0" u="none" strike="noStrike" dirty="0">
                <a:solidFill>
                  <a:srgbClr val="000000"/>
                </a:solidFill>
                <a:effectLst/>
              </a:rPr>
              <a:t>: Fewer students than the minimum.</a:t>
            </a:r>
          </a:p>
          <a:p>
            <a:pPr marL="1143000" lvl="2" indent="-228600" algn="l">
              <a:buFont typeface="+mj-lt"/>
              <a:buAutoNum type="arabicPeriod"/>
            </a:pPr>
            <a:r>
              <a:rPr lang="en-US" b="1" i="0" u="none" strike="noStrike" dirty="0" err="1">
                <a:solidFill>
                  <a:srgbClr val="000000"/>
                </a:solidFill>
                <a:effectLst/>
              </a:rPr>
              <a:t>EnoughStudents</a:t>
            </a:r>
            <a:r>
              <a:rPr lang="en-US" b="0" i="0" u="none" strike="noStrike" dirty="0">
                <a:solidFill>
                  <a:srgbClr val="000000"/>
                </a:solidFill>
                <a:effectLst/>
              </a:rPr>
              <a:t>: Meets or exceeds the minimum.</a:t>
            </a:r>
          </a:p>
          <a:p>
            <a:pPr marL="742950" lvl="1" indent="-285750" algn="l">
              <a:buFont typeface="+mj-lt"/>
              <a:buAutoNum type="arabicPeriod"/>
            </a:pPr>
            <a:r>
              <a:rPr lang="en-US" b="1" i="0" u="none" strike="noStrike" dirty="0">
                <a:solidFill>
                  <a:srgbClr val="000000"/>
                </a:solidFill>
                <a:effectLst/>
              </a:rPr>
              <a:t>Cancelled</a:t>
            </a:r>
            <a:r>
              <a:rPr lang="en-US" b="0" i="0" u="none" strike="noStrike" dirty="0">
                <a:solidFill>
                  <a:srgbClr val="000000"/>
                </a:solidFill>
                <a:effectLst/>
              </a:rPr>
              <a:t>: No students registered.</a:t>
            </a:r>
          </a:p>
          <a:p>
            <a:pPr marL="742950" lvl="1" indent="-285750" algn="l">
              <a:buFont typeface="+mj-lt"/>
              <a:buAutoNum type="arabicPeriod"/>
            </a:pPr>
            <a:r>
              <a:rPr lang="en-US" b="1" i="0" u="none" strike="noStrike" dirty="0">
                <a:solidFill>
                  <a:srgbClr val="000000"/>
                </a:solidFill>
                <a:effectLst/>
              </a:rPr>
              <a:t>Closed</a:t>
            </a:r>
            <a:r>
              <a:rPr lang="en-US" b="0" i="0" u="none" strike="noStrike" dirty="0">
                <a:solidFill>
                  <a:srgbClr val="000000"/>
                </a:solidFill>
                <a:effectLst/>
              </a:rPr>
              <a:t>: Registration is closed (section full or class taught).</a:t>
            </a:r>
          </a:p>
          <a:p>
            <a:pPr algn="l">
              <a:buFont typeface="+mj-lt"/>
              <a:buAutoNum type="arabicPeriod"/>
            </a:pPr>
            <a:r>
              <a:rPr lang="en-US" b="1" i="0" u="none" strike="noStrike" dirty="0">
                <a:solidFill>
                  <a:srgbClr val="000000"/>
                </a:solidFill>
                <a:effectLst/>
              </a:rPr>
              <a:t>Transitions</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openRegistration</a:t>
            </a:r>
            <a:r>
              <a:rPr lang="en-US" b="0" i="0" u="none" strike="noStrike" dirty="0">
                <a:solidFill>
                  <a:srgbClr val="000000"/>
                </a:solidFill>
                <a:effectLst/>
              </a:rPr>
              <a:t>: Moves from Planned to Open.</a:t>
            </a:r>
          </a:p>
          <a:p>
            <a:pPr marL="742950" lvl="1" indent="-285750" algn="l">
              <a:buFont typeface="+mj-lt"/>
              <a:buAutoNum type="arabicPeriod"/>
            </a:pPr>
            <a:r>
              <a:rPr lang="en-US" b="0" i="0" u="none" strike="noStrike" dirty="0" err="1">
                <a:solidFill>
                  <a:srgbClr val="000000"/>
                </a:solidFill>
                <a:effectLst/>
              </a:rPr>
              <a:t>closeRegistration</a:t>
            </a:r>
            <a:r>
              <a:rPr lang="en-US" b="0" i="0" u="none" strike="noStrike" dirty="0">
                <a:solidFill>
                  <a:srgbClr val="000000"/>
                </a:solidFill>
                <a:effectLst/>
              </a:rPr>
              <a:t>: Moves to Closed or Cancelled based on conditions.</a:t>
            </a:r>
          </a:p>
          <a:p>
            <a:pPr marL="742950" lvl="1" indent="-285750" algn="l">
              <a:buFont typeface="+mj-lt"/>
              <a:buAutoNum type="arabicPeriod"/>
            </a:pPr>
            <a:r>
              <a:rPr lang="en-US" b="0" i="0" u="none" strike="noStrike" dirty="0">
                <a:solidFill>
                  <a:srgbClr val="000000"/>
                </a:solidFill>
                <a:effectLst/>
              </a:rPr>
              <a:t>cancel: Cancels the section and unregisters all students.</a:t>
            </a:r>
          </a:p>
          <a:p>
            <a:endParaRPr lang="tr-TR" dirty="0">
              <a:latin typeface="Times" charset="0"/>
              <a:ea typeface="ＭＳ Ｐゴシック" charset="0"/>
              <a:cs typeface="ＭＳ Ｐゴシック" charset="0"/>
            </a:endParaRPr>
          </a:p>
        </p:txBody>
      </p:sp>
      <p:sp>
        <p:nvSpPr>
          <p:cNvPr id="16486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66915" name="Rectangle 2"/>
          <p:cNvSpPr>
            <a:spLocks noGrp="1" noRot="1" noChangeAspect="1" noChangeArrowheads="1" noTextEdit="1"/>
          </p:cNvSpPr>
          <p:nvPr>
            <p:ph type="sldImg"/>
          </p:nvPr>
        </p:nvSpPr>
        <p:spPr>
          <a:xfrm>
            <a:off x="1173163" y="696913"/>
            <a:ext cx="4638675" cy="3479800"/>
          </a:xfrm>
          <a:ln/>
        </p:spPr>
      </p:sp>
      <p:sp>
        <p:nvSpPr>
          <p:cNvPr id="16691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State Representation in Code</a:t>
            </a:r>
          </a:p>
          <a:p>
            <a:pPr algn="l">
              <a:buFont typeface="+mj-lt"/>
              <a:buAutoNum type="arabicPeriod"/>
            </a:pPr>
            <a:r>
              <a:rPr lang="en-US" b="1" i="0" u="none" strike="noStrike" dirty="0">
                <a:solidFill>
                  <a:srgbClr val="000000"/>
                </a:solidFill>
                <a:effectLst/>
              </a:rPr>
              <a:t>State Variables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open: Boolean indicating if registration is open.</a:t>
            </a:r>
          </a:p>
          <a:p>
            <a:pPr marL="742950" lvl="1" indent="-285750" algn="l">
              <a:buFont typeface="+mj-lt"/>
              <a:buAutoNum type="arabicPeriod"/>
            </a:pPr>
            <a:r>
              <a:rPr lang="en-US" b="0" i="0" u="none" strike="noStrike" dirty="0" err="1">
                <a:solidFill>
                  <a:srgbClr val="000000"/>
                </a:solidFill>
                <a:effectLst/>
              </a:rPr>
              <a:t>closedOrCanceled</a:t>
            </a:r>
            <a:r>
              <a:rPr lang="en-US" b="0" i="0" u="none" strike="noStrike" dirty="0">
                <a:solidFill>
                  <a:srgbClr val="000000"/>
                </a:solidFill>
                <a:effectLst/>
              </a:rPr>
              <a:t>: Boolean for if the section is closed or canceled.</a:t>
            </a:r>
          </a:p>
          <a:p>
            <a:pPr algn="l">
              <a:buFont typeface="+mj-lt"/>
              <a:buAutoNum type="arabicPeriod"/>
            </a:pPr>
            <a:r>
              <a:rPr lang="en-US" b="1" i="0" u="none" strike="noStrike" dirty="0">
                <a:solidFill>
                  <a:srgbClr val="000000"/>
                </a:solidFill>
                <a:effectLst/>
              </a:rPr>
              <a:t>State Logic</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Planned: </a:t>
            </a:r>
            <a:r>
              <a:rPr lang="en-US" b="0" i="0" u="none" strike="noStrike" dirty="0" err="1">
                <a:solidFill>
                  <a:srgbClr val="000000"/>
                </a:solidFill>
                <a:effectLst/>
              </a:rPr>
              <a:t>closedOrCanceled</a:t>
            </a:r>
            <a:r>
              <a:rPr lang="en-US" b="0" i="0" u="none" strike="noStrike" dirty="0">
                <a:solidFill>
                  <a:srgbClr val="000000"/>
                </a:solidFill>
                <a:effectLst/>
              </a:rPr>
              <a:t> == false &amp;&amp; open == false.</a:t>
            </a:r>
          </a:p>
          <a:p>
            <a:pPr marL="742950" lvl="1" indent="-285750" algn="l">
              <a:buFont typeface="+mj-lt"/>
              <a:buAutoNum type="arabicPeriod"/>
            </a:pPr>
            <a:r>
              <a:rPr lang="en-US" b="0" i="0" u="none" strike="noStrike" dirty="0">
                <a:solidFill>
                  <a:srgbClr val="000000"/>
                </a:solidFill>
                <a:effectLst/>
              </a:rPr>
              <a:t>Cancelled: </a:t>
            </a:r>
            <a:r>
              <a:rPr lang="en-US" b="0" i="0" u="none" strike="noStrike" dirty="0" err="1">
                <a:solidFill>
                  <a:srgbClr val="000000"/>
                </a:solidFill>
                <a:effectLst/>
              </a:rPr>
              <a:t>closedOrCanceled</a:t>
            </a:r>
            <a:r>
              <a:rPr lang="en-US" b="0" i="0" u="none" strike="noStrike" dirty="0">
                <a:solidFill>
                  <a:srgbClr val="000000"/>
                </a:solidFill>
                <a:effectLst/>
              </a:rPr>
              <a:t> == true &amp;&amp; </a:t>
            </a:r>
            <a:r>
              <a:rPr lang="en-US" b="0" i="0" u="none" strike="noStrike" dirty="0" err="1">
                <a:solidFill>
                  <a:srgbClr val="000000"/>
                </a:solidFill>
                <a:effectLst/>
              </a:rPr>
              <a:t>registrationList.size</a:t>
            </a:r>
            <a:r>
              <a:rPr lang="en-US" b="0" i="0" u="none" strike="noStrike" dirty="0">
                <a:solidFill>
                  <a:srgbClr val="000000"/>
                </a:solidFill>
                <a:effectLst/>
              </a:rPr>
              <a:t>() == 0.</a:t>
            </a:r>
          </a:p>
          <a:p>
            <a:pPr marL="742950" lvl="1" indent="-285750" algn="l">
              <a:buFont typeface="+mj-lt"/>
              <a:buAutoNum type="arabicPeriod"/>
            </a:pPr>
            <a:r>
              <a:rPr lang="en-US" b="0" i="0" u="none" strike="noStrike" dirty="0">
                <a:solidFill>
                  <a:srgbClr val="000000"/>
                </a:solidFill>
                <a:effectLst/>
              </a:rPr>
              <a:t>Closed: </a:t>
            </a:r>
            <a:r>
              <a:rPr lang="en-US" b="0" i="0" u="none" strike="noStrike" dirty="0" err="1">
                <a:solidFill>
                  <a:srgbClr val="000000"/>
                </a:solidFill>
                <a:effectLst/>
              </a:rPr>
              <a:t>closedOrCanceled</a:t>
            </a:r>
            <a:r>
              <a:rPr lang="en-US" b="0" i="0" u="none" strike="noStrike" dirty="0">
                <a:solidFill>
                  <a:srgbClr val="000000"/>
                </a:solidFill>
                <a:effectLst/>
              </a:rPr>
              <a:t> == true &amp;&amp; </a:t>
            </a:r>
            <a:r>
              <a:rPr lang="en-US" b="0" i="0" u="none" strike="noStrike" dirty="0" err="1">
                <a:solidFill>
                  <a:srgbClr val="000000"/>
                </a:solidFill>
                <a:effectLst/>
              </a:rPr>
              <a:t>registrationList.size</a:t>
            </a:r>
            <a:r>
              <a:rPr lang="en-US" b="0" i="0" u="none" strike="noStrike" dirty="0">
                <a:solidFill>
                  <a:srgbClr val="000000"/>
                </a:solidFill>
                <a:effectLst/>
              </a:rPr>
              <a:t>() &gt; 0.</a:t>
            </a:r>
          </a:p>
          <a:p>
            <a:pPr algn="l">
              <a:buFont typeface="+mj-lt"/>
              <a:buAutoNum type="arabicPeriod"/>
            </a:pPr>
            <a:r>
              <a:rPr lang="en-US" b="1" i="0" u="none" strike="noStrike" dirty="0">
                <a:solidFill>
                  <a:srgbClr val="000000"/>
                </a:solidFill>
                <a:effectLst/>
              </a:rPr>
              <a:t>Methods</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openRegistration</a:t>
            </a:r>
            <a:r>
              <a:rPr lang="en-US" b="0" i="0" u="none" strike="noStrike" dirty="0">
                <a:solidFill>
                  <a:srgbClr val="000000"/>
                </a:solidFill>
                <a:effectLst/>
              </a:rPr>
              <a:t>: Transitions to </a:t>
            </a:r>
            <a:r>
              <a:rPr lang="en-US" b="0" i="0" u="none" strike="noStrike" dirty="0" err="1">
                <a:solidFill>
                  <a:srgbClr val="000000"/>
                </a:solidFill>
                <a:effectLst/>
              </a:rPr>
              <a:t>NotEnoughStudents</a:t>
            </a:r>
            <a:r>
              <a:rPr lang="en-US" b="0" i="0" u="none" strike="noStrike" dirty="0">
                <a:solidFill>
                  <a:srgbClr val="000000"/>
                </a:solidFill>
                <a:effectLst/>
              </a:rPr>
              <a:t>.</a:t>
            </a:r>
          </a:p>
          <a:p>
            <a:pPr marL="742950" lvl="1" indent="-285750" algn="l">
              <a:buFont typeface="+mj-lt"/>
              <a:buAutoNum type="arabicPeriod"/>
            </a:pPr>
            <a:r>
              <a:rPr lang="en-US" b="0" i="0" u="none" strike="noStrike" dirty="0" err="1">
                <a:solidFill>
                  <a:srgbClr val="000000"/>
                </a:solidFill>
                <a:effectLst/>
              </a:rPr>
              <a:t>closeRegistration</a:t>
            </a:r>
            <a:r>
              <a:rPr lang="en-US" b="0" i="0" u="none" strike="noStrike" dirty="0">
                <a:solidFill>
                  <a:srgbClr val="000000"/>
                </a:solidFill>
                <a:effectLst/>
              </a:rPr>
              <a:t>: Moves to Cancelled if the list size is less than the minimum, otherwise Closed.</a:t>
            </a:r>
          </a:p>
          <a:p>
            <a:pPr marL="742950" lvl="1" indent="-285750" algn="l">
              <a:buFont typeface="+mj-lt"/>
              <a:buAutoNum type="arabicPeriod"/>
            </a:pPr>
            <a:r>
              <a:rPr lang="en-US" b="0" i="0" u="none" strike="noStrike" dirty="0">
                <a:solidFill>
                  <a:srgbClr val="000000"/>
                </a:solidFill>
                <a:effectLst/>
              </a:rPr>
              <a:t>cancel: Cancels the section and clears the registration list.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68963" name="Rectangle 2"/>
          <p:cNvSpPr>
            <a:spLocks noGrp="1" noRot="1" noChangeAspect="1" noChangeArrowheads="1" noTextEdit="1"/>
          </p:cNvSpPr>
          <p:nvPr>
            <p:ph type="sldImg"/>
          </p:nvPr>
        </p:nvSpPr>
        <p:spPr>
          <a:xfrm>
            <a:off x="1173163" y="696913"/>
            <a:ext cx="4638675" cy="3479800"/>
          </a:xfrm>
          <a:ln/>
        </p:spPr>
      </p:sp>
      <p:sp>
        <p:nvSpPr>
          <p:cNvPr id="16896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dirty="0">
              <a:latin typeface="Times" charset="0"/>
              <a:ea typeface="ＭＳ Ｐゴシック" charset="0"/>
              <a:cs typeface="ＭＳ Ｐゴシック"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71011" name="Rectangle 2"/>
          <p:cNvSpPr>
            <a:spLocks noGrp="1" noRot="1" noChangeAspect="1" noChangeArrowheads="1" noTextEdit="1"/>
          </p:cNvSpPr>
          <p:nvPr>
            <p:ph type="sldImg"/>
          </p:nvPr>
        </p:nvSpPr>
        <p:spPr>
          <a:xfrm>
            <a:off x="1173163" y="696913"/>
            <a:ext cx="4638675" cy="3479800"/>
          </a:xfrm>
          <a:ln/>
        </p:spPr>
      </p:sp>
      <p:sp>
        <p:nvSpPr>
          <p:cNvPr id="17101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latin typeface="Times" charset="0"/>
              <a:ea typeface="ＭＳ Ｐゴシック" charset="0"/>
              <a:cs typeface="ＭＳ Ｐゴシック"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73059" name="Rectangle 2"/>
          <p:cNvSpPr>
            <a:spLocks noGrp="1" noRot="1" noChangeAspect="1" noChangeArrowheads="1" noTextEdit="1"/>
          </p:cNvSpPr>
          <p:nvPr>
            <p:ph type="sldImg"/>
          </p:nvPr>
        </p:nvSpPr>
        <p:spPr>
          <a:xfrm>
            <a:off x="1173163" y="696913"/>
            <a:ext cx="4638675" cy="3479800"/>
          </a:xfrm>
          <a:ln/>
        </p:spPr>
      </p:sp>
      <p:sp>
        <p:nvSpPr>
          <p:cNvPr id="173060"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tr-TR">
              <a:latin typeface="Times" charset="0"/>
              <a:ea typeface="ＭＳ Ｐゴシック" charset="0"/>
              <a:cs typeface="ＭＳ Ｐゴシック"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75107" name="Rectangle 2"/>
          <p:cNvSpPr>
            <a:spLocks noGrp="1" noRot="1" noChangeAspect="1" noChangeArrowheads="1" noTextEdit="1"/>
          </p:cNvSpPr>
          <p:nvPr>
            <p:ph type="sldImg"/>
          </p:nvPr>
        </p:nvSpPr>
        <p:spPr>
          <a:xfrm>
            <a:off x="1173163" y="696913"/>
            <a:ext cx="4638675" cy="3479800"/>
          </a:xfrm>
          <a:ln/>
        </p:spPr>
      </p:sp>
      <p:sp>
        <p:nvSpPr>
          <p:cNvPr id="175108"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Behavior Example</a:t>
            </a:r>
          </a:p>
          <a:p>
            <a:pPr algn="l">
              <a:buFont typeface="+mj-lt"/>
              <a:buAutoNum type="arabicPeriod"/>
            </a:pPr>
            <a:r>
              <a:rPr lang="en-US" b="1" i="0" u="none" strike="noStrike" dirty="0" err="1">
                <a:solidFill>
                  <a:srgbClr val="000000"/>
                </a:solidFill>
                <a:effectLst/>
              </a:rPr>
              <a:t>requestToRegister</a:t>
            </a:r>
            <a:r>
              <a:rPr lang="en-US" b="1" i="0" u="none" strike="noStrike" dirty="0">
                <a:solidFill>
                  <a:srgbClr val="000000"/>
                </a:solidFill>
                <a:effectLst/>
              </a:rPr>
              <a:t> Method</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Validates if open == true.</a:t>
            </a:r>
          </a:p>
          <a:p>
            <a:pPr marL="742950" lvl="1" indent="-285750" algn="l">
              <a:buFont typeface="+mj-lt"/>
              <a:buAutoNum type="arabicPeriod"/>
            </a:pPr>
            <a:r>
              <a:rPr lang="en-US" b="0" i="0" u="none" strike="noStrike" dirty="0">
                <a:solidFill>
                  <a:srgbClr val="000000"/>
                </a:solidFill>
                <a:effectLst/>
              </a:rPr>
              <a:t>Checks prerequisites using </a:t>
            </a:r>
            <a:r>
              <a:rPr lang="en-US" b="0" i="0" u="none" strike="noStrike" dirty="0" err="1">
                <a:solidFill>
                  <a:srgbClr val="000000"/>
                </a:solidFill>
                <a:effectLst/>
              </a:rPr>
              <a:t>getPrerequisite</a:t>
            </a:r>
            <a:r>
              <a:rPr lang="en-US" b="0" i="0" u="none" strike="noStrike" dirty="0">
                <a:solidFill>
                  <a:srgbClr val="000000"/>
                </a:solidFill>
                <a:effectLst/>
              </a:rPr>
              <a:t> from Course and </a:t>
            </a:r>
            <a:r>
              <a:rPr lang="en-US" b="0" i="0" u="none" strike="noStrike" dirty="0" err="1">
                <a:solidFill>
                  <a:srgbClr val="000000"/>
                </a:solidFill>
                <a:effectLst/>
              </a:rPr>
              <a:t>hasPassedCourse</a:t>
            </a:r>
            <a:r>
              <a:rPr lang="en-US" b="0" i="0" u="none" strike="noStrike" dirty="0">
                <a:solidFill>
                  <a:srgbClr val="000000"/>
                </a:solidFill>
                <a:effectLst/>
              </a:rPr>
              <a:t> from Student.</a:t>
            </a:r>
          </a:p>
          <a:p>
            <a:pPr marL="742950" lvl="1" indent="-285750" algn="l">
              <a:buFont typeface="+mj-lt"/>
              <a:buAutoNum type="arabicPeriod"/>
            </a:pPr>
            <a:r>
              <a:rPr lang="en-US" b="0" i="0" u="none" strike="noStrike" dirty="0">
                <a:solidFill>
                  <a:srgbClr val="000000"/>
                </a:solidFill>
                <a:effectLst/>
              </a:rPr>
              <a:t>Creates a Registration if prerequisites are met.</a:t>
            </a:r>
          </a:p>
          <a:p>
            <a:pPr marL="742950" lvl="1" indent="-285750" algn="l">
              <a:buFont typeface="+mj-lt"/>
              <a:buAutoNum type="arabicPeriod"/>
            </a:pPr>
            <a:r>
              <a:rPr lang="en-US" b="0" i="0" u="none" strike="noStrike" dirty="0">
                <a:solidFill>
                  <a:srgbClr val="000000"/>
                </a:solidFill>
                <a:effectLst/>
              </a:rPr>
              <a:t>Closes registration automatically if the maximum size is reached.</a:t>
            </a:r>
          </a:p>
          <a:p>
            <a:pPr algn="l">
              <a:buFont typeface="+mj-lt"/>
              <a:buAutoNum type="arabicPeriod"/>
            </a:pPr>
            <a:r>
              <a:rPr lang="en-US" b="1" i="0" u="none" strike="noStrike" dirty="0" err="1">
                <a:solidFill>
                  <a:srgbClr val="000000"/>
                </a:solidFill>
                <a:effectLst/>
              </a:rPr>
              <a:t>unregisterStudents</a:t>
            </a:r>
            <a:r>
              <a:rPr lang="en-US" b="1" i="0" u="none" strike="noStrike" dirty="0">
                <a:solidFill>
                  <a:srgbClr val="000000"/>
                </a:solidFill>
                <a:effectLst/>
              </a:rPr>
              <a:t> Method</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Iterates through the registration list and removes each Registration.</a:t>
            </a:r>
          </a:p>
          <a:p>
            <a:endParaRPr lang="tr-TR" dirty="0">
              <a:latin typeface="Times" charset="0"/>
              <a:ea typeface="ＭＳ Ｐゴシック" charset="0"/>
              <a:cs typeface="ＭＳ Ｐゴシック" charset="0"/>
            </a:endParaRP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77155" name="Rectangle 2"/>
          <p:cNvSpPr>
            <a:spLocks noGrp="1" noRot="1" noChangeAspect="1" noChangeArrowheads="1" noTextEdit="1"/>
          </p:cNvSpPr>
          <p:nvPr>
            <p:ph type="sldImg"/>
          </p:nvPr>
        </p:nvSpPr>
        <p:spPr>
          <a:xfrm>
            <a:off x="1173163" y="696913"/>
            <a:ext cx="4638675" cy="3479800"/>
          </a:xfrm>
          <a:ln/>
        </p:spPr>
      </p:sp>
      <p:sp>
        <p:nvSpPr>
          <p:cNvPr id="177156"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Combined Interaction and Behavior Model</a:t>
            </a:r>
          </a:p>
          <a:p>
            <a:pPr algn="l">
              <a:buFont typeface="+mj-lt"/>
              <a:buAutoNum type="arabicPeriod"/>
            </a:pPr>
            <a:r>
              <a:rPr lang="en-US" b="1" i="0" u="none" strike="noStrike" dirty="0">
                <a:solidFill>
                  <a:srgbClr val="000000"/>
                </a:solidFill>
                <a:effectLst/>
              </a:rPr>
              <a:t>Sequence Diagram</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Student requests to register via the GUI.</a:t>
            </a:r>
          </a:p>
          <a:p>
            <a:pPr marL="742950" lvl="1" indent="-285750" algn="l">
              <a:buFont typeface="+mj-lt"/>
              <a:buAutoNum type="arabicPeriod"/>
            </a:pPr>
            <a:r>
              <a:rPr lang="en-US" b="0" i="0" u="none" strike="noStrike" dirty="0">
                <a:solidFill>
                  <a:srgbClr val="000000"/>
                </a:solidFill>
                <a:effectLst/>
              </a:rPr>
              <a:t>The </a:t>
            </a:r>
            <a:r>
              <a:rPr lang="en-US" b="0" i="0" u="none" strike="noStrike" dirty="0" err="1">
                <a:solidFill>
                  <a:srgbClr val="000000"/>
                </a:solidFill>
                <a:effectLst/>
              </a:rPr>
              <a:t>CourseSection</a:t>
            </a:r>
            <a:r>
              <a:rPr lang="en-US" b="0" i="0" u="none" strike="noStrike" dirty="0">
                <a:solidFill>
                  <a:srgbClr val="000000"/>
                </a:solidFill>
                <a:effectLst/>
              </a:rPr>
              <a:t> checks prerequisites by querying the Course and Student.</a:t>
            </a:r>
          </a:p>
          <a:p>
            <a:pPr marL="742950" lvl="1" indent="-285750" algn="l">
              <a:buFont typeface="+mj-lt"/>
              <a:buAutoNum type="arabicPeriod"/>
            </a:pPr>
            <a:r>
              <a:rPr lang="en-US" b="0" i="0" u="none" strike="noStrike" dirty="0">
                <a:solidFill>
                  <a:srgbClr val="000000"/>
                </a:solidFill>
                <a:effectLst/>
              </a:rPr>
              <a:t>If valid, a Registration is created, added to the list, and linked bidirectionally.</a:t>
            </a:r>
          </a:p>
          <a:p>
            <a:pPr algn="l">
              <a:buFont typeface="+mj-lt"/>
              <a:buAutoNum type="arabicPeriod"/>
            </a:pPr>
            <a:r>
              <a:rPr lang="en-US" b="1" i="0" u="none" strike="noStrike" dirty="0">
                <a:solidFill>
                  <a:srgbClr val="000000"/>
                </a:solidFill>
                <a:effectLst/>
              </a:rPr>
              <a:t>State Diagram</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Depicts transitions based on the open state and registration count.</a:t>
            </a:r>
          </a:p>
          <a:p>
            <a:pPr marL="742950" lvl="1" indent="-285750" algn="l">
              <a:buFont typeface="+mj-lt"/>
              <a:buAutoNum type="arabicPeriod"/>
            </a:pPr>
            <a:r>
              <a:rPr lang="en-US" b="0" i="0" u="none" strike="noStrike" dirty="0">
                <a:solidFill>
                  <a:srgbClr val="000000"/>
                </a:solidFill>
                <a:effectLst/>
              </a:rPr>
              <a:t>Substates in Open show whether the class meets the minimum size requirement.</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79203" name="Rectangle 2"/>
          <p:cNvSpPr>
            <a:spLocks noGrp="1" noRot="1" noChangeAspect="1" noChangeArrowheads="1" noTextEdit="1"/>
          </p:cNvSpPr>
          <p:nvPr>
            <p:ph type="sldImg"/>
          </p:nvPr>
        </p:nvSpPr>
        <p:spPr>
          <a:xfrm>
            <a:off x="1173163" y="696913"/>
            <a:ext cx="4638675" cy="3479800"/>
          </a:xfrm>
          <a:ln/>
        </p:spPr>
      </p:sp>
      <p:sp>
        <p:nvSpPr>
          <p:cNvPr id="179204"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1: Difficulties and Risks in Modeling Interactions and Behavior</a:t>
            </a:r>
          </a:p>
          <a:p>
            <a:pPr algn="l">
              <a:buFont typeface="+mj-lt"/>
              <a:buAutoNum type="arabicPeriod"/>
            </a:pPr>
            <a:r>
              <a:rPr lang="en-US" b="1" i="0" u="none" strike="noStrike" dirty="0">
                <a:solidFill>
                  <a:srgbClr val="000000"/>
                </a:solidFill>
                <a:effectLst/>
              </a:rPr>
              <a:t>Dynamic Modeling Complexity:</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Dynamic modeling involves creating representations of a system's behavior, which can become highly intricate in large systems due to the numerous possible paths.</a:t>
            </a:r>
          </a:p>
          <a:p>
            <a:pPr marL="742950" lvl="1" indent="-285750" algn="l">
              <a:buFont typeface="+mj-lt"/>
              <a:buAutoNum type="arabicPeriod"/>
            </a:pPr>
            <a:r>
              <a:rPr lang="en-US" b="0" i="0" u="none" strike="noStrike" dirty="0">
                <a:solidFill>
                  <a:srgbClr val="000000"/>
                </a:solidFill>
                <a:effectLst/>
              </a:rPr>
              <a:t>Allocating behaviors to appropriate classes is particularly challenging.</a:t>
            </a:r>
          </a:p>
          <a:p>
            <a:pPr algn="l">
              <a:buFont typeface="+mj-lt"/>
              <a:buAutoNum type="arabicPeriod"/>
            </a:pPr>
            <a:r>
              <a:rPr lang="en-US" b="1" i="0" u="none" strike="noStrike" dirty="0">
                <a:solidFill>
                  <a:srgbClr val="000000"/>
                </a:solidFill>
                <a:effectLst/>
              </a:rPr>
              <a:t>Best Practices to Address These Challenges:</a:t>
            </a:r>
            <a:endParaRPr lang="en-US" b="0" i="0" u="none" strike="noStrike" dirty="0">
              <a:solidFill>
                <a:srgbClr val="000000"/>
              </a:solidFill>
              <a:effectLst/>
            </a:endParaRPr>
          </a:p>
          <a:p>
            <a:pPr marL="742950" lvl="1" indent="-285750" algn="l">
              <a:buFont typeface="+mj-lt"/>
              <a:buAutoNum type="arabicPeriod"/>
            </a:pPr>
            <a:r>
              <a:rPr lang="en-US" b="1" i="0" u="none" strike="noStrike" dirty="0">
                <a:solidFill>
                  <a:srgbClr val="000000"/>
                </a:solidFill>
                <a:effectLst/>
              </a:rPr>
              <a:t>Skilled Developers:</a:t>
            </a:r>
            <a:r>
              <a:rPr lang="en-US" b="0" i="0" u="none" strike="noStrike" dirty="0">
                <a:solidFill>
                  <a:srgbClr val="000000"/>
                </a:solidFill>
                <a:effectLst/>
              </a:rPr>
              <a:t> Ensure that experienced developers lead the modeling process and perform rigorous reviews of the models.</a:t>
            </a:r>
          </a:p>
          <a:p>
            <a:pPr marL="742950" lvl="1" indent="-285750" algn="l">
              <a:buFont typeface="+mj-lt"/>
              <a:buAutoNum type="arabicPeriod"/>
            </a:pPr>
            <a:r>
              <a:rPr lang="en-US" b="1" i="0" u="none" strike="noStrike" dirty="0">
                <a:solidFill>
                  <a:srgbClr val="000000"/>
                </a:solidFill>
                <a:effectLst/>
              </a:rPr>
              <a:t>Iterative Work:</a:t>
            </a:r>
            <a:endParaRPr lang="en-US" b="0" i="0" u="none" strike="noStrike" dirty="0">
              <a:solidFill>
                <a:srgbClr val="000000"/>
              </a:solidFill>
              <a:effectLst/>
            </a:endParaRPr>
          </a:p>
          <a:p>
            <a:pPr marL="1143000" lvl="2" indent="-228600" algn="l">
              <a:buFont typeface="+mj-lt"/>
              <a:buAutoNum type="arabicPeriod"/>
            </a:pPr>
            <a:r>
              <a:rPr lang="en-US" b="0" i="0" u="none" strike="noStrike" dirty="0">
                <a:solidFill>
                  <a:srgbClr val="000000"/>
                </a:solidFill>
                <a:effectLst/>
              </a:rPr>
              <a:t>Begin with initial drafts of class diagrams, use cases, responsibilities, interaction diagrams, and state diagrams.</a:t>
            </a:r>
          </a:p>
          <a:p>
            <a:pPr marL="1143000" lvl="2" indent="-228600" algn="l">
              <a:buFont typeface="+mj-lt"/>
              <a:buAutoNum type="arabicPeriod"/>
            </a:pPr>
            <a:r>
              <a:rPr lang="en-US" b="0" i="0" u="none" strike="noStrike" dirty="0">
                <a:solidFill>
                  <a:srgbClr val="000000"/>
                </a:solidFill>
                <a:effectLst/>
              </a:rPr>
              <a:t>Revisit and validate the models to ensure consistency and make modifications as necessary.</a:t>
            </a:r>
          </a:p>
          <a:p>
            <a:pPr marL="742950" lvl="1" indent="-285750" algn="l">
              <a:buFont typeface="+mj-lt"/>
              <a:buAutoNum type="arabicPeriod"/>
            </a:pPr>
            <a:r>
              <a:rPr lang="en-US" b="1" i="0" u="none" strike="noStrike" dirty="0">
                <a:solidFill>
                  <a:srgbClr val="000000"/>
                </a:solidFill>
                <a:effectLst/>
              </a:rPr>
              <a:t>Multiple Diagrams:</a:t>
            </a:r>
            <a:r>
              <a:rPr lang="en-US" b="0" i="0" u="none" strike="noStrike" dirty="0">
                <a:solidFill>
                  <a:srgbClr val="000000"/>
                </a:solidFill>
                <a:effectLst/>
              </a:rPr>
              <a:t> Using various diagrams to represent different but related aspects of the system often helps uncover potential problems.</a:t>
            </a:r>
          </a:p>
          <a:p>
            <a:endParaRPr lang="tr-TR" dirty="0">
              <a:latin typeface="Times" charset="0"/>
              <a:ea typeface="ＭＳ Ｐゴシック" charset="0"/>
              <a:cs typeface="ＭＳ Ｐゴシック"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sz="2400">
                <a:solidFill>
                  <a:schemeClr val="tx1"/>
                </a:solidFill>
                <a:latin typeface="Times" charset="0"/>
                <a:ea typeface="ＭＳ Ｐゴシック" charset="0"/>
                <a:cs typeface="ＭＳ Ｐゴシック" charset="0"/>
              </a:defRPr>
            </a:lvl1pPr>
            <a:lvl2pPr marL="37931725" indent="-37474525" defTabSz="93027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endParaRPr lang="en-US" sz="1200"/>
          </a:p>
        </p:txBody>
      </p:sp>
      <p:sp>
        <p:nvSpPr>
          <p:cNvPr id="181251" name="Rectangle 2"/>
          <p:cNvSpPr>
            <a:spLocks noGrp="1" noRot="1" noChangeAspect="1" noChangeArrowheads="1" noTextEdit="1"/>
          </p:cNvSpPr>
          <p:nvPr>
            <p:ph type="sldImg"/>
          </p:nvPr>
        </p:nvSpPr>
        <p:spPr>
          <a:xfrm>
            <a:off x="1173163" y="696913"/>
            <a:ext cx="4638675" cy="3479800"/>
          </a:xfrm>
          <a:ln/>
        </p:spPr>
      </p:sp>
      <p:sp>
        <p:nvSpPr>
          <p:cNvPr id="181252" name="Rectangle 3"/>
          <p:cNvSpPr>
            <a:spLocks noGrp="1" noChangeArrowheads="1"/>
          </p:cNvSpPr>
          <p:nvPr>
            <p:ph type="body" idx="1"/>
          </p:nvPr>
        </p:nvSpPr>
        <p:spPr>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gn="l"/>
            <a:r>
              <a:rPr lang="en-US" b="1" i="0" u="none" strike="noStrike" dirty="0">
                <a:solidFill>
                  <a:srgbClr val="000000"/>
                </a:solidFill>
                <a:effectLst/>
              </a:rPr>
              <a:t>Slide 2: For More Information</a:t>
            </a:r>
          </a:p>
          <a:p>
            <a:pPr algn="l">
              <a:buFont typeface="+mj-lt"/>
              <a:buAutoNum type="arabicPeriod"/>
            </a:pPr>
            <a:r>
              <a:rPr lang="en-US" b="1" i="0" u="none" strike="noStrike" dirty="0">
                <a:solidFill>
                  <a:srgbClr val="000000"/>
                </a:solidFill>
                <a:effectLst/>
              </a:rPr>
              <a:t>Suggested Resource:</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The book </a:t>
            </a:r>
            <a:r>
              <a:rPr lang="en-US" b="0" i="1" u="none" strike="noStrike" dirty="0">
                <a:solidFill>
                  <a:srgbClr val="000000"/>
                </a:solidFill>
                <a:effectLst/>
              </a:rPr>
              <a:t>"Applying UML and Patterns: An Introduction to Object-Oriented Analysis and Design and Iterative Development"</a:t>
            </a:r>
            <a:r>
              <a:rPr lang="en-US" b="0" i="0" u="none" strike="noStrike" dirty="0">
                <a:solidFill>
                  <a:srgbClr val="000000"/>
                </a:solidFill>
                <a:effectLst/>
              </a:rPr>
              <a:t> by Craig </a:t>
            </a:r>
            <a:r>
              <a:rPr lang="en-US" b="0" i="0" u="none" strike="noStrike" dirty="0" err="1">
                <a:solidFill>
                  <a:srgbClr val="000000"/>
                </a:solidFill>
                <a:effectLst/>
              </a:rPr>
              <a:t>Larman</a:t>
            </a:r>
            <a:r>
              <a:rPr lang="en-US" b="0" i="0" u="none" strike="noStrike" dirty="0">
                <a:solidFill>
                  <a:srgbClr val="000000"/>
                </a:solidFill>
                <a:effectLst/>
              </a:rPr>
              <a:t> (Third Edition).</a:t>
            </a:r>
          </a:p>
          <a:p>
            <a:pPr marL="742950" lvl="1" indent="-285750" algn="l">
              <a:buFont typeface="+mj-lt"/>
              <a:buAutoNum type="arabicPeriod"/>
            </a:pPr>
            <a:r>
              <a:rPr lang="en-US" b="0" i="0" u="none" strike="noStrike" dirty="0">
                <a:solidFill>
                  <a:srgbClr val="000000"/>
                </a:solidFill>
                <a:effectLst/>
              </a:rPr>
              <a:t>This book provides foundational knowledge about UML and its use in iterative development.</a:t>
            </a:r>
          </a:p>
          <a:p>
            <a:pPr algn="l">
              <a:buFont typeface="+mj-lt"/>
              <a:buAutoNum type="arabicPeriod"/>
            </a:pPr>
            <a:r>
              <a:rPr lang="en-US" b="1" i="0" u="none" strike="noStrike" dirty="0">
                <a:solidFill>
                  <a:srgbClr val="000000"/>
                </a:solidFill>
                <a:effectLst/>
              </a:rPr>
              <a:t>Chapters of Interest:</a:t>
            </a:r>
            <a:endParaRPr lang="en-US" b="0" i="0" u="none" strike="noStrike" dirty="0">
              <a:solidFill>
                <a:srgbClr val="000000"/>
              </a:solidFill>
              <a:effectLst/>
            </a:endParaRPr>
          </a:p>
          <a:p>
            <a:pPr marL="742950" lvl="1" indent="-285750" algn="l">
              <a:buFont typeface="+mj-lt"/>
              <a:buAutoNum type="arabicPeriod"/>
            </a:pPr>
            <a:r>
              <a:rPr lang="en-US" b="1" i="0" u="none" strike="noStrike" dirty="0">
                <a:solidFill>
                  <a:srgbClr val="000000"/>
                </a:solidFill>
                <a:effectLst/>
              </a:rPr>
              <a:t>Chapter 14:</a:t>
            </a:r>
            <a:r>
              <a:rPr lang="en-US" b="0" i="0" u="none" strike="noStrike" dirty="0">
                <a:solidFill>
                  <a:srgbClr val="000000"/>
                </a:solidFill>
                <a:effectLst/>
              </a:rPr>
              <a:t> Focuses on </a:t>
            </a:r>
            <a:r>
              <a:rPr lang="en-US" b="1" i="0" u="none" strike="noStrike" dirty="0">
                <a:solidFill>
                  <a:srgbClr val="000000"/>
                </a:solidFill>
                <a:effectLst/>
              </a:rPr>
              <a:t>UML Interaction Diagrams</a:t>
            </a:r>
            <a:r>
              <a:rPr lang="en-US" b="0" i="0" u="none" strike="noStrike" dirty="0">
                <a:solidFill>
                  <a:srgbClr val="000000"/>
                </a:solidFill>
                <a:effectLst/>
              </a:rPr>
              <a:t> (e.g., sequence and communication diagrams).</a:t>
            </a:r>
          </a:p>
          <a:p>
            <a:pPr marL="742950" lvl="1" indent="-285750" algn="l">
              <a:buFont typeface="+mj-lt"/>
              <a:buAutoNum type="arabicPeriod"/>
            </a:pPr>
            <a:r>
              <a:rPr lang="en-US" b="1" i="0" u="none" strike="noStrike" dirty="0">
                <a:solidFill>
                  <a:srgbClr val="000000"/>
                </a:solidFill>
                <a:effectLst/>
              </a:rPr>
              <a:t>Chapter 28:</a:t>
            </a:r>
            <a:r>
              <a:rPr lang="en-US" b="0" i="0" u="none" strike="noStrike" dirty="0">
                <a:solidFill>
                  <a:srgbClr val="000000"/>
                </a:solidFill>
                <a:effectLst/>
              </a:rPr>
              <a:t> Covers </a:t>
            </a:r>
            <a:r>
              <a:rPr lang="en-US" b="1" i="0" u="none" strike="noStrike" dirty="0">
                <a:solidFill>
                  <a:srgbClr val="000000"/>
                </a:solidFill>
                <a:effectLst/>
              </a:rPr>
              <a:t>UML Activity Diagrams</a:t>
            </a:r>
            <a:r>
              <a:rPr lang="en-US" b="0" i="0" u="none" strike="noStrike" dirty="0">
                <a:solidFill>
                  <a:srgbClr val="000000"/>
                </a:solidFill>
                <a:effectLst/>
              </a:rPr>
              <a:t>, which are used to model workflows and concurrent activities.</a:t>
            </a:r>
          </a:p>
          <a:p>
            <a:pPr marL="742950" lvl="1" indent="-285750" algn="l">
              <a:buFont typeface="+mj-lt"/>
              <a:buAutoNum type="arabicPeriod"/>
            </a:pPr>
            <a:r>
              <a:rPr lang="en-US" b="1" i="0" u="none" strike="noStrike" dirty="0">
                <a:solidFill>
                  <a:srgbClr val="000000"/>
                </a:solidFill>
                <a:effectLst/>
              </a:rPr>
              <a:t>Chapter 30:</a:t>
            </a:r>
            <a:r>
              <a:rPr lang="en-US" b="0" i="0" u="none" strike="noStrike" dirty="0">
                <a:solidFill>
                  <a:srgbClr val="000000"/>
                </a:solidFill>
                <a:effectLst/>
              </a:rPr>
              <a:t> Discusses </a:t>
            </a:r>
            <a:r>
              <a:rPr lang="en-US" b="1" i="0" u="none" strike="noStrike" dirty="0">
                <a:solidFill>
                  <a:srgbClr val="000000"/>
                </a:solidFill>
                <a:effectLst/>
              </a:rPr>
              <a:t>UML State Diagrams</a:t>
            </a:r>
            <a:r>
              <a:rPr lang="en-US" b="0" i="0" u="none" strike="noStrike" dirty="0">
                <a:solidFill>
                  <a:srgbClr val="000000"/>
                </a:solidFill>
                <a:effectLst/>
              </a:rPr>
              <a:t>, emphasizing state transitions and behavior modeling.</a:t>
            </a:r>
          </a:p>
          <a:p>
            <a:endParaRPr lang="tr-TR" dirty="0">
              <a:latin typeface="Times" charset="0"/>
              <a:ea typeface="ＭＳ Ｐゴシック" charset="0"/>
              <a:cs typeface="ＭＳ Ｐゴシック"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tr-TR"/>
          </a:p>
        </p:txBody>
      </p:sp>
      <p:sp>
        <p:nvSpPr>
          <p:cNvPr id="4" name="Date Placeholder 3"/>
          <p:cNvSpPr>
            <a:spLocks noGrp="1"/>
          </p:cNvSpPr>
          <p:nvPr>
            <p:ph type="dt" sz="half" idx="10"/>
          </p:nvPr>
        </p:nvSpPr>
        <p:spPr/>
        <p:txBody>
          <a:bodyPr/>
          <a:lstStyle>
            <a:lvl1pPr>
              <a:defRPr/>
            </a:lvl1pPr>
          </a:lstStyle>
          <a:p>
            <a:fld id="{A986878F-9DA9-0141-99E6-657DD0C3079F}" type="datetime1">
              <a:rPr lang="tr-TR" smtClean="0"/>
              <a:t>19.11.2024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8: Modelling Interactions and Behaviour</a:t>
            </a:r>
          </a:p>
        </p:txBody>
      </p:sp>
      <p:sp>
        <p:nvSpPr>
          <p:cNvPr id="6" name="Slide Number Placeholder 5"/>
          <p:cNvSpPr>
            <a:spLocks noGrp="1"/>
          </p:cNvSpPr>
          <p:nvPr>
            <p:ph type="sldNum" sz="quarter" idx="12"/>
          </p:nvPr>
        </p:nvSpPr>
        <p:spPr/>
        <p:txBody>
          <a:bodyPr/>
          <a:lstStyle>
            <a:lvl1pPr>
              <a:defRPr/>
            </a:lvl1pPr>
          </a:lstStyle>
          <a:p>
            <a:fld id="{140CFB97-7E8F-B447-9564-63E4EB68A023}" type="slidenum">
              <a:rPr lang="en-US"/>
              <a:pPr/>
              <a:t>‹#›</a:t>
            </a:fld>
            <a:endParaRPr lang="en-US"/>
          </a:p>
        </p:txBody>
      </p:sp>
    </p:spTree>
    <p:extLst>
      <p:ext uri="{BB962C8B-B14F-4D97-AF65-F5344CB8AC3E}">
        <p14:creationId xmlns:p14="http://schemas.microsoft.com/office/powerpoint/2010/main" val="2532858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fld id="{B24991CB-756D-CA4F-84C5-7D49AA5037E1}" type="datetime1">
              <a:rPr lang="tr-TR" smtClean="0"/>
              <a:t>19.11.2024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8: Modelling Interactions and Behaviour</a:t>
            </a:r>
          </a:p>
        </p:txBody>
      </p:sp>
      <p:sp>
        <p:nvSpPr>
          <p:cNvPr id="6" name="Slide Number Placeholder 5"/>
          <p:cNvSpPr>
            <a:spLocks noGrp="1"/>
          </p:cNvSpPr>
          <p:nvPr>
            <p:ph type="sldNum" sz="quarter" idx="12"/>
          </p:nvPr>
        </p:nvSpPr>
        <p:spPr/>
        <p:txBody>
          <a:bodyPr/>
          <a:lstStyle>
            <a:lvl1pPr>
              <a:defRPr/>
            </a:lvl1pPr>
          </a:lstStyle>
          <a:p>
            <a:fld id="{14F6F305-04E4-5E4D-BE4E-D65C3C550673}" type="slidenum">
              <a:rPr lang="en-US"/>
              <a:pPr/>
              <a:t>‹#›</a:t>
            </a:fld>
            <a:endParaRPr lang="en-US"/>
          </a:p>
        </p:txBody>
      </p:sp>
    </p:spTree>
    <p:extLst>
      <p:ext uri="{BB962C8B-B14F-4D97-AF65-F5344CB8AC3E}">
        <p14:creationId xmlns:p14="http://schemas.microsoft.com/office/powerpoint/2010/main" val="2715613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F22E8C8C-46EA-D847-ACDA-CBBD9492EAA5}" type="datetime1">
              <a:rPr lang="tr-TR" smtClean="0"/>
              <a:t>19.11.2024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8: Modelling Interactions and Behaviour</a:t>
            </a:r>
          </a:p>
        </p:txBody>
      </p:sp>
      <p:sp>
        <p:nvSpPr>
          <p:cNvPr id="6" name="Slide Number Placeholder 5"/>
          <p:cNvSpPr>
            <a:spLocks noGrp="1"/>
          </p:cNvSpPr>
          <p:nvPr>
            <p:ph type="sldNum" sz="quarter" idx="12"/>
          </p:nvPr>
        </p:nvSpPr>
        <p:spPr/>
        <p:txBody>
          <a:bodyPr/>
          <a:lstStyle>
            <a:lvl1pPr>
              <a:defRPr/>
            </a:lvl1pPr>
          </a:lstStyle>
          <a:p>
            <a:fld id="{DC196654-40C1-4148-8405-1DA29AE7504F}" type="slidenum">
              <a:rPr lang="en-US"/>
              <a:pPr/>
              <a:t>‹#›</a:t>
            </a:fld>
            <a:endParaRPr lang="en-US"/>
          </a:p>
        </p:txBody>
      </p:sp>
    </p:spTree>
    <p:extLst>
      <p:ext uri="{BB962C8B-B14F-4D97-AF65-F5344CB8AC3E}">
        <p14:creationId xmlns:p14="http://schemas.microsoft.com/office/powerpoint/2010/main" val="626507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1066800" y="13716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914900" y="1371600"/>
            <a:ext cx="36957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lvl1pPr>
              <a:defRPr/>
            </a:lvl1pPr>
          </a:lstStyle>
          <a:p>
            <a:fld id="{E1F74841-C9D8-E144-BB62-9E77F18BE622}" type="datetime1">
              <a:rPr lang="tr-TR" smtClean="0"/>
              <a:t>19.11.2024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Chapter 8: Modelling Interactions and Behaviour</a:t>
            </a:r>
          </a:p>
        </p:txBody>
      </p:sp>
      <p:sp>
        <p:nvSpPr>
          <p:cNvPr id="7" name="Slide Number Placeholder 6"/>
          <p:cNvSpPr>
            <a:spLocks noGrp="1"/>
          </p:cNvSpPr>
          <p:nvPr>
            <p:ph type="sldNum" sz="quarter" idx="12"/>
          </p:nvPr>
        </p:nvSpPr>
        <p:spPr/>
        <p:txBody>
          <a:bodyPr/>
          <a:lstStyle>
            <a:lvl1pPr>
              <a:defRPr/>
            </a:lvl1pPr>
          </a:lstStyle>
          <a:p>
            <a:fld id="{0578827F-E356-B04D-A807-CAEF2C38836F}" type="slidenum">
              <a:rPr lang="en-US"/>
              <a:pPr/>
              <a:t>‹#›</a:t>
            </a:fld>
            <a:endParaRPr lang="en-US"/>
          </a:p>
        </p:txBody>
      </p:sp>
    </p:spTree>
    <p:extLst>
      <p:ext uri="{BB962C8B-B14F-4D97-AF65-F5344CB8AC3E}">
        <p14:creationId xmlns:p14="http://schemas.microsoft.com/office/powerpoint/2010/main" val="1859180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Date Placeholder 6"/>
          <p:cNvSpPr>
            <a:spLocks noGrp="1"/>
          </p:cNvSpPr>
          <p:nvPr>
            <p:ph type="dt" sz="half" idx="10"/>
          </p:nvPr>
        </p:nvSpPr>
        <p:spPr/>
        <p:txBody>
          <a:bodyPr/>
          <a:lstStyle>
            <a:lvl1pPr>
              <a:defRPr/>
            </a:lvl1pPr>
          </a:lstStyle>
          <a:p>
            <a:fld id="{24101434-0B81-C643-A37E-B08E1D4AE725}" type="datetime1">
              <a:rPr lang="tr-TR" smtClean="0"/>
              <a:t>19.11.2024</a:t>
            </a:fld>
            <a:endParaRPr lang="en-US"/>
          </a:p>
        </p:txBody>
      </p:sp>
      <p:sp>
        <p:nvSpPr>
          <p:cNvPr id="8" name="Footer Placeholder 7"/>
          <p:cNvSpPr>
            <a:spLocks noGrp="1"/>
          </p:cNvSpPr>
          <p:nvPr>
            <p:ph type="ftr" sz="quarter" idx="11"/>
          </p:nvPr>
        </p:nvSpPr>
        <p:spPr/>
        <p:txBody>
          <a:bodyPr/>
          <a:lstStyle>
            <a:lvl1pPr>
              <a:defRPr/>
            </a:lvl1pPr>
          </a:lstStyle>
          <a:p>
            <a:pPr>
              <a:defRPr/>
            </a:pPr>
            <a:r>
              <a:rPr lang="en-US"/>
              <a:t>Chapter 8: Modelling Interactions and Behaviour</a:t>
            </a:r>
          </a:p>
        </p:txBody>
      </p:sp>
      <p:sp>
        <p:nvSpPr>
          <p:cNvPr id="9" name="Slide Number Placeholder 8"/>
          <p:cNvSpPr>
            <a:spLocks noGrp="1"/>
          </p:cNvSpPr>
          <p:nvPr>
            <p:ph type="sldNum" sz="quarter" idx="12"/>
          </p:nvPr>
        </p:nvSpPr>
        <p:spPr/>
        <p:txBody>
          <a:bodyPr/>
          <a:lstStyle>
            <a:lvl1pPr>
              <a:defRPr/>
            </a:lvl1pPr>
          </a:lstStyle>
          <a:p>
            <a:fld id="{65329153-89CF-D64C-A60B-1FF9EDA97D07}" type="slidenum">
              <a:rPr lang="en-US"/>
              <a:pPr/>
              <a:t>‹#›</a:t>
            </a:fld>
            <a:endParaRPr lang="en-US"/>
          </a:p>
        </p:txBody>
      </p:sp>
    </p:spTree>
    <p:extLst>
      <p:ext uri="{BB962C8B-B14F-4D97-AF65-F5344CB8AC3E}">
        <p14:creationId xmlns:p14="http://schemas.microsoft.com/office/powerpoint/2010/main" val="998281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Date Placeholder 2"/>
          <p:cNvSpPr>
            <a:spLocks noGrp="1"/>
          </p:cNvSpPr>
          <p:nvPr>
            <p:ph type="dt" sz="half" idx="10"/>
          </p:nvPr>
        </p:nvSpPr>
        <p:spPr/>
        <p:txBody>
          <a:bodyPr/>
          <a:lstStyle>
            <a:lvl1pPr>
              <a:defRPr/>
            </a:lvl1pPr>
          </a:lstStyle>
          <a:p>
            <a:fld id="{E49FE29F-D5A9-B247-B444-526DB8E3C2EF}" type="datetime1">
              <a:rPr lang="tr-TR" smtClean="0"/>
              <a:t>19.11.2024</a:t>
            </a:fld>
            <a:endParaRPr lang="en-US"/>
          </a:p>
        </p:txBody>
      </p:sp>
      <p:sp>
        <p:nvSpPr>
          <p:cNvPr id="4" name="Footer Placeholder 3"/>
          <p:cNvSpPr>
            <a:spLocks noGrp="1"/>
          </p:cNvSpPr>
          <p:nvPr>
            <p:ph type="ftr" sz="quarter" idx="11"/>
          </p:nvPr>
        </p:nvSpPr>
        <p:spPr/>
        <p:txBody>
          <a:bodyPr/>
          <a:lstStyle>
            <a:lvl1pPr>
              <a:defRPr/>
            </a:lvl1pPr>
          </a:lstStyle>
          <a:p>
            <a:pPr>
              <a:defRPr/>
            </a:pPr>
            <a:r>
              <a:rPr lang="en-US"/>
              <a:t>Chapter 8: Modelling Interactions and Behaviour</a:t>
            </a:r>
          </a:p>
        </p:txBody>
      </p:sp>
      <p:sp>
        <p:nvSpPr>
          <p:cNvPr id="5" name="Slide Number Placeholder 4"/>
          <p:cNvSpPr>
            <a:spLocks noGrp="1"/>
          </p:cNvSpPr>
          <p:nvPr>
            <p:ph type="sldNum" sz="quarter" idx="12"/>
          </p:nvPr>
        </p:nvSpPr>
        <p:spPr/>
        <p:txBody>
          <a:bodyPr/>
          <a:lstStyle>
            <a:lvl1pPr>
              <a:defRPr/>
            </a:lvl1pPr>
          </a:lstStyle>
          <a:p>
            <a:fld id="{0D50EF59-C54D-494E-9E64-A925CFB0FF59}" type="slidenum">
              <a:rPr lang="en-US"/>
              <a:pPr/>
              <a:t>‹#›</a:t>
            </a:fld>
            <a:endParaRPr lang="en-US"/>
          </a:p>
        </p:txBody>
      </p:sp>
    </p:spTree>
    <p:extLst>
      <p:ext uri="{BB962C8B-B14F-4D97-AF65-F5344CB8AC3E}">
        <p14:creationId xmlns:p14="http://schemas.microsoft.com/office/powerpoint/2010/main" val="187782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D5009B00-D02B-F548-9BF9-A598426837DD}" type="datetime1">
              <a:rPr lang="tr-TR" smtClean="0"/>
              <a:t>19.11.2024</a:t>
            </a:fld>
            <a:endParaRPr lang="en-US"/>
          </a:p>
        </p:txBody>
      </p:sp>
      <p:sp>
        <p:nvSpPr>
          <p:cNvPr id="3" name="Footer Placeholder 2"/>
          <p:cNvSpPr>
            <a:spLocks noGrp="1"/>
          </p:cNvSpPr>
          <p:nvPr>
            <p:ph type="ftr" sz="quarter" idx="11"/>
          </p:nvPr>
        </p:nvSpPr>
        <p:spPr/>
        <p:txBody>
          <a:bodyPr/>
          <a:lstStyle>
            <a:lvl1pPr>
              <a:defRPr/>
            </a:lvl1pPr>
          </a:lstStyle>
          <a:p>
            <a:pPr>
              <a:defRPr/>
            </a:pPr>
            <a:r>
              <a:rPr lang="en-US"/>
              <a:t>Chapter 8: Modelling Interactions and Behaviour</a:t>
            </a:r>
          </a:p>
        </p:txBody>
      </p:sp>
      <p:sp>
        <p:nvSpPr>
          <p:cNvPr id="4" name="Slide Number Placeholder 3"/>
          <p:cNvSpPr>
            <a:spLocks noGrp="1"/>
          </p:cNvSpPr>
          <p:nvPr>
            <p:ph type="sldNum" sz="quarter" idx="12"/>
          </p:nvPr>
        </p:nvSpPr>
        <p:spPr/>
        <p:txBody>
          <a:bodyPr/>
          <a:lstStyle>
            <a:lvl1pPr>
              <a:defRPr/>
            </a:lvl1pPr>
          </a:lstStyle>
          <a:p>
            <a:fld id="{EF8CBA89-5878-B74B-B5D4-921A7835B39A}" type="slidenum">
              <a:rPr lang="en-US"/>
              <a:pPr/>
              <a:t>‹#›</a:t>
            </a:fld>
            <a:endParaRPr lang="en-US"/>
          </a:p>
        </p:txBody>
      </p:sp>
    </p:spTree>
    <p:extLst>
      <p:ext uri="{BB962C8B-B14F-4D97-AF65-F5344CB8AC3E}">
        <p14:creationId xmlns:p14="http://schemas.microsoft.com/office/powerpoint/2010/main" val="37330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5E9C1909-FB1A-C048-B3F6-6EC6D828D72E}" type="datetime1">
              <a:rPr lang="tr-TR" smtClean="0"/>
              <a:t>19.11.2024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Chapter 8: Modelling Interactions and Behaviour</a:t>
            </a:r>
          </a:p>
        </p:txBody>
      </p:sp>
      <p:sp>
        <p:nvSpPr>
          <p:cNvPr id="7" name="Slide Number Placeholder 6"/>
          <p:cNvSpPr>
            <a:spLocks noGrp="1"/>
          </p:cNvSpPr>
          <p:nvPr>
            <p:ph type="sldNum" sz="quarter" idx="12"/>
          </p:nvPr>
        </p:nvSpPr>
        <p:spPr/>
        <p:txBody>
          <a:bodyPr/>
          <a:lstStyle>
            <a:lvl1pPr>
              <a:defRPr/>
            </a:lvl1pPr>
          </a:lstStyle>
          <a:p>
            <a:fld id="{4AAE2E19-438A-4347-839D-DD874DC630F9}" type="slidenum">
              <a:rPr lang="en-US"/>
              <a:pPr/>
              <a:t>‹#›</a:t>
            </a:fld>
            <a:endParaRPr lang="en-US"/>
          </a:p>
        </p:txBody>
      </p:sp>
    </p:spTree>
    <p:extLst>
      <p:ext uri="{BB962C8B-B14F-4D97-AF65-F5344CB8AC3E}">
        <p14:creationId xmlns:p14="http://schemas.microsoft.com/office/powerpoint/2010/main" val="3021743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D2329232-0A92-1A40-894F-3D7538618B95}" type="datetime1">
              <a:rPr lang="tr-TR" smtClean="0"/>
              <a:t>19.11.2024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Chapter 8: Modelling Interactions and Behaviour</a:t>
            </a:r>
          </a:p>
        </p:txBody>
      </p:sp>
      <p:sp>
        <p:nvSpPr>
          <p:cNvPr id="7" name="Slide Number Placeholder 6"/>
          <p:cNvSpPr>
            <a:spLocks noGrp="1"/>
          </p:cNvSpPr>
          <p:nvPr>
            <p:ph type="sldNum" sz="quarter" idx="12"/>
          </p:nvPr>
        </p:nvSpPr>
        <p:spPr/>
        <p:txBody>
          <a:bodyPr/>
          <a:lstStyle>
            <a:lvl1pPr>
              <a:defRPr/>
            </a:lvl1pPr>
          </a:lstStyle>
          <a:p>
            <a:fld id="{E2212970-7455-3046-98C8-AFE5929F2E91}" type="slidenum">
              <a:rPr lang="en-US"/>
              <a:pPr/>
              <a:t>‹#›</a:t>
            </a:fld>
            <a:endParaRPr lang="en-US"/>
          </a:p>
        </p:txBody>
      </p:sp>
    </p:spTree>
    <p:extLst>
      <p:ext uri="{BB962C8B-B14F-4D97-AF65-F5344CB8AC3E}">
        <p14:creationId xmlns:p14="http://schemas.microsoft.com/office/powerpoint/2010/main" val="2319338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fld id="{D8FE5384-5280-E348-AF82-2DC8E3C7ADD2}" type="datetime1">
              <a:rPr lang="tr-TR" smtClean="0"/>
              <a:t>19.11.2024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8: Modelling Interactions and Behaviour</a:t>
            </a:r>
          </a:p>
        </p:txBody>
      </p:sp>
      <p:sp>
        <p:nvSpPr>
          <p:cNvPr id="6" name="Slide Number Placeholder 5"/>
          <p:cNvSpPr>
            <a:spLocks noGrp="1"/>
          </p:cNvSpPr>
          <p:nvPr>
            <p:ph type="sldNum" sz="quarter" idx="12"/>
          </p:nvPr>
        </p:nvSpPr>
        <p:spPr/>
        <p:txBody>
          <a:bodyPr/>
          <a:lstStyle>
            <a:lvl1pPr>
              <a:defRPr/>
            </a:lvl1pPr>
          </a:lstStyle>
          <a:p>
            <a:fld id="{EB83EC44-9497-D64C-BA72-116DBD9AB5DC}" type="slidenum">
              <a:rPr lang="en-US"/>
              <a:pPr/>
              <a:t>‹#›</a:t>
            </a:fld>
            <a:endParaRPr lang="en-US"/>
          </a:p>
        </p:txBody>
      </p:sp>
    </p:spTree>
    <p:extLst>
      <p:ext uri="{BB962C8B-B14F-4D97-AF65-F5344CB8AC3E}">
        <p14:creationId xmlns:p14="http://schemas.microsoft.com/office/powerpoint/2010/main" val="1630370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28600"/>
            <a:ext cx="2057400" cy="5943600"/>
          </a:xfrm>
        </p:spPr>
        <p:txBody>
          <a:bodyPr vert="eaVert"/>
          <a:lstStyle/>
          <a:p>
            <a:r>
              <a:rPr lang="en-US"/>
              <a:t>Click to edit Master title style</a:t>
            </a:r>
            <a:endParaRPr lang="tr-TR"/>
          </a:p>
        </p:txBody>
      </p:sp>
      <p:sp>
        <p:nvSpPr>
          <p:cNvPr id="3" name="Vertical Text Placeholder 2"/>
          <p:cNvSpPr>
            <a:spLocks noGrp="1"/>
          </p:cNvSpPr>
          <p:nvPr>
            <p:ph type="body" orient="vert" idx="1"/>
          </p:nvPr>
        </p:nvSpPr>
        <p:spPr>
          <a:xfrm>
            <a:off x="381000" y="228600"/>
            <a:ext cx="6019800" cy="5943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Date Placeholder 3"/>
          <p:cNvSpPr>
            <a:spLocks noGrp="1"/>
          </p:cNvSpPr>
          <p:nvPr>
            <p:ph type="dt" sz="half" idx="10"/>
          </p:nvPr>
        </p:nvSpPr>
        <p:spPr/>
        <p:txBody>
          <a:bodyPr/>
          <a:lstStyle>
            <a:lvl1pPr>
              <a:defRPr/>
            </a:lvl1pPr>
          </a:lstStyle>
          <a:p>
            <a:fld id="{68B271AC-7C36-5847-A3FB-D6CAC2B69320}" type="datetime1">
              <a:rPr lang="tr-TR" smtClean="0"/>
              <a:t>19.11.2024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8: Modelling Interactions and Behaviour</a:t>
            </a:r>
          </a:p>
        </p:txBody>
      </p:sp>
      <p:sp>
        <p:nvSpPr>
          <p:cNvPr id="6" name="Slide Number Placeholder 5"/>
          <p:cNvSpPr>
            <a:spLocks noGrp="1"/>
          </p:cNvSpPr>
          <p:nvPr>
            <p:ph type="sldNum" sz="quarter" idx="12"/>
          </p:nvPr>
        </p:nvSpPr>
        <p:spPr/>
        <p:txBody>
          <a:bodyPr/>
          <a:lstStyle>
            <a:lvl1pPr>
              <a:defRPr/>
            </a:lvl1pPr>
          </a:lstStyle>
          <a:p>
            <a:fld id="{2D9AFE23-8E5D-3E4E-ACE6-7B67E98E31C3}" type="slidenum">
              <a:rPr lang="en-US"/>
              <a:pPr/>
              <a:t>‹#›</a:t>
            </a:fld>
            <a:endParaRPr lang="en-US"/>
          </a:p>
        </p:txBody>
      </p:sp>
    </p:spTree>
    <p:extLst>
      <p:ext uri="{BB962C8B-B14F-4D97-AF65-F5344CB8AC3E}">
        <p14:creationId xmlns:p14="http://schemas.microsoft.com/office/powerpoint/2010/main" val="316603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914400"/>
          </a:xfrm>
        </p:spPr>
        <p:txBody>
          <a:bodyPr/>
          <a:lstStyle/>
          <a:p>
            <a:r>
              <a:rPr lang="en-US"/>
              <a:t>Click to edit Master title style</a:t>
            </a:r>
            <a:endParaRPr lang="tr-TR"/>
          </a:p>
        </p:txBody>
      </p:sp>
      <p:sp>
        <p:nvSpPr>
          <p:cNvPr id="3" name="Text Placeholder 2"/>
          <p:cNvSpPr>
            <a:spLocks noGrp="1"/>
          </p:cNvSpPr>
          <p:nvPr>
            <p:ph type="body" sz="half" idx="1"/>
          </p:nvPr>
        </p:nvSpPr>
        <p:spPr>
          <a:xfrm>
            <a:off x="1066800" y="1371600"/>
            <a:ext cx="36957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4914900" y="1371600"/>
            <a:ext cx="3695700" cy="232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4914900" y="3848100"/>
            <a:ext cx="3695700" cy="232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Date Placeholder 5"/>
          <p:cNvSpPr>
            <a:spLocks noGrp="1"/>
          </p:cNvSpPr>
          <p:nvPr>
            <p:ph type="dt" sz="half" idx="10"/>
          </p:nvPr>
        </p:nvSpPr>
        <p:spPr/>
        <p:txBody>
          <a:bodyPr/>
          <a:lstStyle>
            <a:lvl1pPr>
              <a:defRPr/>
            </a:lvl1pPr>
          </a:lstStyle>
          <a:p>
            <a:fld id="{94517248-D0DB-8D4E-98FB-6EEEF4434282}" type="datetime1">
              <a:rPr lang="tr-TR" smtClean="0"/>
              <a:t>19.11.2024</a:t>
            </a:fld>
            <a:endParaRPr lang="en-US"/>
          </a:p>
        </p:txBody>
      </p:sp>
      <p:sp>
        <p:nvSpPr>
          <p:cNvPr id="7" name="Footer Placeholder 6"/>
          <p:cNvSpPr>
            <a:spLocks noGrp="1"/>
          </p:cNvSpPr>
          <p:nvPr>
            <p:ph type="ftr" sz="quarter" idx="11"/>
          </p:nvPr>
        </p:nvSpPr>
        <p:spPr/>
        <p:txBody>
          <a:bodyPr/>
          <a:lstStyle>
            <a:lvl1pPr>
              <a:defRPr/>
            </a:lvl1pPr>
          </a:lstStyle>
          <a:p>
            <a:pPr>
              <a:defRPr/>
            </a:pPr>
            <a:r>
              <a:rPr lang="en-US"/>
              <a:t>Chapter 8: Modelling Interactions and Behaviour</a:t>
            </a:r>
          </a:p>
        </p:txBody>
      </p:sp>
      <p:sp>
        <p:nvSpPr>
          <p:cNvPr id="8" name="Slide Number Placeholder 7"/>
          <p:cNvSpPr>
            <a:spLocks noGrp="1"/>
          </p:cNvSpPr>
          <p:nvPr>
            <p:ph type="sldNum" sz="quarter" idx="12"/>
          </p:nvPr>
        </p:nvSpPr>
        <p:spPr/>
        <p:txBody>
          <a:bodyPr/>
          <a:lstStyle>
            <a:lvl1pPr>
              <a:defRPr/>
            </a:lvl1pPr>
          </a:lstStyle>
          <a:p>
            <a:fld id="{011BE1DF-1451-DC41-9B9D-6A1FB6507620}" type="slidenum">
              <a:rPr lang="en-US"/>
              <a:pPr/>
              <a:t>‹#›</a:t>
            </a:fld>
            <a:endParaRPr lang="en-US"/>
          </a:p>
        </p:txBody>
      </p:sp>
    </p:spTree>
    <p:extLst>
      <p:ext uri="{BB962C8B-B14F-4D97-AF65-F5344CB8AC3E}">
        <p14:creationId xmlns:p14="http://schemas.microsoft.com/office/powerpoint/2010/main" val="1523024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914400"/>
          </a:xfrm>
        </p:spPr>
        <p:txBody>
          <a:bodyPr/>
          <a:lstStyle/>
          <a:p>
            <a:r>
              <a:rPr lang="en-US"/>
              <a:t>Click to edit Master title style</a:t>
            </a:r>
            <a:endParaRPr lang="tr-TR"/>
          </a:p>
        </p:txBody>
      </p:sp>
      <p:sp>
        <p:nvSpPr>
          <p:cNvPr id="3" name="Text Placeholder 2"/>
          <p:cNvSpPr>
            <a:spLocks noGrp="1"/>
          </p:cNvSpPr>
          <p:nvPr>
            <p:ph type="body" sz="half" idx="1"/>
          </p:nvPr>
        </p:nvSpPr>
        <p:spPr>
          <a:xfrm>
            <a:off x="1066800" y="1371600"/>
            <a:ext cx="36957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4914900" y="1371600"/>
            <a:ext cx="3695700" cy="4800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Date Placeholder 4"/>
          <p:cNvSpPr>
            <a:spLocks noGrp="1"/>
          </p:cNvSpPr>
          <p:nvPr>
            <p:ph type="dt" sz="half" idx="10"/>
          </p:nvPr>
        </p:nvSpPr>
        <p:spPr/>
        <p:txBody>
          <a:bodyPr/>
          <a:lstStyle>
            <a:lvl1pPr>
              <a:defRPr/>
            </a:lvl1pPr>
          </a:lstStyle>
          <a:p>
            <a:fld id="{7387322B-E0C5-7D40-BD53-8862843B0A92}" type="datetime1">
              <a:rPr lang="tr-TR" smtClean="0"/>
              <a:t>19.11.2024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Chapter 8: Modelling Interactions and Behaviour</a:t>
            </a:r>
          </a:p>
        </p:txBody>
      </p:sp>
      <p:sp>
        <p:nvSpPr>
          <p:cNvPr id="7" name="Slide Number Placeholder 6"/>
          <p:cNvSpPr>
            <a:spLocks noGrp="1"/>
          </p:cNvSpPr>
          <p:nvPr>
            <p:ph type="sldNum" sz="quarter" idx="12"/>
          </p:nvPr>
        </p:nvSpPr>
        <p:spPr/>
        <p:txBody>
          <a:bodyPr/>
          <a:lstStyle>
            <a:lvl1pPr>
              <a:defRPr/>
            </a:lvl1pPr>
          </a:lstStyle>
          <a:p>
            <a:fld id="{AC3CA339-292C-C740-99AC-8402B0A7BAED}" type="slidenum">
              <a:rPr lang="en-US"/>
              <a:pPr/>
              <a:t>‹#›</a:t>
            </a:fld>
            <a:endParaRPr lang="en-US"/>
          </a:p>
        </p:txBody>
      </p:sp>
    </p:spTree>
    <p:extLst>
      <p:ext uri="{BB962C8B-B14F-4D97-AF65-F5344CB8AC3E}">
        <p14:creationId xmlns:p14="http://schemas.microsoft.com/office/powerpoint/2010/main" val="812666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81000" y="228600"/>
            <a:ext cx="8229600" cy="594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3" name="Date Placeholder 2"/>
          <p:cNvSpPr>
            <a:spLocks noGrp="1"/>
          </p:cNvSpPr>
          <p:nvPr>
            <p:ph type="dt" sz="half" idx="10"/>
          </p:nvPr>
        </p:nvSpPr>
        <p:spPr/>
        <p:txBody>
          <a:bodyPr/>
          <a:lstStyle>
            <a:lvl1pPr>
              <a:defRPr/>
            </a:lvl1pPr>
          </a:lstStyle>
          <a:p>
            <a:fld id="{BD569F93-F87F-6749-AA35-DE924EED9126}" type="datetime1">
              <a:rPr lang="tr-TR" smtClean="0"/>
              <a:t>19.11.2024</a:t>
            </a:fld>
            <a:endParaRPr lang="en-US"/>
          </a:p>
        </p:txBody>
      </p:sp>
      <p:sp>
        <p:nvSpPr>
          <p:cNvPr id="4" name="Footer Placeholder 3"/>
          <p:cNvSpPr>
            <a:spLocks noGrp="1"/>
          </p:cNvSpPr>
          <p:nvPr>
            <p:ph type="ftr" sz="quarter" idx="11"/>
          </p:nvPr>
        </p:nvSpPr>
        <p:spPr/>
        <p:txBody>
          <a:bodyPr/>
          <a:lstStyle>
            <a:lvl1pPr>
              <a:defRPr/>
            </a:lvl1pPr>
          </a:lstStyle>
          <a:p>
            <a:pPr>
              <a:defRPr/>
            </a:pPr>
            <a:r>
              <a:rPr lang="en-US"/>
              <a:t>Chapter 8: Modelling Interactions and Behaviour</a:t>
            </a:r>
          </a:p>
        </p:txBody>
      </p:sp>
      <p:sp>
        <p:nvSpPr>
          <p:cNvPr id="5" name="Slide Number Placeholder 4"/>
          <p:cNvSpPr>
            <a:spLocks noGrp="1"/>
          </p:cNvSpPr>
          <p:nvPr>
            <p:ph type="sldNum" sz="quarter" idx="12"/>
          </p:nvPr>
        </p:nvSpPr>
        <p:spPr/>
        <p:txBody>
          <a:bodyPr/>
          <a:lstStyle>
            <a:lvl1pPr>
              <a:defRPr/>
            </a:lvl1pPr>
          </a:lstStyle>
          <a:p>
            <a:fld id="{CFA2E5DF-4F62-2D45-920E-8E93D8F64D58}" type="slidenum">
              <a:rPr lang="en-US"/>
              <a:pPr/>
              <a:t>‹#›</a:t>
            </a:fld>
            <a:endParaRPr lang="en-US"/>
          </a:p>
        </p:txBody>
      </p:sp>
    </p:spTree>
    <p:extLst>
      <p:ext uri="{BB962C8B-B14F-4D97-AF65-F5344CB8AC3E}">
        <p14:creationId xmlns:p14="http://schemas.microsoft.com/office/powerpoint/2010/main" val="3414702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3"/>
          <p:cNvGrpSpPr>
            <a:grpSpLocks/>
          </p:cNvGrpSpPr>
          <p:nvPr/>
        </p:nvGrpSpPr>
        <p:grpSpPr bwMode="auto">
          <a:xfrm>
            <a:off x="215900" y="1295400"/>
            <a:ext cx="8275638" cy="5429250"/>
            <a:chOff x="136" y="768"/>
            <a:chExt cx="5213" cy="3420"/>
          </a:xfrm>
        </p:grpSpPr>
        <p:pic>
          <p:nvPicPr>
            <p:cNvPr id="1032" name="Picture 14"/>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588" y="3848"/>
              <a:ext cx="4644" cy="34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3" name="Picture 15"/>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36" y="768"/>
              <a:ext cx="516" cy="3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4" name="Picture 16"/>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rot="2678447">
              <a:off x="330" y="3631"/>
              <a:ext cx="483" cy="4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35" name="Picture 17"/>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5136" y="3840"/>
              <a:ext cx="213" cy="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
        <p:nvSpPr>
          <p:cNvPr id="1027" name="Rectangle 3"/>
          <p:cNvSpPr>
            <a:spLocks noGrp="1" noChangeArrowheads="1"/>
          </p:cNvSpPr>
          <p:nvPr>
            <p:ph type="title"/>
          </p:nvPr>
        </p:nvSpPr>
        <p:spPr bwMode="auto">
          <a:xfrm>
            <a:off x="381000" y="228600"/>
            <a:ext cx="8229600" cy="9144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8" name="Rectangle 4"/>
          <p:cNvSpPr>
            <a:spLocks noGrp="1" noChangeArrowheads="1"/>
          </p:cNvSpPr>
          <p:nvPr>
            <p:ph type="body" idx="1"/>
          </p:nvPr>
        </p:nvSpPr>
        <p:spPr bwMode="auto">
          <a:xfrm>
            <a:off x="1066800" y="1371600"/>
            <a:ext cx="7543800" cy="48006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43397" name="Rectangle 5"/>
          <p:cNvSpPr>
            <a:spLocks noGrp="1" noChangeArrowheads="1"/>
          </p:cNvSpPr>
          <p:nvPr>
            <p:ph type="dt" sz="half" idx="2"/>
          </p:nvPr>
        </p:nvSpPr>
        <p:spPr bwMode="auto">
          <a:xfrm>
            <a:off x="1676400" y="6477000"/>
            <a:ext cx="1981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vl1pPr>
          </a:lstStyle>
          <a:p>
            <a:fld id="{288DFA70-2045-704C-A3B0-12EBDF13DA68}" type="datetime1">
              <a:rPr lang="tr-TR" smtClean="0"/>
              <a:t>19.11.2024</a:t>
            </a:fld>
            <a:endParaRPr lang="en-US"/>
          </a:p>
        </p:txBody>
      </p:sp>
      <p:sp>
        <p:nvSpPr>
          <p:cNvPr id="443398" name="Rectangle 6"/>
          <p:cNvSpPr>
            <a:spLocks noGrp="1" noChangeArrowheads="1"/>
          </p:cNvSpPr>
          <p:nvPr>
            <p:ph type="ftr" sz="quarter" idx="3"/>
          </p:nvPr>
        </p:nvSpPr>
        <p:spPr bwMode="auto">
          <a:xfrm>
            <a:off x="3810000" y="6400800"/>
            <a:ext cx="411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pitchFamily="1" charset="0"/>
                <a:ea typeface="+mn-ea"/>
                <a:cs typeface="+mn-cs"/>
              </a:defRPr>
            </a:lvl1pPr>
          </a:lstStyle>
          <a:p>
            <a:pPr>
              <a:defRPr/>
            </a:pPr>
            <a:r>
              <a:rPr lang="en-US"/>
              <a:t>Chapter 8: Modelling Interactions and Behaviour</a:t>
            </a:r>
          </a:p>
        </p:txBody>
      </p:sp>
      <p:sp>
        <p:nvSpPr>
          <p:cNvPr id="443399" name="Rectangle 7"/>
          <p:cNvSpPr>
            <a:spLocks noGrp="1" noChangeArrowheads="1"/>
          </p:cNvSpPr>
          <p:nvPr>
            <p:ph type="sldNum" sz="quarter" idx="4"/>
          </p:nvPr>
        </p:nvSpPr>
        <p:spPr bwMode="auto">
          <a:xfrm>
            <a:off x="8077200" y="6400800"/>
            <a:ext cx="457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08071F2F-08FC-254A-8C37-75EEEF5CDBD5}"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4043" r:id="rId1"/>
    <p:sldLayoutId id="2147484044" r:id="rId2"/>
    <p:sldLayoutId id="2147484045" r:id="rId3"/>
    <p:sldLayoutId id="2147484046" r:id="rId4"/>
    <p:sldLayoutId id="2147484047" r:id="rId5"/>
    <p:sldLayoutId id="2147484048" r:id="rId6"/>
    <p:sldLayoutId id="2147484049" r:id="rId7"/>
    <p:sldLayoutId id="2147484050" r:id="rId8"/>
    <p:sldLayoutId id="2147484051" r:id="rId9"/>
    <p:sldLayoutId id="2147484052" r:id="rId10"/>
    <p:sldLayoutId id="2147484053" r:id="rId11"/>
    <p:sldLayoutId id="2147484054" r:id="rId12"/>
    <p:sldLayoutId id="2147484055" r:id="rId13"/>
    <p:sldLayoutId id="2147484056" r:id="rId14"/>
  </p:sldLayoutIdLst>
  <p:hf hdr="0" ftr="0" dt="0"/>
  <p:txStyles>
    <p:titleStyle>
      <a:lvl1pPr algn="l" rtl="0" eaLnBrk="0" fontAlgn="base" hangingPunct="0">
        <a:spcBef>
          <a:spcPct val="0"/>
        </a:spcBef>
        <a:spcAft>
          <a:spcPct val="0"/>
        </a:spcAft>
        <a:defRPr sz="3200">
          <a:solidFill>
            <a:srgbClr val="00B0F0"/>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200">
          <a:solidFill>
            <a:schemeClr val="tx2"/>
          </a:solidFill>
          <a:latin typeface="Arial" charset="0"/>
          <a:ea typeface="ＭＳ Ｐゴシック" pitchFamily="-1" charset="-128"/>
          <a:cs typeface="ＭＳ Ｐゴシック" pitchFamily="-1" charset="-128"/>
        </a:defRPr>
      </a:lvl2pPr>
      <a:lvl3pPr algn="l" rtl="0" eaLnBrk="0" fontAlgn="base" hangingPunct="0">
        <a:spcBef>
          <a:spcPct val="0"/>
        </a:spcBef>
        <a:spcAft>
          <a:spcPct val="0"/>
        </a:spcAft>
        <a:defRPr sz="3200">
          <a:solidFill>
            <a:schemeClr val="tx2"/>
          </a:solidFill>
          <a:latin typeface="Arial" charset="0"/>
          <a:ea typeface="ＭＳ Ｐゴシック" pitchFamily="-1" charset="-128"/>
          <a:cs typeface="ＭＳ Ｐゴシック" pitchFamily="-1" charset="-128"/>
        </a:defRPr>
      </a:lvl3pPr>
      <a:lvl4pPr algn="l" rtl="0" eaLnBrk="0" fontAlgn="base" hangingPunct="0">
        <a:spcBef>
          <a:spcPct val="0"/>
        </a:spcBef>
        <a:spcAft>
          <a:spcPct val="0"/>
        </a:spcAft>
        <a:defRPr sz="3200">
          <a:solidFill>
            <a:schemeClr val="tx2"/>
          </a:solidFill>
          <a:latin typeface="Arial" charset="0"/>
          <a:ea typeface="ＭＳ Ｐゴシック" pitchFamily="-1" charset="-128"/>
          <a:cs typeface="ＭＳ Ｐゴシック" pitchFamily="-1" charset="-128"/>
        </a:defRPr>
      </a:lvl4pPr>
      <a:lvl5pPr algn="l" rtl="0" eaLnBrk="0" fontAlgn="base" hangingPunct="0">
        <a:spcBef>
          <a:spcPct val="0"/>
        </a:spcBef>
        <a:spcAft>
          <a:spcPct val="0"/>
        </a:spcAft>
        <a:defRPr sz="3200">
          <a:solidFill>
            <a:schemeClr val="tx2"/>
          </a:solidFill>
          <a:latin typeface="Arial" charset="0"/>
          <a:ea typeface="ＭＳ Ｐゴシック" pitchFamily="-1" charset="-128"/>
          <a:cs typeface="ＭＳ Ｐゴシック" pitchFamily="-1" charset="-128"/>
        </a:defRPr>
      </a:lvl5pPr>
      <a:lvl6pPr marL="457200" algn="l" rtl="0" eaLnBrk="0" fontAlgn="base" hangingPunct="0">
        <a:spcBef>
          <a:spcPct val="0"/>
        </a:spcBef>
        <a:spcAft>
          <a:spcPct val="0"/>
        </a:spcAft>
        <a:defRPr sz="3200">
          <a:solidFill>
            <a:schemeClr val="tx2"/>
          </a:solidFill>
          <a:latin typeface="Arial" charset="0"/>
        </a:defRPr>
      </a:lvl6pPr>
      <a:lvl7pPr marL="914400" algn="l" rtl="0" eaLnBrk="0" fontAlgn="base" hangingPunct="0">
        <a:spcBef>
          <a:spcPct val="0"/>
        </a:spcBef>
        <a:spcAft>
          <a:spcPct val="0"/>
        </a:spcAft>
        <a:defRPr sz="3200">
          <a:solidFill>
            <a:schemeClr val="tx2"/>
          </a:solidFill>
          <a:latin typeface="Arial" charset="0"/>
        </a:defRPr>
      </a:lvl7pPr>
      <a:lvl8pPr marL="1371600" algn="l" rtl="0" eaLnBrk="0" fontAlgn="base" hangingPunct="0">
        <a:spcBef>
          <a:spcPct val="0"/>
        </a:spcBef>
        <a:spcAft>
          <a:spcPct val="0"/>
        </a:spcAft>
        <a:defRPr sz="3200">
          <a:solidFill>
            <a:schemeClr val="tx2"/>
          </a:solidFill>
          <a:latin typeface="Arial" charset="0"/>
        </a:defRPr>
      </a:lvl8pPr>
      <a:lvl9pPr marL="1828800" algn="l" rtl="0" eaLnBrk="0" fontAlgn="base" hangingPunct="0">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defRPr sz="2400" b="1">
          <a:solidFill>
            <a:schemeClr val="tx1"/>
          </a:solidFill>
          <a:latin typeface="+mn-lt"/>
          <a:ea typeface="ＭＳ Ｐゴシック" pitchFamily="-1" charset="-128"/>
          <a:cs typeface="ＭＳ Ｐゴシック" pitchFamily="-1" charset="-128"/>
        </a:defRPr>
      </a:lvl1pPr>
      <a:lvl2pPr marL="385763" indent="-195263" algn="l" rtl="0" eaLnBrk="0" fontAlgn="base" hangingPunct="0">
        <a:spcBef>
          <a:spcPct val="20000"/>
        </a:spcBef>
        <a:spcAft>
          <a:spcPct val="0"/>
        </a:spcAft>
        <a:buChar char="•"/>
        <a:defRPr sz="2400">
          <a:solidFill>
            <a:schemeClr val="tx1"/>
          </a:solidFill>
          <a:latin typeface="+mn-lt"/>
          <a:ea typeface="ＭＳ Ｐゴシック" charset="-128"/>
        </a:defRPr>
      </a:lvl2pPr>
      <a:lvl3pPr marL="804863"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223963"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1643063"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100263" indent="-228600" algn="l" rtl="0" eaLnBrk="0" fontAlgn="base" hangingPunct="0">
        <a:spcBef>
          <a:spcPct val="20000"/>
        </a:spcBef>
        <a:spcAft>
          <a:spcPct val="0"/>
        </a:spcAft>
        <a:buChar char="»"/>
        <a:defRPr sz="2000">
          <a:solidFill>
            <a:schemeClr val="tx1"/>
          </a:solidFill>
          <a:latin typeface="+mn-lt"/>
        </a:defRPr>
      </a:lvl6pPr>
      <a:lvl7pPr marL="2557463" indent="-228600" algn="l" rtl="0" eaLnBrk="0" fontAlgn="base" hangingPunct="0">
        <a:spcBef>
          <a:spcPct val="20000"/>
        </a:spcBef>
        <a:spcAft>
          <a:spcPct val="0"/>
        </a:spcAft>
        <a:buChar char="»"/>
        <a:defRPr sz="2000">
          <a:solidFill>
            <a:schemeClr val="tx1"/>
          </a:solidFill>
          <a:latin typeface="+mn-lt"/>
        </a:defRPr>
      </a:lvl7pPr>
      <a:lvl8pPr marL="3014663" indent="-228600" algn="l" rtl="0" eaLnBrk="0" fontAlgn="base" hangingPunct="0">
        <a:spcBef>
          <a:spcPct val="20000"/>
        </a:spcBef>
        <a:spcAft>
          <a:spcPct val="0"/>
        </a:spcAft>
        <a:buChar char="»"/>
        <a:defRPr sz="2000">
          <a:solidFill>
            <a:schemeClr val="tx1"/>
          </a:solidFill>
          <a:latin typeface="+mn-lt"/>
        </a:defRPr>
      </a:lvl8pPr>
      <a:lvl9pPr marL="3471863" indent="-228600" algn="l" rtl="0" eaLnBrk="0" fontAlgn="base" hangingPunct="0">
        <a:spcBef>
          <a:spcPct val="20000"/>
        </a:spcBef>
        <a:spcAft>
          <a:spcPct val="0"/>
        </a:spcAft>
        <a:buChar char="»"/>
        <a:defRPr sz="2000">
          <a:solidFill>
            <a:schemeClr val="tx1"/>
          </a:solidFill>
          <a:latin typeface="+mn-lt"/>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4.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wmf"/></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0.wmf"/></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1.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2.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3.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7.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9.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0.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4.xml"/><Relationship Id="rId1" Type="http://schemas.openxmlformats.org/officeDocument/2006/relationships/slideLayout" Target="../slideLayouts/slideLayout14.xml"/><Relationship Id="rId4" Type="http://schemas.openxmlformats.org/officeDocument/2006/relationships/image" Target="../media/image43.png"/></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5.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0.xml"/><Relationship Id="rId1" Type="http://schemas.openxmlformats.org/officeDocument/2006/relationships/slideLayout" Target="../slideLayouts/slideLayout13.xml"/><Relationship Id="rId5" Type="http://schemas.openxmlformats.org/officeDocument/2006/relationships/image" Target="../media/image45.png"/><Relationship Id="rId4" Type="http://schemas.openxmlformats.org/officeDocument/2006/relationships/image" Target="../media/image54.png"/></Relationships>
</file>

<file path=ppt/slides/_rels/slide7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chemeClr val="tx1"/>
                </a:solidFill>
              </a:rPr>
              <a:t>Modeling Interactions and Behavior</a:t>
            </a:r>
          </a:p>
        </p:txBody>
      </p:sp>
    </p:spTree>
    <p:extLst>
      <p:ext uri="{BB962C8B-B14F-4D97-AF65-F5344CB8AC3E}">
        <p14:creationId xmlns:p14="http://schemas.microsoft.com/office/powerpoint/2010/main" val="1868391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Class Diagrams </a:t>
            </a:r>
            <a:endParaRPr lang="tr-TR"/>
          </a:p>
        </p:txBody>
      </p:sp>
      <p:sp>
        <p:nvSpPr>
          <p:cNvPr id="20483" name="Content Placeholder 2"/>
          <p:cNvSpPr>
            <a:spLocks noGrp="1"/>
          </p:cNvSpPr>
          <p:nvPr>
            <p:ph idx="1"/>
          </p:nvPr>
        </p:nvSpPr>
        <p:spPr/>
        <p:txBody>
          <a:bodyPr/>
          <a:lstStyle/>
          <a:p>
            <a:r>
              <a:rPr lang="en-US"/>
              <a:t>Build a static model of objects in a system</a:t>
            </a:r>
          </a:p>
          <a:p>
            <a:endParaRPr lang="en-US"/>
          </a:p>
          <a:p>
            <a:endParaRPr lang="en-US"/>
          </a:p>
        </p:txBody>
      </p:sp>
      <p:grpSp>
        <p:nvGrpSpPr>
          <p:cNvPr id="20486" name="Group 66"/>
          <p:cNvGrpSpPr>
            <a:grpSpLocks/>
          </p:cNvGrpSpPr>
          <p:nvPr/>
        </p:nvGrpSpPr>
        <p:grpSpPr bwMode="auto">
          <a:xfrm>
            <a:off x="642938" y="2428875"/>
            <a:ext cx="8070850" cy="3609975"/>
            <a:chOff x="1000125" y="1797050"/>
            <a:chExt cx="8070850" cy="3609975"/>
          </a:xfrm>
        </p:grpSpPr>
        <p:sp>
          <p:nvSpPr>
            <p:cNvPr id="20487" name="Rectangle 9"/>
            <p:cNvSpPr>
              <a:spLocks noChangeArrowheads="1"/>
            </p:cNvSpPr>
            <p:nvPr/>
          </p:nvSpPr>
          <p:spPr bwMode="auto">
            <a:xfrm>
              <a:off x="6330950" y="3063875"/>
              <a:ext cx="2740025" cy="925513"/>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88" name="Line 10"/>
            <p:cNvSpPr>
              <a:spLocks noChangeShapeType="1"/>
            </p:cNvSpPr>
            <p:nvPr/>
          </p:nvSpPr>
          <p:spPr bwMode="auto">
            <a:xfrm>
              <a:off x="6340475" y="3451225"/>
              <a:ext cx="2720975" cy="1588"/>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89" name="Rectangle 11"/>
            <p:cNvSpPr>
              <a:spLocks noChangeArrowheads="1"/>
            </p:cNvSpPr>
            <p:nvPr/>
          </p:nvSpPr>
          <p:spPr bwMode="auto">
            <a:xfrm>
              <a:off x="7323138" y="3148013"/>
              <a:ext cx="869950" cy="265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500" b="1">
                  <a:solidFill>
                    <a:srgbClr val="000000"/>
                  </a:solidFill>
                  <a:latin typeface="Arial" charset="0"/>
                </a:rPr>
                <a:t>Airplane</a:t>
              </a:r>
              <a:endParaRPr lang="en-CA"/>
            </a:p>
          </p:txBody>
        </p:sp>
        <p:sp>
          <p:nvSpPr>
            <p:cNvPr id="20490" name="Rectangle 12"/>
            <p:cNvSpPr>
              <a:spLocks noChangeArrowheads="1"/>
            </p:cNvSpPr>
            <p:nvPr/>
          </p:nvSpPr>
          <p:spPr bwMode="auto">
            <a:xfrm>
              <a:off x="6491288" y="3508375"/>
              <a:ext cx="1913152"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addLinkToSpecificFlight ()</a:t>
              </a:r>
              <a:endParaRPr lang="en-CA"/>
            </a:p>
          </p:txBody>
        </p:sp>
        <p:sp>
          <p:nvSpPr>
            <p:cNvPr id="20491" name="Rectangle 13"/>
            <p:cNvSpPr>
              <a:spLocks noChangeArrowheads="1"/>
            </p:cNvSpPr>
            <p:nvPr/>
          </p:nvSpPr>
          <p:spPr bwMode="auto">
            <a:xfrm>
              <a:off x="6491288" y="3735388"/>
              <a:ext cx="2089483"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deleteLinkToSpecificFlight ()</a:t>
              </a:r>
              <a:endParaRPr lang="en-CA"/>
            </a:p>
          </p:txBody>
        </p:sp>
        <p:sp>
          <p:nvSpPr>
            <p:cNvPr id="20492" name="Rectangle 14"/>
            <p:cNvSpPr>
              <a:spLocks noChangeArrowheads="1"/>
            </p:cNvSpPr>
            <p:nvPr/>
          </p:nvSpPr>
          <p:spPr bwMode="auto">
            <a:xfrm>
              <a:off x="3514725" y="3195638"/>
              <a:ext cx="2058988" cy="1625600"/>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493" name="Line 15"/>
            <p:cNvSpPr>
              <a:spLocks noChangeShapeType="1"/>
            </p:cNvSpPr>
            <p:nvPr/>
          </p:nvSpPr>
          <p:spPr bwMode="auto">
            <a:xfrm>
              <a:off x="3522663" y="3582988"/>
              <a:ext cx="2022475" cy="1587"/>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494" name="Rectangle 16"/>
            <p:cNvSpPr>
              <a:spLocks noChangeArrowheads="1"/>
            </p:cNvSpPr>
            <p:nvPr/>
          </p:nvSpPr>
          <p:spPr bwMode="auto">
            <a:xfrm>
              <a:off x="3883025" y="3281363"/>
              <a:ext cx="1246188"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500" b="1">
                  <a:solidFill>
                    <a:srgbClr val="000000"/>
                  </a:solidFill>
                  <a:latin typeface="Arial" charset="0"/>
                </a:rPr>
                <a:t>SpecificFlight</a:t>
              </a:r>
              <a:endParaRPr lang="en-CA"/>
            </a:p>
          </p:txBody>
        </p:sp>
        <p:sp>
          <p:nvSpPr>
            <p:cNvPr id="20495" name="Rectangle 17"/>
            <p:cNvSpPr>
              <a:spLocks noChangeArrowheads="1"/>
            </p:cNvSpPr>
            <p:nvPr/>
          </p:nvSpPr>
          <p:spPr bwMode="auto">
            <a:xfrm>
              <a:off x="3675063" y="3640138"/>
              <a:ext cx="1434688"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 specifyAirplane ()</a:t>
              </a:r>
              <a:endParaRPr lang="en-CA"/>
            </a:p>
          </p:txBody>
        </p:sp>
        <p:sp>
          <p:nvSpPr>
            <p:cNvPr id="20496" name="Rectangle 18"/>
            <p:cNvSpPr>
              <a:spLocks noChangeArrowheads="1"/>
            </p:cNvSpPr>
            <p:nvPr/>
          </p:nvSpPr>
          <p:spPr bwMode="auto">
            <a:xfrm>
              <a:off x="3675063" y="3867150"/>
              <a:ext cx="1502014"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 createFlightLog ()</a:t>
              </a:r>
              <a:endParaRPr lang="en-CA"/>
            </a:p>
          </p:txBody>
        </p:sp>
        <p:sp>
          <p:nvSpPr>
            <p:cNvPr id="20497" name="Rectangle 19"/>
            <p:cNvSpPr>
              <a:spLocks noChangeArrowheads="1"/>
            </p:cNvSpPr>
            <p:nvPr/>
          </p:nvSpPr>
          <p:spPr bwMode="auto">
            <a:xfrm>
              <a:off x="1047750" y="4887913"/>
              <a:ext cx="1314462"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 makeBooking ()</a:t>
              </a:r>
              <a:endParaRPr lang="en-CA"/>
            </a:p>
          </p:txBody>
        </p:sp>
        <p:sp>
          <p:nvSpPr>
            <p:cNvPr id="20498" name="Rectangle 20"/>
            <p:cNvSpPr>
              <a:spLocks noChangeArrowheads="1"/>
            </p:cNvSpPr>
            <p:nvPr/>
          </p:nvSpPr>
          <p:spPr bwMode="auto">
            <a:xfrm>
              <a:off x="3675063" y="4075113"/>
              <a:ext cx="1510029"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 changeAirplane ()</a:t>
              </a:r>
              <a:endParaRPr lang="en-CA"/>
            </a:p>
          </p:txBody>
        </p:sp>
        <p:sp>
          <p:nvSpPr>
            <p:cNvPr id="20499" name="Rectangle 21"/>
            <p:cNvSpPr>
              <a:spLocks noChangeArrowheads="1"/>
            </p:cNvSpPr>
            <p:nvPr/>
          </p:nvSpPr>
          <p:spPr bwMode="auto">
            <a:xfrm>
              <a:off x="3675063" y="4302125"/>
              <a:ext cx="1575752"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 findCrewMember ()</a:t>
              </a:r>
              <a:endParaRPr lang="en-CA"/>
            </a:p>
          </p:txBody>
        </p:sp>
        <p:sp>
          <p:nvSpPr>
            <p:cNvPr id="20500" name="Rectangle 22"/>
            <p:cNvSpPr>
              <a:spLocks noChangeArrowheads="1"/>
            </p:cNvSpPr>
            <p:nvPr/>
          </p:nvSpPr>
          <p:spPr bwMode="auto">
            <a:xfrm>
              <a:off x="3438525" y="1797050"/>
              <a:ext cx="1436688" cy="698500"/>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501" name="Line 23"/>
            <p:cNvSpPr>
              <a:spLocks noChangeShapeType="1"/>
            </p:cNvSpPr>
            <p:nvPr/>
          </p:nvSpPr>
          <p:spPr bwMode="auto">
            <a:xfrm>
              <a:off x="3448050" y="2184400"/>
              <a:ext cx="1417638" cy="1588"/>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02" name="Rectangle 24"/>
            <p:cNvSpPr>
              <a:spLocks noChangeArrowheads="1"/>
            </p:cNvSpPr>
            <p:nvPr/>
          </p:nvSpPr>
          <p:spPr bwMode="auto">
            <a:xfrm>
              <a:off x="3505200" y="1882775"/>
              <a:ext cx="1312863"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500" b="1">
                  <a:solidFill>
                    <a:srgbClr val="000000"/>
                  </a:solidFill>
                  <a:latin typeface="Arial" charset="0"/>
                </a:rPr>
                <a:t>EmployeeRole</a:t>
              </a:r>
              <a:endParaRPr lang="en-CA"/>
            </a:p>
          </p:txBody>
        </p:sp>
        <p:sp>
          <p:nvSpPr>
            <p:cNvPr id="20503" name="Rectangle 25"/>
            <p:cNvSpPr>
              <a:spLocks noChangeArrowheads="1"/>
            </p:cNvSpPr>
            <p:nvPr/>
          </p:nvSpPr>
          <p:spPr bwMode="auto">
            <a:xfrm>
              <a:off x="3598863" y="2241550"/>
              <a:ext cx="981038"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 getName ()</a:t>
              </a:r>
              <a:endParaRPr lang="en-CA"/>
            </a:p>
          </p:txBody>
        </p:sp>
        <p:sp>
          <p:nvSpPr>
            <p:cNvPr id="20504" name="Rectangle 26"/>
            <p:cNvSpPr>
              <a:spLocks noChangeArrowheads="1"/>
            </p:cNvSpPr>
            <p:nvPr/>
          </p:nvSpPr>
          <p:spPr bwMode="auto">
            <a:xfrm>
              <a:off x="6292850" y="4311650"/>
              <a:ext cx="1303338" cy="698500"/>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505" name="Line 27"/>
            <p:cNvSpPr>
              <a:spLocks noChangeShapeType="1"/>
            </p:cNvSpPr>
            <p:nvPr/>
          </p:nvSpPr>
          <p:spPr bwMode="auto">
            <a:xfrm>
              <a:off x="6302375" y="4699000"/>
              <a:ext cx="1284288" cy="1588"/>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06" name="Rectangle 28"/>
            <p:cNvSpPr>
              <a:spLocks noChangeArrowheads="1"/>
            </p:cNvSpPr>
            <p:nvPr/>
          </p:nvSpPr>
          <p:spPr bwMode="auto">
            <a:xfrm>
              <a:off x="6529388" y="4395788"/>
              <a:ext cx="86360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500" b="1">
                  <a:solidFill>
                    <a:srgbClr val="000000"/>
                  </a:solidFill>
                  <a:latin typeface="Arial" charset="0"/>
                </a:rPr>
                <a:t>FlightLog</a:t>
              </a:r>
              <a:endParaRPr lang="en-CA"/>
            </a:p>
          </p:txBody>
        </p:sp>
        <p:sp>
          <p:nvSpPr>
            <p:cNvPr id="20507" name="Rectangle 29"/>
            <p:cNvSpPr>
              <a:spLocks noChangeArrowheads="1"/>
            </p:cNvSpPr>
            <p:nvPr/>
          </p:nvSpPr>
          <p:spPr bwMode="auto">
            <a:xfrm>
              <a:off x="6453188" y="4754563"/>
              <a:ext cx="846386"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FlightLog ()</a:t>
              </a:r>
              <a:endParaRPr lang="en-CA"/>
            </a:p>
          </p:txBody>
        </p:sp>
        <p:sp>
          <p:nvSpPr>
            <p:cNvPr id="20508" name="Rectangle 30"/>
            <p:cNvSpPr>
              <a:spLocks noChangeArrowheads="1"/>
            </p:cNvSpPr>
            <p:nvPr/>
          </p:nvSpPr>
          <p:spPr bwMode="auto">
            <a:xfrm>
              <a:off x="1358900" y="3119438"/>
              <a:ext cx="1228725" cy="776287"/>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509" name="Line 31"/>
            <p:cNvSpPr>
              <a:spLocks noChangeShapeType="1"/>
            </p:cNvSpPr>
            <p:nvPr/>
          </p:nvSpPr>
          <p:spPr bwMode="auto">
            <a:xfrm>
              <a:off x="1368425" y="3506788"/>
              <a:ext cx="1209675" cy="1587"/>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10" name="Rectangle 32"/>
            <p:cNvSpPr>
              <a:spLocks noChangeArrowheads="1"/>
            </p:cNvSpPr>
            <p:nvPr/>
          </p:nvSpPr>
          <p:spPr bwMode="auto">
            <a:xfrm>
              <a:off x="1614488" y="3205163"/>
              <a:ext cx="850900" cy="265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500" b="1">
                  <a:solidFill>
                    <a:srgbClr val="000000"/>
                  </a:solidFill>
                  <a:latin typeface="Arial" charset="0"/>
                </a:rPr>
                <a:t>Booking</a:t>
              </a:r>
              <a:endParaRPr lang="en-CA"/>
            </a:p>
          </p:txBody>
        </p:sp>
        <p:sp>
          <p:nvSpPr>
            <p:cNvPr id="20511" name="Rectangle 33"/>
            <p:cNvSpPr>
              <a:spLocks noChangeArrowheads="1"/>
            </p:cNvSpPr>
            <p:nvPr/>
          </p:nvSpPr>
          <p:spPr bwMode="auto">
            <a:xfrm>
              <a:off x="1519238" y="3563938"/>
              <a:ext cx="761427"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Booking ()</a:t>
              </a:r>
              <a:endParaRPr lang="en-CA"/>
            </a:p>
          </p:txBody>
        </p:sp>
        <p:sp>
          <p:nvSpPr>
            <p:cNvPr id="20512" name="Rectangle 34"/>
            <p:cNvSpPr>
              <a:spLocks noChangeArrowheads="1"/>
            </p:cNvSpPr>
            <p:nvPr/>
          </p:nvSpPr>
          <p:spPr bwMode="auto">
            <a:xfrm>
              <a:off x="1000125" y="4443413"/>
              <a:ext cx="2022475" cy="963612"/>
            </a:xfrm>
            <a:prstGeom prst="rect">
              <a:avLst/>
            </a:prstGeom>
            <a:noFill/>
            <a:ln w="19050">
              <a:solidFill>
                <a:srgbClr val="000000"/>
              </a:solidFill>
              <a:miter lim="800000"/>
              <a:headEnd/>
              <a:tailEnd/>
            </a:ln>
            <a:extLst>
              <a:ext uri="{909E8E84-426E-40dd-AFC4-6F175D3DCCD1}">
                <a14:hiddenFill xmlns:a14="http://schemas.microsoft.com/office/drawing/2010/main" xmlns="">
                  <a:solidFill>
                    <a:srgbClr val="FFFFFF"/>
                  </a:solidFill>
                </a14:hiddenFill>
              </a:ext>
            </a:extLst>
          </p:spPr>
          <p:txBody>
            <a:bodyPr/>
            <a:lstStyle/>
            <a:p>
              <a:endParaRPr lang="en-US"/>
            </a:p>
          </p:txBody>
        </p:sp>
        <p:sp>
          <p:nvSpPr>
            <p:cNvPr id="20513" name="Line 35"/>
            <p:cNvSpPr>
              <a:spLocks noChangeShapeType="1"/>
            </p:cNvSpPr>
            <p:nvPr/>
          </p:nvSpPr>
          <p:spPr bwMode="auto">
            <a:xfrm>
              <a:off x="1009650" y="4830763"/>
              <a:ext cx="2003425" cy="1587"/>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14" name="Rectangle 36"/>
            <p:cNvSpPr>
              <a:spLocks noChangeArrowheads="1"/>
            </p:cNvSpPr>
            <p:nvPr/>
          </p:nvSpPr>
          <p:spPr bwMode="auto">
            <a:xfrm>
              <a:off x="1311275" y="4527550"/>
              <a:ext cx="137795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500" b="1">
                  <a:solidFill>
                    <a:srgbClr val="000000"/>
                  </a:solidFill>
                  <a:latin typeface="Arial" charset="0"/>
                </a:rPr>
                <a:t>PassengerRole</a:t>
              </a:r>
              <a:endParaRPr lang="en-CA"/>
            </a:p>
          </p:txBody>
        </p:sp>
        <p:sp>
          <p:nvSpPr>
            <p:cNvPr id="20515" name="Rectangle 37"/>
            <p:cNvSpPr>
              <a:spLocks noChangeArrowheads="1"/>
            </p:cNvSpPr>
            <p:nvPr/>
          </p:nvSpPr>
          <p:spPr bwMode="auto">
            <a:xfrm>
              <a:off x="1198563" y="5114925"/>
              <a:ext cx="1523622"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addLinkToBooking ()</a:t>
              </a:r>
              <a:endParaRPr lang="en-CA"/>
            </a:p>
          </p:txBody>
        </p:sp>
        <p:sp>
          <p:nvSpPr>
            <p:cNvPr id="20516" name="Line 38"/>
            <p:cNvSpPr>
              <a:spLocks noChangeShapeType="1"/>
            </p:cNvSpPr>
            <p:nvPr/>
          </p:nvSpPr>
          <p:spPr bwMode="auto">
            <a:xfrm flipV="1">
              <a:off x="1954213" y="3905250"/>
              <a:ext cx="1587" cy="528638"/>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17" name="Rectangle 39"/>
            <p:cNvSpPr>
              <a:spLocks noChangeArrowheads="1"/>
            </p:cNvSpPr>
            <p:nvPr/>
          </p:nvSpPr>
          <p:spPr bwMode="auto">
            <a:xfrm>
              <a:off x="1803400" y="3941763"/>
              <a:ext cx="95250" cy="246062"/>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18" name="Rectangle 40"/>
            <p:cNvSpPr>
              <a:spLocks noChangeArrowheads="1"/>
            </p:cNvSpPr>
            <p:nvPr/>
          </p:nvSpPr>
          <p:spPr bwMode="auto">
            <a:xfrm>
              <a:off x="1803400" y="3941763"/>
              <a:ext cx="150813" cy="284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19" name="Line 41"/>
            <p:cNvSpPr>
              <a:spLocks noChangeShapeType="1"/>
            </p:cNvSpPr>
            <p:nvPr/>
          </p:nvSpPr>
          <p:spPr bwMode="auto">
            <a:xfrm>
              <a:off x="2597150" y="3470275"/>
              <a:ext cx="908050" cy="1588"/>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20" name="Rectangle 42"/>
            <p:cNvSpPr>
              <a:spLocks noChangeArrowheads="1"/>
            </p:cNvSpPr>
            <p:nvPr/>
          </p:nvSpPr>
          <p:spPr bwMode="auto">
            <a:xfrm>
              <a:off x="2692400" y="3489325"/>
              <a:ext cx="150813"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21" name="Rectangle 43"/>
            <p:cNvSpPr>
              <a:spLocks noChangeArrowheads="1"/>
            </p:cNvSpPr>
            <p:nvPr/>
          </p:nvSpPr>
          <p:spPr bwMode="auto">
            <a:xfrm>
              <a:off x="2692400" y="3489325"/>
              <a:ext cx="150813"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22" name="Rectangle 44"/>
            <p:cNvSpPr>
              <a:spLocks noChangeArrowheads="1"/>
            </p:cNvSpPr>
            <p:nvPr/>
          </p:nvSpPr>
          <p:spPr bwMode="auto">
            <a:xfrm>
              <a:off x="2692400" y="3489325"/>
              <a:ext cx="150813"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23" name="Rectangle 45"/>
            <p:cNvSpPr>
              <a:spLocks noChangeArrowheads="1"/>
            </p:cNvSpPr>
            <p:nvPr/>
          </p:nvSpPr>
          <p:spPr bwMode="auto">
            <a:xfrm>
              <a:off x="2692400" y="3489325"/>
              <a:ext cx="150813"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24" name="Rectangle 46"/>
            <p:cNvSpPr>
              <a:spLocks noChangeArrowheads="1"/>
            </p:cNvSpPr>
            <p:nvPr/>
          </p:nvSpPr>
          <p:spPr bwMode="auto">
            <a:xfrm>
              <a:off x="2692400" y="3489325"/>
              <a:ext cx="150813"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25" name="Rectangle 47"/>
            <p:cNvSpPr>
              <a:spLocks noChangeArrowheads="1"/>
            </p:cNvSpPr>
            <p:nvPr/>
          </p:nvSpPr>
          <p:spPr bwMode="auto">
            <a:xfrm>
              <a:off x="2692400" y="3489325"/>
              <a:ext cx="150813"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26" name="Line 48"/>
            <p:cNvSpPr>
              <a:spLocks noChangeShapeType="1"/>
            </p:cNvSpPr>
            <p:nvPr/>
          </p:nvSpPr>
          <p:spPr bwMode="auto">
            <a:xfrm flipH="1">
              <a:off x="5583238" y="4660900"/>
              <a:ext cx="700087" cy="1588"/>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27" name="Rectangle 50"/>
            <p:cNvSpPr>
              <a:spLocks noChangeArrowheads="1"/>
            </p:cNvSpPr>
            <p:nvPr/>
          </p:nvSpPr>
          <p:spPr bwMode="auto">
            <a:xfrm>
              <a:off x="5943600" y="4419600"/>
              <a:ext cx="276225" cy="1984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0..1</a:t>
              </a:r>
              <a:endParaRPr lang="en-CA"/>
            </a:p>
          </p:txBody>
        </p:sp>
        <p:sp>
          <p:nvSpPr>
            <p:cNvPr id="20528" name="Line 61"/>
            <p:cNvSpPr>
              <a:spLocks noChangeShapeType="1"/>
            </p:cNvSpPr>
            <p:nvPr/>
          </p:nvSpPr>
          <p:spPr bwMode="auto">
            <a:xfrm flipH="1">
              <a:off x="5583238" y="3544888"/>
              <a:ext cx="719137" cy="1587"/>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29" name="Rectangle 62"/>
            <p:cNvSpPr>
              <a:spLocks noChangeArrowheads="1"/>
            </p:cNvSpPr>
            <p:nvPr/>
          </p:nvSpPr>
          <p:spPr bwMode="auto">
            <a:xfrm>
              <a:off x="5602288" y="3319463"/>
              <a:ext cx="150812" cy="284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30" name="Line 63"/>
            <p:cNvSpPr>
              <a:spLocks noChangeShapeType="1"/>
            </p:cNvSpPr>
            <p:nvPr/>
          </p:nvSpPr>
          <p:spPr bwMode="auto">
            <a:xfrm flipV="1">
              <a:off x="4562475" y="2505075"/>
              <a:ext cx="1588" cy="681038"/>
            </a:xfrm>
            <a:prstGeom prst="line">
              <a:avLst/>
            </a:prstGeom>
            <a:noFill/>
            <a:ln w="19050">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sp>
          <p:nvSpPr>
            <p:cNvPr id="20531" name="Rectangle 64"/>
            <p:cNvSpPr>
              <a:spLocks noChangeArrowheads="1"/>
            </p:cNvSpPr>
            <p:nvPr/>
          </p:nvSpPr>
          <p:spPr bwMode="auto">
            <a:xfrm>
              <a:off x="4392613" y="2524125"/>
              <a:ext cx="95250" cy="2460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32" name="Rectangle 65"/>
            <p:cNvSpPr>
              <a:spLocks noChangeArrowheads="1"/>
            </p:cNvSpPr>
            <p:nvPr/>
          </p:nvSpPr>
          <p:spPr bwMode="auto">
            <a:xfrm>
              <a:off x="4449763" y="2525713"/>
              <a:ext cx="150812" cy="284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33" name="Rectangle 66"/>
            <p:cNvSpPr>
              <a:spLocks noChangeArrowheads="1"/>
            </p:cNvSpPr>
            <p:nvPr/>
          </p:nvSpPr>
          <p:spPr bwMode="auto">
            <a:xfrm>
              <a:off x="4392613" y="2940050"/>
              <a:ext cx="95250" cy="2460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34" name="Rectangle 67"/>
            <p:cNvSpPr>
              <a:spLocks noChangeArrowheads="1"/>
            </p:cNvSpPr>
            <p:nvPr/>
          </p:nvSpPr>
          <p:spPr bwMode="auto">
            <a:xfrm>
              <a:off x="4392613" y="2940050"/>
              <a:ext cx="150812"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35" name="Rectangle 68"/>
            <p:cNvSpPr>
              <a:spLocks noChangeArrowheads="1"/>
            </p:cNvSpPr>
            <p:nvPr/>
          </p:nvSpPr>
          <p:spPr bwMode="auto">
            <a:xfrm>
              <a:off x="4392613" y="2940050"/>
              <a:ext cx="95250" cy="2460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36" name="Rectangle 69"/>
            <p:cNvSpPr>
              <a:spLocks noChangeArrowheads="1"/>
            </p:cNvSpPr>
            <p:nvPr/>
          </p:nvSpPr>
          <p:spPr bwMode="auto">
            <a:xfrm>
              <a:off x="4392613" y="2940050"/>
              <a:ext cx="150812"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37" name="Rectangle 70"/>
            <p:cNvSpPr>
              <a:spLocks noChangeArrowheads="1"/>
            </p:cNvSpPr>
            <p:nvPr/>
          </p:nvSpPr>
          <p:spPr bwMode="auto">
            <a:xfrm>
              <a:off x="4392613" y="2940050"/>
              <a:ext cx="95250" cy="2460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38" name="Rectangle 71"/>
            <p:cNvSpPr>
              <a:spLocks noChangeArrowheads="1"/>
            </p:cNvSpPr>
            <p:nvPr/>
          </p:nvSpPr>
          <p:spPr bwMode="auto">
            <a:xfrm>
              <a:off x="4392613" y="2940050"/>
              <a:ext cx="150812"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39" name="Rectangle 72"/>
            <p:cNvSpPr>
              <a:spLocks noChangeArrowheads="1"/>
            </p:cNvSpPr>
            <p:nvPr/>
          </p:nvSpPr>
          <p:spPr bwMode="auto">
            <a:xfrm>
              <a:off x="4392613" y="2940050"/>
              <a:ext cx="95250" cy="2460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40" name="Rectangle 73"/>
            <p:cNvSpPr>
              <a:spLocks noChangeArrowheads="1"/>
            </p:cNvSpPr>
            <p:nvPr/>
          </p:nvSpPr>
          <p:spPr bwMode="auto">
            <a:xfrm>
              <a:off x="4392613" y="2940050"/>
              <a:ext cx="150812"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41" name="Rectangle 74"/>
            <p:cNvSpPr>
              <a:spLocks noChangeArrowheads="1"/>
            </p:cNvSpPr>
            <p:nvPr/>
          </p:nvSpPr>
          <p:spPr bwMode="auto">
            <a:xfrm>
              <a:off x="4392613" y="2940050"/>
              <a:ext cx="95250" cy="2460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42" name="Rectangle 75"/>
            <p:cNvSpPr>
              <a:spLocks noChangeArrowheads="1"/>
            </p:cNvSpPr>
            <p:nvPr/>
          </p:nvSpPr>
          <p:spPr bwMode="auto">
            <a:xfrm>
              <a:off x="4392613" y="2940050"/>
              <a:ext cx="150812"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43" name="Rectangle 76"/>
            <p:cNvSpPr>
              <a:spLocks noChangeArrowheads="1"/>
            </p:cNvSpPr>
            <p:nvPr/>
          </p:nvSpPr>
          <p:spPr bwMode="auto">
            <a:xfrm>
              <a:off x="4392613" y="2940050"/>
              <a:ext cx="95250" cy="246063"/>
            </a:xfrm>
            <a:prstGeom prst="rect">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0544" name="Rectangle 77"/>
            <p:cNvSpPr>
              <a:spLocks noChangeArrowheads="1"/>
            </p:cNvSpPr>
            <p:nvPr/>
          </p:nvSpPr>
          <p:spPr bwMode="auto">
            <a:xfrm>
              <a:off x="4449763" y="2940050"/>
              <a:ext cx="150812" cy="284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t>
              </a:r>
              <a:endParaRPr lang="en-CA"/>
            </a:p>
          </p:txBody>
        </p:sp>
        <p:sp>
          <p:nvSpPr>
            <p:cNvPr id="20545" name="Rectangle 78"/>
            <p:cNvSpPr>
              <a:spLocks noChangeArrowheads="1"/>
            </p:cNvSpPr>
            <p:nvPr/>
          </p:nvSpPr>
          <p:spPr bwMode="auto">
            <a:xfrm>
              <a:off x="3428992" y="2500306"/>
              <a:ext cx="877887" cy="1825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200">
                  <a:solidFill>
                    <a:srgbClr val="000000"/>
                  </a:solidFill>
                  <a:latin typeface="Arial" charset="0"/>
                </a:rPr>
                <a:t>crewMember</a:t>
              </a:r>
              <a:endParaRPr lang="en-CA"/>
            </a:p>
          </p:txBody>
        </p:sp>
        <p:sp>
          <p:nvSpPr>
            <p:cNvPr id="20546" name="Rectangle 79"/>
            <p:cNvSpPr>
              <a:spLocks noChangeArrowheads="1"/>
            </p:cNvSpPr>
            <p:nvPr/>
          </p:nvSpPr>
          <p:spPr bwMode="auto">
            <a:xfrm>
              <a:off x="5961063" y="3281363"/>
              <a:ext cx="377825" cy="284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0..1</a:t>
              </a:r>
              <a:endParaRPr lang="en-CA"/>
            </a:p>
          </p:txBody>
        </p:sp>
        <p:sp>
          <p:nvSpPr>
            <p:cNvPr id="20547" name="Rectangle 80"/>
            <p:cNvSpPr>
              <a:spLocks noChangeArrowheads="1"/>
            </p:cNvSpPr>
            <p:nvPr/>
          </p:nvSpPr>
          <p:spPr bwMode="auto">
            <a:xfrm>
              <a:off x="3825875" y="4510088"/>
              <a:ext cx="1523622" cy="2000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CA" sz="1300">
                  <a:solidFill>
                    <a:srgbClr val="000000"/>
                  </a:solidFill>
                  <a:latin typeface="Arial" charset="0"/>
                </a:rPr>
                <a:t>addLinkToBooking ()</a:t>
              </a:r>
              <a:endParaRPr lang="en-CA"/>
            </a:p>
          </p:txBody>
        </p:sp>
      </p:grpSp>
      <p:sp>
        <p:nvSpPr>
          <p:cNvPr id="8" name="Slide Number Placeholder 7"/>
          <p:cNvSpPr>
            <a:spLocks noGrp="1"/>
          </p:cNvSpPr>
          <p:nvPr>
            <p:ph type="sldNum" sz="quarter" idx="12"/>
          </p:nvPr>
        </p:nvSpPr>
        <p:spPr/>
        <p:txBody>
          <a:bodyPr/>
          <a:lstStyle/>
          <a:p>
            <a:fld id="{14F6F305-04E4-5E4D-BE4E-D65C3C550673}"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Modeling interactions and behavior</a:t>
            </a:r>
            <a:endParaRPr lang="tr-TR"/>
          </a:p>
        </p:txBody>
      </p:sp>
      <p:sp>
        <p:nvSpPr>
          <p:cNvPr id="22531" name="Content Placeholder 2"/>
          <p:cNvSpPr>
            <a:spLocks noGrp="1"/>
          </p:cNvSpPr>
          <p:nvPr>
            <p:ph idx="1"/>
          </p:nvPr>
        </p:nvSpPr>
        <p:spPr/>
        <p:txBody>
          <a:bodyPr/>
          <a:lstStyle/>
          <a:p>
            <a:r>
              <a:rPr lang="en-US" dirty="0"/>
              <a:t>We now will focus on modeling system dynamics</a:t>
            </a:r>
          </a:p>
          <a:p>
            <a:pPr lvl="1"/>
            <a:r>
              <a:rPr lang="en-US" dirty="0">
                <a:highlight>
                  <a:srgbClr val="FFFF00"/>
                </a:highlight>
              </a:rPr>
              <a:t>Modeling interactions</a:t>
            </a:r>
          </a:p>
          <a:p>
            <a:pPr lvl="2"/>
            <a:r>
              <a:rPr lang="en-US" dirty="0"/>
              <a:t> An interaction model shows a set of actors and objects interacting by exchanging messages</a:t>
            </a:r>
          </a:p>
          <a:p>
            <a:pPr lvl="1"/>
            <a:r>
              <a:rPr lang="en-US" dirty="0">
                <a:highlight>
                  <a:srgbClr val="FFFF00"/>
                </a:highlight>
              </a:rPr>
              <a:t>Modeling behavior </a:t>
            </a:r>
          </a:p>
          <a:p>
            <a:pPr lvl="2"/>
            <a:r>
              <a:rPr lang="en-US" dirty="0"/>
              <a:t> A behavior model shows how an object or system changes state in reaction to a series of event</a:t>
            </a:r>
            <a:endParaRPr lang="tr-TR" dirty="0"/>
          </a:p>
        </p:txBody>
      </p:sp>
      <p:sp>
        <p:nvSpPr>
          <p:cNvPr id="6" name="Slide Number Placeholder 5"/>
          <p:cNvSpPr>
            <a:spLocks noGrp="1"/>
          </p:cNvSpPr>
          <p:nvPr>
            <p:ph type="sldNum" sz="quarter" idx="12"/>
          </p:nvPr>
        </p:nvSpPr>
        <p:spPr/>
        <p:txBody>
          <a:bodyPr/>
          <a:lstStyle/>
          <a:p>
            <a:fld id="{14F6F305-04E4-5E4D-BE4E-D65C3C550673}"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r>
              <a:rPr lang="en-GB" dirty="0"/>
              <a:t>Creating</a:t>
            </a:r>
            <a:r>
              <a:rPr lang="en-GB" dirty="0">
                <a:highlight>
                  <a:srgbClr val="00FFFF"/>
                </a:highlight>
              </a:rPr>
              <a:t> interaction diagrams</a:t>
            </a:r>
          </a:p>
        </p:txBody>
      </p:sp>
      <p:sp>
        <p:nvSpPr>
          <p:cNvPr id="24581"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bodyPr>
          <a:lstStyle/>
          <a:p>
            <a:pPr marL="190500" lvl="1" indent="0">
              <a:buNone/>
            </a:pPr>
            <a:r>
              <a:rPr lang="en-GB" b="1" dirty="0"/>
              <a:t>There are two kinds of interaction diagrams: </a:t>
            </a:r>
          </a:p>
          <a:p>
            <a:pPr lvl="1"/>
            <a:r>
              <a:rPr lang="en-GB" dirty="0"/>
              <a:t>Sequence diagrams</a:t>
            </a:r>
          </a:p>
          <a:p>
            <a:pPr lvl="1"/>
            <a:r>
              <a:rPr lang="en-GB" dirty="0"/>
              <a:t>Communication diagrams</a:t>
            </a:r>
            <a:r>
              <a:rPr lang="en-US" dirty="0"/>
              <a:t> </a:t>
            </a:r>
          </a:p>
        </p:txBody>
      </p:sp>
      <p:sp>
        <p:nvSpPr>
          <p:cNvPr id="4" name="Slide Number Placeholder 3"/>
          <p:cNvSpPr>
            <a:spLocks noGrp="1"/>
          </p:cNvSpPr>
          <p:nvPr>
            <p:ph type="sldNum" sz="quarter" idx="12"/>
          </p:nvPr>
        </p:nvSpPr>
        <p:spPr/>
        <p:txBody>
          <a:bodyPr/>
          <a:lstStyle/>
          <a:p>
            <a:fld id="{14F6F305-04E4-5E4D-BE4E-D65C3C550673}"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9" name="Rectangle 2"/>
          <p:cNvSpPr>
            <a:spLocks noGrp="1" noChangeArrowheads="1"/>
          </p:cNvSpPr>
          <p:nvPr>
            <p:ph type="title"/>
          </p:nvPr>
        </p:nvSpPr>
        <p:spPr/>
        <p:txBody>
          <a:bodyPr/>
          <a:lstStyle/>
          <a:p>
            <a:r>
              <a:rPr lang="en-GB" dirty="0"/>
              <a:t>Sequence Diagrams</a:t>
            </a:r>
            <a:r>
              <a:rPr lang="en-US" dirty="0"/>
              <a:t> </a:t>
            </a:r>
          </a:p>
        </p:txBody>
      </p:sp>
      <p:sp>
        <p:nvSpPr>
          <p:cNvPr id="26630" name="Rectangle 3"/>
          <p:cNvSpPr>
            <a:spLocks noGrp="1" noChangeArrowheads="1"/>
          </p:cNvSpPr>
          <p:nvPr>
            <p:ph type="body" idx="1"/>
          </p:nvPr>
        </p:nvSpPr>
        <p:spPr>
          <a:xfrm>
            <a:off x="1066800" y="1371599"/>
            <a:ext cx="7543800" cy="2200275"/>
          </a:xfrm>
        </p:spPr>
        <p:txBody>
          <a:bodyPr>
            <a:normAutofit fontScale="70000" lnSpcReduction="20000"/>
          </a:bodyPr>
          <a:lstStyle/>
          <a:p>
            <a:r>
              <a:rPr lang="en-US" dirty="0"/>
              <a:t>A sequence diagram shows the sequence of messages exchanged by a set of objects performing a certain task </a:t>
            </a:r>
          </a:p>
          <a:p>
            <a:pPr lvl="1"/>
            <a:r>
              <a:rPr lang="en-US" dirty="0"/>
              <a:t>The objects are arranged horizontally across the diagram</a:t>
            </a:r>
          </a:p>
          <a:p>
            <a:pPr lvl="1"/>
            <a:r>
              <a:rPr lang="en-US" dirty="0">
                <a:highlight>
                  <a:srgbClr val="00FF00"/>
                </a:highlight>
              </a:rPr>
              <a:t>An actor that initiates the interaction is often shown on the left </a:t>
            </a:r>
          </a:p>
          <a:p>
            <a:pPr lvl="1"/>
            <a:r>
              <a:rPr lang="en-US" dirty="0">
                <a:highlight>
                  <a:srgbClr val="FFFF00"/>
                </a:highlight>
              </a:rPr>
              <a:t>T</a:t>
            </a:r>
            <a:r>
              <a:rPr lang="en-GB" dirty="0">
                <a:highlight>
                  <a:srgbClr val="FFFF00"/>
                </a:highlight>
              </a:rPr>
              <a:t>he vertical dimension represents time</a:t>
            </a:r>
          </a:p>
          <a:p>
            <a:pPr lvl="1"/>
            <a:r>
              <a:rPr lang="en-GB" dirty="0">
                <a:highlight>
                  <a:srgbClr val="FF00FF"/>
                </a:highlight>
              </a:rPr>
              <a:t>A vertical line, called a lifeline, is attached to each object or actor </a:t>
            </a:r>
          </a:p>
          <a:p>
            <a:pPr lvl="1"/>
            <a:r>
              <a:rPr lang="en-GB" dirty="0"/>
              <a:t>The lifeline becomes a broad box, called an </a:t>
            </a:r>
            <a:r>
              <a:rPr lang="en-GB" dirty="0">
                <a:highlight>
                  <a:srgbClr val="00FF00"/>
                </a:highlight>
              </a:rPr>
              <a:t>activation box </a:t>
            </a:r>
            <a:r>
              <a:rPr lang="en-GB" dirty="0"/>
              <a:t>during the live activation period</a:t>
            </a:r>
          </a:p>
        </p:txBody>
      </p:sp>
      <p:graphicFrame>
        <p:nvGraphicFramePr>
          <p:cNvPr id="26626" name="Object 2"/>
          <p:cNvGraphicFramePr>
            <a:graphicFrameLocks noChangeAspect="1"/>
          </p:cNvGraphicFramePr>
          <p:nvPr/>
        </p:nvGraphicFramePr>
        <p:xfrm>
          <a:off x="1714500" y="3571875"/>
          <a:ext cx="5715000" cy="2578100"/>
        </p:xfrm>
        <a:graphic>
          <a:graphicData uri="http://schemas.openxmlformats.org/presentationml/2006/ole">
            <mc:AlternateContent xmlns:mc="http://schemas.openxmlformats.org/markup-compatibility/2006">
              <mc:Choice xmlns:v="urn:schemas-microsoft-com:vml" Requires="v">
                <p:oleObj name="Visio" r:id="rId3" imgW="3833280" imgH="1728360" progId="Visio.Drawing.11">
                  <p:embed/>
                </p:oleObj>
              </mc:Choice>
              <mc:Fallback>
                <p:oleObj name="Visio" r:id="rId3" imgW="3833280" imgH="1728360"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3571875"/>
                        <a:ext cx="5715000" cy="2578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 name="Slide Number Placeholder 3"/>
          <p:cNvSpPr>
            <a:spLocks noGrp="1"/>
          </p:cNvSpPr>
          <p:nvPr>
            <p:ph type="sldNum" sz="quarter" idx="12"/>
          </p:nvPr>
        </p:nvSpPr>
        <p:spPr/>
        <p:txBody>
          <a:bodyPr/>
          <a:lstStyle/>
          <a:p>
            <a:fld id="{14F6F305-04E4-5E4D-BE4E-D65C3C550673}"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5" name="Title 1"/>
          <p:cNvSpPr>
            <a:spLocks noGrp="1"/>
          </p:cNvSpPr>
          <p:nvPr>
            <p:ph type="title"/>
          </p:nvPr>
        </p:nvSpPr>
        <p:spPr/>
        <p:txBody>
          <a:bodyPr/>
          <a:lstStyle/>
          <a:p>
            <a:r>
              <a:rPr lang="en-US" dirty="0">
                <a:latin typeface="Arial" charset="0"/>
                <a:ea typeface="ＭＳ Ｐゴシック" charset="0"/>
                <a:cs typeface="ＭＳ Ｐゴシック" charset="0"/>
              </a:rPr>
              <a:t>An example Sequence diagram</a:t>
            </a:r>
            <a:endParaRPr lang="tr-TR" dirty="0">
              <a:latin typeface="Arial" charset="0"/>
              <a:ea typeface="ＭＳ Ｐゴシック" charset="0"/>
              <a:cs typeface="ＭＳ Ｐゴシック" charset="0"/>
            </a:endParaRPr>
          </a:p>
        </p:txBody>
      </p:sp>
      <p:sp>
        <p:nvSpPr>
          <p:cNvPr id="7" name="Rectangle 3"/>
          <p:cNvSpPr txBox="1">
            <a:spLocks noChangeArrowheads="1"/>
          </p:cNvSpPr>
          <p:nvPr/>
        </p:nvSpPr>
        <p:spPr bwMode="auto">
          <a:xfrm>
            <a:off x="381000" y="3691467"/>
            <a:ext cx="4357687" cy="2895600"/>
          </a:xfrm>
          <a:prstGeom prst="rect">
            <a:avLst/>
          </a:prstGeom>
          <a:noFill/>
          <a:ln w="9525">
            <a:noFill/>
            <a:miter lim="800000"/>
            <a:headEnd/>
            <a:tailEnd/>
          </a:ln>
          <a:effectLst/>
        </p:spPr>
        <p:txBody>
          <a:bodyPr/>
          <a:lstStyle/>
          <a:p>
            <a:pPr>
              <a:lnSpc>
                <a:spcPct val="80000"/>
              </a:lnSpc>
              <a:spcBef>
                <a:spcPct val="20000"/>
              </a:spcBef>
              <a:defRPr/>
            </a:pPr>
            <a:r>
              <a:rPr lang="en-US" sz="2000" b="1" kern="0" dirty="0">
                <a:latin typeface="Comic Sans MS" pitchFamily="66" charset="0"/>
                <a:ea typeface="+mn-ea"/>
                <a:cs typeface="+mn-cs"/>
              </a:rPr>
              <a:t>public class A {</a:t>
            </a:r>
          </a:p>
          <a:p>
            <a:pPr>
              <a:lnSpc>
                <a:spcPct val="80000"/>
              </a:lnSpc>
              <a:spcBef>
                <a:spcPct val="20000"/>
              </a:spcBef>
              <a:defRPr/>
            </a:pPr>
            <a:r>
              <a:rPr lang="en-US" sz="2000" b="1" kern="0" dirty="0">
                <a:latin typeface="Comic Sans MS" pitchFamily="66" charset="0"/>
                <a:ea typeface="+mn-ea"/>
                <a:cs typeface="+mn-cs"/>
              </a:rPr>
              <a:t>   private B </a:t>
            </a:r>
            <a:r>
              <a:rPr lang="en-US" sz="2000" b="1" kern="0" dirty="0" err="1">
                <a:latin typeface="Comic Sans MS" pitchFamily="66" charset="0"/>
                <a:ea typeface="+mn-ea"/>
                <a:cs typeface="+mn-cs"/>
              </a:rPr>
              <a:t>myB</a:t>
            </a:r>
            <a:r>
              <a:rPr lang="en-US" sz="2000" b="1" kern="0" dirty="0">
                <a:latin typeface="Comic Sans MS" pitchFamily="66" charset="0"/>
                <a:ea typeface="+mn-ea"/>
                <a:cs typeface="+mn-cs"/>
              </a:rPr>
              <a:t>;	</a:t>
            </a:r>
          </a:p>
          <a:p>
            <a:pPr>
              <a:lnSpc>
                <a:spcPct val="80000"/>
              </a:lnSpc>
              <a:spcBef>
                <a:spcPct val="20000"/>
              </a:spcBef>
              <a:defRPr/>
            </a:pPr>
            <a:endParaRPr lang="en-US" sz="2000" b="1" kern="0" dirty="0">
              <a:latin typeface="Comic Sans MS" pitchFamily="66" charset="0"/>
              <a:ea typeface="+mn-ea"/>
              <a:cs typeface="+mn-cs"/>
            </a:endParaRPr>
          </a:p>
          <a:p>
            <a:pPr>
              <a:lnSpc>
                <a:spcPct val="80000"/>
              </a:lnSpc>
              <a:spcBef>
                <a:spcPct val="20000"/>
              </a:spcBef>
              <a:defRPr/>
            </a:pPr>
            <a:r>
              <a:rPr lang="en-US" sz="2000" b="1" kern="0" dirty="0">
                <a:latin typeface="Comic Sans MS" pitchFamily="66" charset="0"/>
                <a:ea typeface="+mn-ea"/>
                <a:cs typeface="+mn-cs"/>
              </a:rPr>
              <a:t>   public void </a:t>
            </a:r>
            <a:r>
              <a:rPr lang="en-US" sz="2000" b="1" kern="0" dirty="0" err="1">
                <a:latin typeface="Comic Sans MS" pitchFamily="66" charset="0"/>
                <a:ea typeface="+mn-ea"/>
                <a:cs typeface="+mn-cs"/>
              </a:rPr>
              <a:t>doOne</a:t>
            </a:r>
            <a:r>
              <a:rPr lang="en-US" sz="2000" b="1" kern="0" dirty="0">
                <a:latin typeface="Comic Sans MS" pitchFamily="66" charset="0"/>
                <a:ea typeface="+mn-ea"/>
                <a:cs typeface="+mn-cs"/>
              </a:rPr>
              <a:t>() {</a:t>
            </a:r>
          </a:p>
          <a:p>
            <a:pPr>
              <a:lnSpc>
                <a:spcPct val="80000"/>
              </a:lnSpc>
              <a:spcBef>
                <a:spcPct val="20000"/>
              </a:spcBef>
              <a:defRPr/>
            </a:pPr>
            <a:r>
              <a:rPr lang="en-US" sz="2000" b="1" kern="0" dirty="0">
                <a:latin typeface="Comic Sans MS" pitchFamily="66" charset="0"/>
                <a:ea typeface="+mn-ea"/>
                <a:cs typeface="+mn-cs"/>
              </a:rPr>
              <a:t>      ...</a:t>
            </a:r>
          </a:p>
          <a:p>
            <a:pPr>
              <a:lnSpc>
                <a:spcPct val="80000"/>
              </a:lnSpc>
              <a:spcBef>
                <a:spcPct val="20000"/>
              </a:spcBef>
              <a:defRPr/>
            </a:pPr>
            <a:r>
              <a:rPr lang="en-US" sz="2000" b="1" kern="0" dirty="0">
                <a:latin typeface="Comic Sans MS" pitchFamily="66" charset="0"/>
                <a:ea typeface="+mn-ea"/>
                <a:cs typeface="+mn-cs"/>
              </a:rPr>
              <a:t>      </a:t>
            </a:r>
            <a:r>
              <a:rPr lang="en-US" sz="2000" b="1" kern="0" dirty="0" err="1">
                <a:latin typeface="Comic Sans MS" pitchFamily="66" charset="0"/>
                <a:ea typeface="+mn-ea"/>
                <a:cs typeface="+mn-cs"/>
              </a:rPr>
              <a:t>myB.doTwo</a:t>
            </a:r>
            <a:r>
              <a:rPr lang="en-US" sz="2000" b="1" kern="0" dirty="0">
                <a:latin typeface="Comic Sans MS" pitchFamily="66" charset="0"/>
                <a:ea typeface="+mn-ea"/>
                <a:cs typeface="+mn-cs"/>
              </a:rPr>
              <a:t>();</a:t>
            </a:r>
          </a:p>
          <a:p>
            <a:pPr>
              <a:lnSpc>
                <a:spcPct val="80000"/>
              </a:lnSpc>
              <a:spcBef>
                <a:spcPct val="20000"/>
              </a:spcBef>
              <a:defRPr/>
            </a:pPr>
            <a:r>
              <a:rPr lang="en-US" sz="2000" b="1" kern="0" dirty="0">
                <a:latin typeface="Comic Sans MS" pitchFamily="66" charset="0"/>
                <a:ea typeface="+mn-ea"/>
                <a:cs typeface="+mn-cs"/>
              </a:rPr>
              <a:t>      ...</a:t>
            </a:r>
          </a:p>
          <a:p>
            <a:pPr>
              <a:lnSpc>
                <a:spcPct val="80000"/>
              </a:lnSpc>
              <a:spcBef>
                <a:spcPct val="20000"/>
              </a:spcBef>
              <a:defRPr/>
            </a:pPr>
            <a:r>
              <a:rPr lang="en-US" sz="2000" b="1" kern="0" dirty="0">
                <a:latin typeface="Comic Sans MS" pitchFamily="66" charset="0"/>
                <a:ea typeface="+mn-ea"/>
                <a:cs typeface="+mn-cs"/>
              </a:rPr>
              <a:t>      </a:t>
            </a:r>
            <a:r>
              <a:rPr lang="en-US" sz="2000" b="1" kern="0" dirty="0" err="1">
                <a:latin typeface="Comic Sans MS" pitchFamily="66" charset="0"/>
                <a:ea typeface="+mn-ea"/>
                <a:cs typeface="+mn-cs"/>
              </a:rPr>
              <a:t>myB.doThree</a:t>
            </a:r>
            <a:r>
              <a:rPr lang="en-US" sz="2000" b="1" kern="0" dirty="0">
                <a:latin typeface="Comic Sans MS" pitchFamily="66" charset="0"/>
                <a:ea typeface="+mn-ea"/>
                <a:cs typeface="+mn-cs"/>
              </a:rPr>
              <a:t>();</a:t>
            </a:r>
          </a:p>
          <a:p>
            <a:pPr>
              <a:lnSpc>
                <a:spcPct val="80000"/>
              </a:lnSpc>
              <a:spcBef>
                <a:spcPct val="20000"/>
              </a:spcBef>
              <a:defRPr/>
            </a:pPr>
            <a:r>
              <a:rPr lang="en-US" sz="2000" b="1" kern="0" dirty="0">
                <a:latin typeface="Comic Sans MS" pitchFamily="66" charset="0"/>
                <a:ea typeface="+mn-ea"/>
                <a:cs typeface="+mn-cs"/>
              </a:rPr>
              <a:t>      ...</a:t>
            </a:r>
          </a:p>
          <a:p>
            <a:pPr>
              <a:lnSpc>
                <a:spcPct val="80000"/>
              </a:lnSpc>
              <a:spcBef>
                <a:spcPct val="20000"/>
              </a:spcBef>
              <a:defRPr/>
            </a:pPr>
            <a:r>
              <a:rPr lang="en-US" sz="2000" b="1" kern="0" dirty="0">
                <a:latin typeface="Comic Sans MS" pitchFamily="66" charset="0"/>
                <a:ea typeface="+mn-ea"/>
                <a:cs typeface="+mn-cs"/>
              </a:rPr>
              <a:t>   }</a:t>
            </a:r>
          </a:p>
          <a:p>
            <a:pPr>
              <a:lnSpc>
                <a:spcPct val="80000"/>
              </a:lnSpc>
              <a:spcBef>
                <a:spcPct val="20000"/>
              </a:spcBef>
              <a:defRPr/>
            </a:pPr>
            <a:endParaRPr lang="en-US" sz="2000" b="1" kern="0" dirty="0">
              <a:latin typeface="Comic Sans MS" pitchFamily="66" charset="0"/>
              <a:ea typeface="+mn-ea"/>
              <a:cs typeface="+mn-cs"/>
            </a:endParaRPr>
          </a:p>
          <a:p>
            <a:pPr>
              <a:lnSpc>
                <a:spcPct val="80000"/>
              </a:lnSpc>
              <a:spcBef>
                <a:spcPct val="20000"/>
              </a:spcBef>
              <a:defRPr/>
            </a:pPr>
            <a:r>
              <a:rPr lang="en-US" sz="2000" b="1" kern="0" dirty="0">
                <a:latin typeface="Comic Sans MS" pitchFamily="66" charset="0"/>
                <a:ea typeface="+mn-ea"/>
                <a:cs typeface="+mn-cs"/>
              </a:rPr>
              <a:t>}</a:t>
            </a:r>
          </a:p>
        </p:txBody>
      </p:sp>
      <p:graphicFrame>
        <p:nvGraphicFramePr>
          <p:cNvPr id="28674" name="Object 2"/>
          <p:cNvGraphicFramePr>
            <a:graphicFrameLocks noChangeAspect="1"/>
          </p:cNvGraphicFramePr>
          <p:nvPr/>
        </p:nvGraphicFramePr>
        <p:xfrm>
          <a:off x="1600200" y="1065213"/>
          <a:ext cx="5715000" cy="2578100"/>
        </p:xfrm>
        <a:graphic>
          <a:graphicData uri="http://schemas.openxmlformats.org/presentationml/2006/ole">
            <mc:AlternateContent xmlns:mc="http://schemas.openxmlformats.org/markup-compatibility/2006">
              <mc:Choice xmlns:v="urn:schemas-microsoft-com:vml" Requires="v">
                <p:oleObj name="Visio" r:id="rId3" imgW="3833280" imgH="1728360" progId="Visio.Drawing.11">
                  <p:embed/>
                </p:oleObj>
              </mc:Choice>
              <mc:Fallback>
                <p:oleObj name="Visio" r:id="rId3" imgW="3833280" imgH="1728360"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065213"/>
                        <a:ext cx="5715000" cy="25781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8" name="Rectangle 3"/>
          <p:cNvSpPr txBox="1">
            <a:spLocks noChangeArrowheads="1"/>
          </p:cNvSpPr>
          <p:nvPr/>
        </p:nvSpPr>
        <p:spPr bwMode="auto">
          <a:xfrm>
            <a:off x="5136356" y="3643313"/>
            <a:ext cx="4357687" cy="2895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a:lnSpc>
                <a:spcPct val="80000"/>
              </a:lnSpc>
              <a:spcBef>
                <a:spcPct val="20000"/>
              </a:spcBef>
            </a:pPr>
            <a:r>
              <a:rPr lang="en-US" sz="2000" b="1" dirty="0">
                <a:latin typeface="Comic Sans MS" charset="0"/>
              </a:rPr>
              <a:t>public class B {</a:t>
            </a:r>
          </a:p>
          <a:p>
            <a:pPr>
              <a:lnSpc>
                <a:spcPct val="80000"/>
              </a:lnSpc>
              <a:spcBef>
                <a:spcPct val="20000"/>
              </a:spcBef>
            </a:pPr>
            <a:endParaRPr lang="en-US" sz="2000" b="1" dirty="0">
              <a:latin typeface="Comic Sans MS" charset="0"/>
            </a:endParaRPr>
          </a:p>
          <a:p>
            <a:pPr>
              <a:lnSpc>
                <a:spcPct val="80000"/>
              </a:lnSpc>
              <a:spcBef>
                <a:spcPct val="20000"/>
              </a:spcBef>
            </a:pPr>
            <a:r>
              <a:rPr lang="en-US" sz="2000" b="1" dirty="0">
                <a:latin typeface="Comic Sans MS" charset="0"/>
              </a:rPr>
              <a:t>   public void </a:t>
            </a:r>
            <a:r>
              <a:rPr lang="en-US" sz="2000" b="1" dirty="0" err="1">
                <a:latin typeface="Comic Sans MS" charset="0"/>
              </a:rPr>
              <a:t>doTwo</a:t>
            </a:r>
            <a:r>
              <a:rPr lang="en-US" sz="2000" b="1" dirty="0">
                <a:latin typeface="Comic Sans MS" charset="0"/>
              </a:rPr>
              <a:t>() { … }</a:t>
            </a:r>
          </a:p>
          <a:p>
            <a:pPr>
              <a:lnSpc>
                <a:spcPct val="80000"/>
              </a:lnSpc>
              <a:spcBef>
                <a:spcPct val="20000"/>
              </a:spcBef>
            </a:pPr>
            <a:r>
              <a:rPr lang="en-US" sz="2000" b="1" dirty="0">
                <a:latin typeface="Comic Sans MS" charset="0"/>
              </a:rPr>
              <a:t>   public void </a:t>
            </a:r>
            <a:r>
              <a:rPr lang="en-US" sz="2000" b="1" dirty="0" err="1">
                <a:latin typeface="Comic Sans MS" charset="0"/>
              </a:rPr>
              <a:t>doThree</a:t>
            </a:r>
            <a:r>
              <a:rPr lang="en-US" sz="2000" b="1" dirty="0">
                <a:latin typeface="Comic Sans MS" charset="0"/>
              </a:rPr>
              <a:t>() { … }</a:t>
            </a:r>
          </a:p>
          <a:p>
            <a:pPr>
              <a:lnSpc>
                <a:spcPct val="80000"/>
              </a:lnSpc>
              <a:spcBef>
                <a:spcPct val="20000"/>
              </a:spcBef>
            </a:pPr>
            <a:endParaRPr lang="en-US" sz="2000" b="1" dirty="0">
              <a:latin typeface="Comic Sans MS" charset="0"/>
            </a:endParaRPr>
          </a:p>
          <a:p>
            <a:pPr>
              <a:lnSpc>
                <a:spcPct val="80000"/>
              </a:lnSpc>
              <a:spcBef>
                <a:spcPct val="20000"/>
              </a:spcBef>
            </a:pPr>
            <a:r>
              <a:rPr lang="en-US" sz="2000" b="1" dirty="0">
                <a:latin typeface="Comic Sans MS" charset="0"/>
              </a:rPr>
              <a:t>}</a:t>
            </a:r>
          </a:p>
        </p:txBody>
      </p:sp>
      <p:sp>
        <p:nvSpPr>
          <p:cNvPr id="3" name="Slide Number Placeholder 2"/>
          <p:cNvSpPr>
            <a:spLocks noGrp="1"/>
          </p:cNvSpPr>
          <p:nvPr>
            <p:ph type="sldNum" sz="quarter" idx="12"/>
          </p:nvPr>
        </p:nvSpPr>
        <p:spPr/>
        <p:txBody>
          <a:bodyPr/>
          <a:lstStyle/>
          <a:p>
            <a:fld id="{14F6F305-04E4-5E4D-BE4E-D65C3C550673}" type="slidenum">
              <a:rPr lang="en-US" smtClean="0"/>
              <a:pPr/>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4" name="Rectangle 2"/>
          <p:cNvSpPr>
            <a:spLocks noGrp="1" noChangeArrowheads="1"/>
          </p:cNvSpPr>
          <p:nvPr>
            <p:ph type="title"/>
          </p:nvPr>
        </p:nvSpPr>
        <p:spPr/>
        <p:txBody>
          <a:bodyPr/>
          <a:lstStyle/>
          <a:p>
            <a:r>
              <a:rPr lang="en-US"/>
              <a:t>Common interaction diagram notations:</a:t>
            </a:r>
            <a:br>
              <a:rPr lang="en-US"/>
            </a:br>
            <a:r>
              <a:rPr lang="en-US"/>
              <a:t>Classes and instances of classes</a:t>
            </a:r>
          </a:p>
        </p:txBody>
      </p:sp>
      <p:sp>
        <p:nvSpPr>
          <p:cNvPr id="30725"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normAutofit/>
          </a:bodyPr>
          <a:lstStyle/>
          <a:p>
            <a:pPr marL="190500" lvl="1" indent="0">
              <a:buNone/>
            </a:pPr>
            <a:r>
              <a:rPr lang="en-US" b="1" dirty="0">
                <a:highlight>
                  <a:srgbClr val="00FFFF"/>
                </a:highlight>
              </a:rPr>
              <a:t>Classes</a:t>
            </a:r>
            <a:r>
              <a:rPr lang="en-US" b="1" dirty="0"/>
              <a:t> and </a:t>
            </a:r>
            <a:r>
              <a:rPr lang="en-US" b="1" dirty="0">
                <a:highlight>
                  <a:srgbClr val="00FFFF"/>
                </a:highlight>
              </a:rPr>
              <a:t>instances</a:t>
            </a:r>
            <a:r>
              <a:rPr lang="en-US" b="1" dirty="0"/>
              <a:t> of classes</a:t>
            </a:r>
            <a:r>
              <a:rPr lang="en-GB" b="1" dirty="0"/>
              <a:t> </a:t>
            </a:r>
          </a:p>
          <a:p>
            <a:pPr lvl="1"/>
            <a:r>
              <a:rPr lang="en-GB" dirty="0"/>
              <a:t>Instances are shown as boxes with the class and </a:t>
            </a:r>
            <a:r>
              <a:rPr lang="en-GB" dirty="0">
                <a:highlight>
                  <a:srgbClr val="FFFF00"/>
                </a:highlight>
              </a:rPr>
              <a:t>object identifier underlined</a:t>
            </a:r>
          </a:p>
          <a:p>
            <a:pPr lvl="2"/>
            <a:r>
              <a:rPr lang="en-GB" dirty="0"/>
              <a:t>Format:  </a:t>
            </a:r>
            <a:r>
              <a:rPr lang="en-GB" dirty="0">
                <a:highlight>
                  <a:srgbClr val="00FF00"/>
                </a:highlight>
              </a:rPr>
              <a:t>object name</a:t>
            </a:r>
            <a:r>
              <a:rPr lang="en-GB" dirty="0"/>
              <a:t>: </a:t>
            </a:r>
            <a:r>
              <a:rPr lang="en-GB" dirty="0">
                <a:highlight>
                  <a:srgbClr val="00FF00"/>
                </a:highlight>
              </a:rPr>
              <a:t>class name</a:t>
            </a:r>
          </a:p>
          <a:p>
            <a:pPr lvl="2"/>
            <a:r>
              <a:rPr lang="en-GB" dirty="0"/>
              <a:t>All the parts except for the `: class name` are optional</a:t>
            </a:r>
          </a:p>
          <a:p>
            <a:pPr lvl="1"/>
            <a:r>
              <a:rPr lang="en-GB" dirty="0"/>
              <a:t> Classes are shown as boxes with the class name</a:t>
            </a:r>
          </a:p>
          <a:p>
            <a:pPr lvl="3"/>
            <a:r>
              <a:rPr lang="en-GB" dirty="0"/>
              <a:t>Not underlined</a:t>
            </a:r>
            <a:r>
              <a:rPr lang="en-US" dirty="0"/>
              <a:t> </a:t>
            </a:r>
          </a:p>
        </p:txBody>
      </p:sp>
      <p:grpSp>
        <p:nvGrpSpPr>
          <p:cNvPr id="30726" name="Group 11"/>
          <p:cNvGrpSpPr>
            <a:grpSpLocks/>
          </p:cNvGrpSpPr>
          <p:nvPr/>
        </p:nvGrpSpPr>
        <p:grpSpPr bwMode="auto">
          <a:xfrm>
            <a:off x="1143000" y="4286250"/>
            <a:ext cx="7215188" cy="1785938"/>
            <a:chOff x="1142976" y="3571876"/>
            <a:chExt cx="6826250" cy="1285875"/>
          </a:xfrm>
        </p:grpSpPr>
        <p:pic>
          <p:nvPicPr>
            <p:cNvPr id="30727" name="Content Placeholder 8" descr="Picture1.png"/>
            <p:cNvPicPr>
              <a:picLocks noChangeAspect="1"/>
            </p:cNvPicPr>
            <p:nvPr/>
          </p:nvPicPr>
          <p:blipFill>
            <a:blip r:embed="rId3">
              <a:extLst>
                <a:ext uri="{28A0092B-C50C-407E-A947-70E740481C1C}">
                  <a14:useLocalDpi xmlns:a14="http://schemas.microsoft.com/office/drawing/2010/main" val="0"/>
                </a:ext>
              </a:extLst>
            </a:blip>
            <a:srcRect b="69804"/>
            <a:stretch>
              <a:fillRect/>
            </a:stretch>
          </p:blipFill>
          <p:spPr bwMode="auto">
            <a:xfrm>
              <a:off x="1142976" y="3571876"/>
              <a:ext cx="6826250" cy="1285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30728" name="Straight Connector 10"/>
            <p:cNvCxnSpPr>
              <a:cxnSpLocks noChangeShapeType="1"/>
            </p:cNvCxnSpPr>
            <p:nvPr/>
          </p:nvCxnSpPr>
          <p:spPr bwMode="auto">
            <a:xfrm>
              <a:off x="1571601" y="4714876"/>
              <a:ext cx="357187" cy="15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cxnSp>
          <p:nvCxnSpPr>
            <p:cNvPr id="30729" name="Straight Connector 11"/>
            <p:cNvCxnSpPr>
              <a:cxnSpLocks noChangeShapeType="1"/>
            </p:cNvCxnSpPr>
            <p:nvPr/>
          </p:nvCxnSpPr>
          <p:spPr bwMode="auto">
            <a:xfrm>
              <a:off x="4000476" y="4714876"/>
              <a:ext cx="571500" cy="158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cxnSp>
        <p:sp>
          <p:nvSpPr>
            <p:cNvPr id="30730" name="Rectangle 8"/>
            <p:cNvSpPr>
              <a:spLocks noChangeArrowheads="1"/>
            </p:cNvSpPr>
            <p:nvPr/>
          </p:nvSpPr>
          <p:spPr bwMode="auto">
            <a:xfrm>
              <a:off x="6086451" y="4529139"/>
              <a:ext cx="1000125" cy="144462"/>
            </a:xfrm>
            <a:prstGeom prst="rect">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grpSp>
      <p:sp>
        <p:nvSpPr>
          <p:cNvPr id="4" name="Slide Number Placeholder 3"/>
          <p:cNvSpPr>
            <a:spLocks noGrp="1"/>
          </p:cNvSpPr>
          <p:nvPr>
            <p:ph type="sldNum" sz="quarter" idx="12"/>
          </p:nvPr>
        </p:nvSpPr>
        <p:spPr/>
        <p:txBody>
          <a:bodyPr/>
          <a:lstStyle/>
          <a:p>
            <a:fld id="{14F6F305-04E4-5E4D-BE4E-D65C3C550673}"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r>
              <a:rPr lang="en-US"/>
              <a:t>Common interaction diagram notations:</a:t>
            </a:r>
            <a:br>
              <a:rPr lang="en-US"/>
            </a:br>
            <a:r>
              <a:rPr lang="en-US"/>
              <a:t>Actors</a:t>
            </a:r>
          </a:p>
        </p:txBody>
      </p:sp>
      <p:sp>
        <p:nvSpPr>
          <p:cNvPr id="32773" name="Rectangle 3"/>
          <p:cNvSpPr>
            <a:spLocks noGrp="1" noChangeArrowheads="1"/>
          </p:cNvSpPr>
          <p:nvPr>
            <p:ph type="body" idx="1"/>
          </p:nvPr>
        </p:nvSpPr>
        <p:spPr/>
        <p:txBody>
          <a:bodyPr/>
          <a:lstStyle/>
          <a:p>
            <a:r>
              <a:rPr lang="en-US" dirty="0"/>
              <a:t>Actors</a:t>
            </a:r>
          </a:p>
          <a:p>
            <a:pPr lvl="1"/>
            <a:r>
              <a:rPr lang="en-GB" dirty="0"/>
              <a:t>Use the stick-person symbol as in use case diagrams</a:t>
            </a:r>
            <a:r>
              <a:rPr lang="en-US" dirty="0"/>
              <a:t> </a:t>
            </a:r>
          </a:p>
        </p:txBody>
      </p:sp>
      <p:grpSp>
        <p:nvGrpSpPr>
          <p:cNvPr id="32774" name="Group 9"/>
          <p:cNvGrpSpPr>
            <a:grpSpLocks/>
          </p:cNvGrpSpPr>
          <p:nvPr/>
        </p:nvGrpSpPr>
        <p:grpSpPr bwMode="auto">
          <a:xfrm>
            <a:off x="3643313" y="3143250"/>
            <a:ext cx="1000125" cy="1214438"/>
            <a:chOff x="3643306" y="3143248"/>
            <a:chExt cx="1000132" cy="1214446"/>
          </a:xfrm>
        </p:grpSpPr>
        <p:pic>
          <p:nvPicPr>
            <p:cNvPr id="32775" name="Picture 3"/>
            <p:cNvPicPr>
              <a:picLocks noChangeAspect="1" noChangeArrowheads="1"/>
            </p:cNvPicPr>
            <p:nvPr/>
          </p:nvPicPr>
          <p:blipFill>
            <a:blip r:embed="rId3">
              <a:extLst>
                <a:ext uri="{28A0092B-C50C-407E-A947-70E740481C1C}">
                  <a14:useLocalDpi xmlns:a14="http://schemas.microsoft.com/office/drawing/2010/main" val="0"/>
                </a:ext>
              </a:extLst>
            </a:blip>
            <a:srcRect l="3012" t="6670" r="84563" b="64987"/>
            <a:stretch>
              <a:fillRect/>
            </a:stretch>
          </p:blipFill>
          <p:spPr bwMode="auto">
            <a:xfrm>
              <a:off x="3643306" y="3143248"/>
              <a:ext cx="785818" cy="12144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useBgFill="1">
          <p:nvSpPr>
            <p:cNvPr id="32776" name="Rectangle 7"/>
            <p:cNvSpPr>
              <a:spLocks noChangeArrowheads="1"/>
            </p:cNvSpPr>
            <p:nvPr/>
          </p:nvSpPr>
          <p:spPr bwMode="auto">
            <a:xfrm>
              <a:off x="4214810" y="3929066"/>
              <a:ext cx="357190" cy="214314"/>
            </a:xfrm>
            <a:prstGeom prst="rect">
              <a:avLst/>
            </a:prstGeom>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useBgFill="1">
          <p:nvSpPr>
            <p:cNvPr id="32777" name="Rectangle 8"/>
            <p:cNvSpPr>
              <a:spLocks noChangeArrowheads="1"/>
            </p:cNvSpPr>
            <p:nvPr/>
          </p:nvSpPr>
          <p:spPr bwMode="auto">
            <a:xfrm>
              <a:off x="4286248" y="3429000"/>
              <a:ext cx="357190" cy="214314"/>
            </a:xfrm>
            <a:prstGeom prst="rect">
              <a:avLst/>
            </a:prstGeom>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4" name="Slide Number Placeholder 3"/>
          <p:cNvSpPr>
            <a:spLocks noGrp="1"/>
          </p:cNvSpPr>
          <p:nvPr>
            <p:ph type="sldNum" sz="quarter" idx="12"/>
          </p:nvPr>
        </p:nvSpPr>
        <p:spPr/>
        <p:txBody>
          <a:bodyPr/>
          <a:lstStyle/>
          <a:p>
            <a:fld id="{14F6F305-04E4-5E4D-BE4E-D65C3C550673}"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latin typeface="Arial" charset="0"/>
                <a:ea typeface="ＭＳ Ｐゴシック" charset="0"/>
                <a:cs typeface="ＭＳ Ｐゴシック" charset="0"/>
              </a:rPr>
              <a:t>Common interaction diagram notations:</a:t>
            </a:r>
            <a:br>
              <a:rPr lang="en-US">
                <a:latin typeface="Arial" charset="0"/>
                <a:ea typeface="ＭＳ Ｐゴシック" charset="0"/>
                <a:cs typeface="ＭＳ Ｐゴシック" charset="0"/>
              </a:rPr>
            </a:br>
            <a:r>
              <a:rPr lang="en-US">
                <a:latin typeface="Arial" charset="0"/>
                <a:ea typeface="ＭＳ Ｐゴシック" charset="0"/>
                <a:cs typeface="ＭＳ Ｐゴシック" charset="0"/>
              </a:rPr>
              <a:t>Messages</a:t>
            </a:r>
            <a:endParaRPr lang="tr-TR">
              <a:latin typeface="Arial" charset="0"/>
              <a:ea typeface="ＭＳ Ｐゴシック" charset="0"/>
              <a:cs typeface="ＭＳ Ｐゴシック" charset="0"/>
            </a:endParaRPr>
          </a:p>
        </p:txBody>
      </p:sp>
      <p:sp>
        <p:nvSpPr>
          <p:cNvPr id="34821" name="Content Placeholder 12"/>
          <p:cNvSpPr>
            <a:spLocks noGrp="1"/>
          </p:cNvSpPr>
          <p:nvPr>
            <p:ph idx="1"/>
          </p:nvPr>
        </p:nvSpPr>
        <p:spPr>
          <a:xfrm>
            <a:off x="642938" y="1357313"/>
            <a:ext cx="8077200" cy="4800600"/>
          </a:xfrm>
        </p:spPr>
        <p:txBody>
          <a:bodyPr/>
          <a:lstStyle/>
          <a:p>
            <a:pPr algn="just"/>
            <a:r>
              <a:rPr lang="en-GB" sz="2000" dirty="0">
                <a:highlight>
                  <a:srgbClr val="00FF00"/>
                </a:highlight>
                <a:latin typeface="Times" charset="0"/>
                <a:ea typeface="ＭＳ Ｐゴシック" charset="0"/>
                <a:cs typeface="Times" charset="0"/>
              </a:rPr>
              <a:t>A message is represented as an arrow between activation boxes of the sender and receiver</a:t>
            </a:r>
          </a:p>
          <a:p>
            <a:pPr algn="just"/>
            <a:endParaRPr lang="en-US" sz="2000" dirty="0">
              <a:latin typeface="Times" charset="0"/>
              <a:ea typeface="ＭＳ Ｐゴシック" charset="0"/>
              <a:cs typeface="ＭＳ Ｐゴシック" charset="0"/>
            </a:endParaRPr>
          </a:p>
          <a:p>
            <a:pPr>
              <a:buFontTx/>
              <a:buChar char="•"/>
            </a:pPr>
            <a:r>
              <a:rPr lang="en-US" sz="2000" dirty="0">
                <a:latin typeface="Times" charset="0"/>
                <a:ea typeface="ＭＳ Ｐゴシック" charset="0"/>
                <a:cs typeface="ＭＳ Ｐゴシック" charset="0"/>
              </a:rPr>
              <a:t> Message Format</a:t>
            </a:r>
          </a:p>
          <a:p>
            <a:pPr lvl="1"/>
            <a:r>
              <a:rPr lang="tr-TR" sz="2000" dirty="0">
                <a:latin typeface="Comic Sans MS" charset="0"/>
                <a:ea typeface="ＭＳ Ｐゴシック" charset="0"/>
              </a:rPr>
              <a:t>return = </a:t>
            </a:r>
            <a:r>
              <a:rPr lang="tr-TR" sz="2000" dirty="0" err="1">
                <a:latin typeface="Comic Sans MS" charset="0"/>
                <a:ea typeface="ＭＳ Ｐゴシック" charset="0"/>
              </a:rPr>
              <a:t>message</a:t>
            </a:r>
            <a:r>
              <a:rPr lang="tr-TR" sz="2000" dirty="0">
                <a:latin typeface="Comic Sans MS" charset="0"/>
                <a:ea typeface="ＭＳ Ｐゴシック" charset="0"/>
              </a:rPr>
              <a:t>(parameter : </a:t>
            </a:r>
            <a:r>
              <a:rPr lang="tr-TR" sz="2000" dirty="0" err="1">
                <a:latin typeface="Comic Sans MS" charset="0"/>
                <a:ea typeface="ＭＳ Ｐゴシック" charset="0"/>
              </a:rPr>
              <a:t>parameterType</a:t>
            </a:r>
            <a:r>
              <a:rPr lang="en-US" sz="2000" dirty="0">
                <a:latin typeface="Comic Sans MS" charset="0"/>
                <a:ea typeface="ＭＳ Ｐゴシック" charset="0"/>
              </a:rPr>
              <a:t>, …</a:t>
            </a:r>
            <a:r>
              <a:rPr lang="tr-TR" sz="2000" dirty="0">
                <a:latin typeface="Comic Sans MS" charset="0"/>
                <a:ea typeface="ＭＳ Ｐゴシック" charset="0"/>
              </a:rPr>
              <a:t>) : </a:t>
            </a:r>
            <a:r>
              <a:rPr lang="tr-TR" sz="2000" dirty="0" err="1">
                <a:latin typeface="Comic Sans MS" charset="0"/>
                <a:ea typeface="ＭＳ Ｐゴシック" charset="0"/>
              </a:rPr>
              <a:t>returnType</a:t>
            </a:r>
            <a:endParaRPr lang="tr-TR" sz="2000" dirty="0">
              <a:latin typeface="Comic Sans MS" charset="0"/>
              <a:ea typeface="ＭＳ Ｐゴシック" charset="0"/>
            </a:endParaRPr>
          </a:p>
          <a:p>
            <a:pPr marL="190500" lvl="1" indent="0">
              <a:buNone/>
            </a:pPr>
            <a:endParaRPr lang="en-US" sz="2000" dirty="0">
              <a:latin typeface="Times" charset="0"/>
              <a:ea typeface="ＭＳ Ｐゴシック" charset="0"/>
              <a:cs typeface="ＭＳ Ｐゴシック" charset="0"/>
            </a:endParaRPr>
          </a:p>
          <a:p>
            <a:pPr>
              <a:buFontTx/>
              <a:buChar char="•"/>
            </a:pPr>
            <a:r>
              <a:rPr lang="en-US" sz="2000" dirty="0">
                <a:latin typeface="Times" charset="0"/>
                <a:ea typeface="ＭＳ Ｐゴシック" charset="0"/>
                <a:cs typeface="ＭＳ Ｐゴシック" charset="0"/>
              </a:rPr>
              <a:t> </a:t>
            </a:r>
            <a:r>
              <a:rPr lang="tr-TR" sz="2000" dirty="0">
                <a:latin typeface="Times" charset="0"/>
                <a:ea typeface="ＭＳ Ｐゴシック" charset="0"/>
                <a:cs typeface="ＭＳ Ｐゴシック" charset="0"/>
              </a:rPr>
              <a:t> </a:t>
            </a:r>
            <a:r>
              <a:rPr lang="en-US" sz="2000" dirty="0">
                <a:latin typeface="Times" charset="0"/>
                <a:ea typeface="ＭＳ Ｐゴシック" charset="0"/>
                <a:cs typeface="ＭＳ Ｐゴシック" charset="0"/>
              </a:rPr>
              <a:t>All the parts except for the </a:t>
            </a:r>
            <a:r>
              <a:rPr lang="ja-JP" altLang="en-US" sz="2000" dirty="0">
                <a:latin typeface="Times" charset="0"/>
                <a:ea typeface="ＭＳ Ｐゴシック" charset="0"/>
                <a:cs typeface="ＭＳ Ｐゴシック" charset="0"/>
              </a:rPr>
              <a:t>‘</a:t>
            </a:r>
            <a:r>
              <a:rPr lang="en-US" sz="2000" dirty="0">
                <a:latin typeface="Times" charset="0"/>
                <a:ea typeface="ＭＳ Ｐゴシック" charset="0"/>
                <a:cs typeface="ＭＳ Ｐゴシック" charset="0"/>
              </a:rPr>
              <a:t>message</a:t>
            </a:r>
            <a:r>
              <a:rPr lang="ja-JP" altLang="en-US" sz="2000" dirty="0">
                <a:latin typeface="Times" charset="0"/>
                <a:ea typeface="ＭＳ Ｐゴシック" charset="0"/>
                <a:cs typeface="ＭＳ Ｐゴシック" charset="0"/>
              </a:rPr>
              <a:t>’</a:t>
            </a:r>
            <a:r>
              <a:rPr lang="en-US" sz="2000" dirty="0">
                <a:latin typeface="Times" charset="0"/>
                <a:ea typeface="ＭＳ Ｐゴシック" charset="0"/>
                <a:cs typeface="ＭＳ Ｐゴシック" charset="0"/>
              </a:rPr>
              <a:t> part are optional, e.g.,</a:t>
            </a:r>
          </a:p>
          <a:p>
            <a:pPr lvl="1"/>
            <a:r>
              <a:rPr lang="tr-TR" sz="2000" dirty="0" err="1">
                <a:latin typeface="Comic Sans MS" charset="0"/>
                <a:ea typeface="ＭＳ Ｐゴシック" charset="0"/>
              </a:rPr>
              <a:t>initialize</a:t>
            </a:r>
            <a:r>
              <a:rPr lang="tr-TR" sz="2000" dirty="0">
                <a:latin typeface="Comic Sans MS" charset="0"/>
                <a:ea typeface="ＭＳ Ｐゴシック" charset="0"/>
              </a:rPr>
              <a:t> </a:t>
            </a:r>
            <a:endParaRPr lang="en-US" sz="2000" dirty="0">
              <a:latin typeface="Comic Sans MS" charset="0"/>
              <a:ea typeface="ＭＳ Ｐゴシック" charset="0"/>
            </a:endParaRPr>
          </a:p>
          <a:p>
            <a:pPr lvl="1"/>
            <a:r>
              <a:rPr lang="tr-TR" sz="2000" dirty="0" err="1">
                <a:latin typeface="Comic Sans MS" charset="0"/>
                <a:ea typeface="ＭＳ Ｐゴシック" charset="0"/>
              </a:rPr>
              <a:t>initialize</a:t>
            </a:r>
            <a:r>
              <a:rPr lang="tr-TR" sz="2000" dirty="0">
                <a:latin typeface="Comic Sans MS" charset="0"/>
                <a:ea typeface="ＭＳ Ｐゴシック" charset="0"/>
              </a:rPr>
              <a:t>(</a:t>
            </a:r>
            <a:r>
              <a:rPr lang="tr-TR" sz="2000" dirty="0" err="1">
                <a:latin typeface="Comic Sans MS" charset="0"/>
                <a:ea typeface="ＭＳ Ｐゴシック" charset="0"/>
              </a:rPr>
              <a:t>code</a:t>
            </a:r>
            <a:r>
              <a:rPr lang="tr-TR" sz="2000" dirty="0">
                <a:latin typeface="Comic Sans MS" charset="0"/>
                <a:ea typeface="ＭＳ Ｐゴシック" charset="0"/>
              </a:rPr>
              <a:t>) </a:t>
            </a:r>
            <a:endParaRPr lang="en-US" sz="2000" dirty="0">
              <a:latin typeface="Comic Sans MS" charset="0"/>
              <a:ea typeface="ＭＳ Ｐゴシック" charset="0"/>
            </a:endParaRPr>
          </a:p>
          <a:p>
            <a:pPr lvl="1"/>
            <a:r>
              <a:rPr lang="tr-TR" sz="2000" dirty="0">
                <a:latin typeface="Comic Sans MS" charset="0"/>
                <a:ea typeface="ＭＳ Ｐゴシック" charset="0"/>
              </a:rPr>
              <a:t>d = </a:t>
            </a:r>
            <a:r>
              <a:rPr lang="tr-TR" sz="2000" dirty="0" err="1">
                <a:latin typeface="Comic Sans MS" charset="0"/>
                <a:ea typeface="ＭＳ Ｐゴシック" charset="0"/>
              </a:rPr>
              <a:t>getProductDescription</a:t>
            </a:r>
            <a:r>
              <a:rPr lang="tr-TR" sz="2000" dirty="0">
                <a:latin typeface="Comic Sans MS" charset="0"/>
                <a:ea typeface="ＭＳ Ｐゴシック" charset="0"/>
              </a:rPr>
              <a:t>(</a:t>
            </a:r>
            <a:r>
              <a:rPr lang="tr-TR" sz="2000" dirty="0" err="1">
                <a:latin typeface="Comic Sans MS" charset="0"/>
                <a:ea typeface="ＭＳ Ｐゴシック" charset="0"/>
              </a:rPr>
              <a:t>id</a:t>
            </a:r>
            <a:r>
              <a:rPr lang="tr-TR" sz="2000" dirty="0">
                <a:latin typeface="Comic Sans MS" charset="0"/>
                <a:ea typeface="ＭＳ Ｐゴシック" charset="0"/>
              </a:rPr>
              <a:t>) </a:t>
            </a:r>
            <a:endParaRPr lang="en-US" sz="2000" dirty="0">
              <a:latin typeface="Comic Sans MS" charset="0"/>
              <a:ea typeface="ＭＳ Ｐゴシック" charset="0"/>
            </a:endParaRPr>
          </a:p>
          <a:p>
            <a:pPr lvl="1"/>
            <a:r>
              <a:rPr lang="tr-TR" sz="2000" dirty="0">
                <a:latin typeface="Comic Sans MS" charset="0"/>
                <a:ea typeface="ＭＳ Ｐゴシック" charset="0"/>
              </a:rPr>
              <a:t>d = </a:t>
            </a:r>
            <a:r>
              <a:rPr lang="tr-TR" sz="2000" dirty="0" err="1">
                <a:latin typeface="Comic Sans MS" charset="0"/>
                <a:ea typeface="ＭＳ Ｐゴシック" charset="0"/>
              </a:rPr>
              <a:t>getProductDescription</a:t>
            </a:r>
            <a:r>
              <a:rPr lang="tr-TR" sz="2000" dirty="0">
                <a:latin typeface="Comic Sans MS" charset="0"/>
                <a:ea typeface="ＭＳ Ｐゴシック" charset="0"/>
              </a:rPr>
              <a:t>(</a:t>
            </a:r>
            <a:r>
              <a:rPr lang="tr-TR" sz="2000" dirty="0" err="1">
                <a:latin typeface="Comic Sans MS" charset="0"/>
                <a:ea typeface="ＭＳ Ｐゴシック" charset="0"/>
              </a:rPr>
              <a:t>id:ItemID</a:t>
            </a:r>
            <a:r>
              <a:rPr lang="tr-TR" sz="2000" dirty="0">
                <a:latin typeface="Comic Sans MS" charset="0"/>
                <a:ea typeface="ＭＳ Ｐゴシック" charset="0"/>
              </a:rPr>
              <a:t>) </a:t>
            </a:r>
            <a:endParaRPr lang="en-US" sz="2000" dirty="0">
              <a:latin typeface="Comic Sans MS" charset="0"/>
              <a:ea typeface="ＭＳ Ｐゴシック" charset="0"/>
            </a:endParaRPr>
          </a:p>
          <a:p>
            <a:pPr lvl="1"/>
            <a:r>
              <a:rPr lang="tr-TR" sz="2000" dirty="0">
                <a:latin typeface="Comic Sans MS" charset="0"/>
                <a:ea typeface="ＭＳ Ｐゴシック" charset="0"/>
              </a:rPr>
              <a:t>d = </a:t>
            </a:r>
            <a:r>
              <a:rPr lang="tr-TR" sz="2000" dirty="0" err="1">
                <a:latin typeface="Comic Sans MS" charset="0"/>
                <a:ea typeface="ＭＳ Ｐゴシック" charset="0"/>
              </a:rPr>
              <a:t>getProductDescription</a:t>
            </a:r>
            <a:r>
              <a:rPr lang="tr-TR" sz="2000" dirty="0">
                <a:latin typeface="Comic Sans MS" charset="0"/>
                <a:ea typeface="ＭＳ Ｐゴシック" charset="0"/>
              </a:rPr>
              <a:t>(</a:t>
            </a:r>
            <a:r>
              <a:rPr lang="tr-TR" sz="2000" dirty="0" err="1">
                <a:latin typeface="Comic Sans MS" charset="0"/>
                <a:ea typeface="ＭＳ Ｐゴシック" charset="0"/>
              </a:rPr>
              <a:t>id:ItemID</a:t>
            </a:r>
            <a:r>
              <a:rPr lang="tr-TR" sz="2000" dirty="0">
                <a:latin typeface="Comic Sans MS" charset="0"/>
                <a:ea typeface="ＭＳ Ｐゴシック" charset="0"/>
              </a:rPr>
              <a:t>) : </a:t>
            </a:r>
            <a:r>
              <a:rPr lang="tr-TR" sz="2000" dirty="0" err="1">
                <a:latin typeface="Comic Sans MS" charset="0"/>
                <a:ea typeface="ＭＳ Ｐゴシック" charset="0"/>
              </a:rPr>
              <a:t>ProductDescription</a:t>
            </a:r>
            <a:r>
              <a:rPr lang="tr-TR" sz="2000" dirty="0">
                <a:latin typeface="Comic Sans MS" charset="0"/>
                <a:ea typeface="ＭＳ Ｐゴシック" charset="0"/>
              </a:rPr>
              <a:t> </a:t>
            </a:r>
            <a:endParaRPr lang="en-US" sz="2000" dirty="0">
              <a:latin typeface="Comic Sans MS" charset="0"/>
              <a:ea typeface="ＭＳ Ｐゴシック" charset="0"/>
            </a:endParaRPr>
          </a:p>
          <a:p>
            <a:pPr>
              <a:buFontTx/>
              <a:buChar char="•"/>
            </a:pPr>
            <a:endParaRPr lang="en-US" sz="2000" dirty="0">
              <a:latin typeface="Times" charset="0"/>
              <a:ea typeface="ＭＳ Ｐゴシック" charset="0"/>
              <a:cs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Lifelines, messages, </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found</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 or </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starting</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 messages</a:t>
            </a:r>
          </a:p>
        </p:txBody>
      </p:sp>
      <p:graphicFrame>
        <p:nvGraphicFramePr>
          <p:cNvPr id="36866" name="Object 2"/>
          <p:cNvGraphicFramePr>
            <a:graphicFrameLocks noGrp="1" noChangeAspect="1"/>
          </p:cNvGraphicFramePr>
          <p:nvPr>
            <p:ph idx="1"/>
          </p:nvPr>
        </p:nvGraphicFramePr>
        <p:xfrm>
          <a:off x="500063" y="1233488"/>
          <a:ext cx="8215312" cy="5253037"/>
        </p:xfrm>
        <a:graphic>
          <a:graphicData uri="http://schemas.openxmlformats.org/presentationml/2006/ole">
            <mc:AlternateContent xmlns:mc="http://schemas.openxmlformats.org/markup-compatibility/2006">
              <mc:Choice xmlns:v="urn:schemas-microsoft-com:vml" Requires="v">
                <p:oleObj name="Visio" r:id="rId3" imgW="4798440" imgH="3068640" progId="Visio.Drawing.11">
                  <p:embed/>
                </p:oleObj>
              </mc:Choice>
              <mc:Fallback>
                <p:oleObj name="Visio" r:id="rId3" imgW="4798440" imgH="306864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0063" y="1233488"/>
                        <a:ext cx="8215312" cy="5253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Illustrating replies or return Values</a:t>
            </a:r>
          </a:p>
        </p:txBody>
      </p:sp>
      <p:graphicFrame>
        <p:nvGraphicFramePr>
          <p:cNvPr id="38914" name="Object 2"/>
          <p:cNvGraphicFramePr>
            <a:graphicFrameLocks noGrp="1" noChangeAspect="1"/>
          </p:cNvGraphicFramePr>
          <p:nvPr>
            <p:ph idx="1"/>
          </p:nvPr>
        </p:nvGraphicFramePr>
        <p:xfrm>
          <a:off x="428625" y="1000125"/>
          <a:ext cx="8229600" cy="3573463"/>
        </p:xfrm>
        <a:graphic>
          <a:graphicData uri="http://schemas.openxmlformats.org/presentationml/2006/ole">
            <mc:AlternateContent xmlns:mc="http://schemas.openxmlformats.org/markup-compatibility/2006">
              <mc:Choice xmlns:v="urn:schemas-microsoft-com:vml" Requires="v">
                <p:oleObj name="Visio" r:id="rId3" imgW="3782520" imgH="1643760" progId="Visio.Drawing.11">
                  <p:embed/>
                </p:oleObj>
              </mc:Choice>
              <mc:Fallback>
                <p:oleObj name="Visio" r:id="rId3" imgW="3782520" imgH="16437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1000125"/>
                        <a:ext cx="8229600" cy="3573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8916" name="Rectangle 5"/>
          <p:cNvSpPr>
            <a:spLocks noChangeArrowheads="1"/>
          </p:cNvSpPr>
          <p:nvPr/>
        </p:nvSpPr>
        <p:spPr bwMode="auto">
          <a:xfrm>
            <a:off x="457200" y="4648200"/>
            <a:ext cx="8686800" cy="147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10000"/>
          </a:bodyPr>
          <a:lstStyle/>
          <a:p>
            <a:pPr marL="342900" indent="-342900">
              <a:spcBef>
                <a:spcPct val="20000"/>
              </a:spcBef>
            </a:pPr>
            <a:r>
              <a:rPr lang="en-US" b="1" dirty="0">
                <a:latin typeface="+mn-lt"/>
                <a:ea typeface="ＭＳ Ｐゴシック" pitchFamily="-1" charset="-128"/>
                <a:cs typeface="ＭＳ Ｐゴシック" pitchFamily="-1" charset="-128"/>
              </a:rPr>
              <a:t>Two alternatives</a:t>
            </a:r>
          </a:p>
          <a:p>
            <a:pPr marL="342900" indent="-342900">
              <a:spcBef>
                <a:spcPct val="20000"/>
              </a:spcBef>
            </a:pPr>
            <a:r>
              <a:rPr lang="en-US" b="1" dirty="0">
                <a:latin typeface="+mn-lt"/>
                <a:ea typeface="ＭＳ Ｐゴシック" pitchFamily="-1" charset="-128"/>
                <a:cs typeface="ＭＳ Ｐゴシック" pitchFamily="-1" charset="-128"/>
              </a:rPr>
              <a:t>Using the message syntax</a:t>
            </a:r>
            <a:br>
              <a:rPr lang="en-US" b="1" dirty="0">
                <a:latin typeface="+mn-lt"/>
                <a:ea typeface="ＭＳ Ｐゴシック" pitchFamily="-1" charset="-128"/>
                <a:cs typeface="ＭＳ Ｐゴシック" pitchFamily="-1" charset="-128"/>
              </a:rPr>
            </a:br>
            <a:r>
              <a:rPr lang="tr-TR" dirty="0">
                <a:latin typeface="Comic Sans MS" charset="0"/>
                <a:ea typeface="Comic Sans MS" charset="0"/>
                <a:cs typeface="Comic Sans MS" charset="0"/>
              </a:rPr>
              <a:t>return = </a:t>
            </a:r>
            <a:r>
              <a:rPr lang="tr-TR" dirty="0" err="1">
                <a:latin typeface="Comic Sans MS" charset="0"/>
                <a:ea typeface="Comic Sans MS" charset="0"/>
                <a:cs typeface="Comic Sans MS" charset="0"/>
              </a:rPr>
              <a:t>message</a:t>
            </a:r>
            <a:r>
              <a:rPr lang="tr-TR" dirty="0">
                <a:latin typeface="Comic Sans MS" charset="0"/>
                <a:ea typeface="Comic Sans MS" charset="0"/>
                <a:cs typeface="Comic Sans MS" charset="0"/>
              </a:rPr>
              <a:t>(parameter : </a:t>
            </a:r>
            <a:r>
              <a:rPr lang="tr-TR" dirty="0" err="1">
                <a:latin typeface="Comic Sans MS" charset="0"/>
                <a:ea typeface="Comic Sans MS" charset="0"/>
                <a:cs typeface="Comic Sans MS" charset="0"/>
              </a:rPr>
              <a:t>parameterType</a:t>
            </a:r>
            <a:r>
              <a:rPr lang="en-US" dirty="0">
                <a:latin typeface="Comic Sans MS" charset="0"/>
                <a:ea typeface="Comic Sans MS" charset="0"/>
                <a:cs typeface="Comic Sans MS" charset="0"/>
              </a:rPr>
              <a:t>, …</a:t>
            </a:r>
            <a:r>
              <a:rPr lang="tr-TR" dirty="0">
                <a:latin typeface="Comic Sans MS" charset="0"/>
                <a:ea typeface="Comic Sans MS" charset="0"/>
                <a:cs typeface="Comic Sans MS" charset="0"/>
              </a:rPr>
              <a:t>) : </a:t>
            </a:r>
            <a:r>
              <a:rPr lang="tr-TR" dirty="0" err="1">
                <a:latin typeface="Comic Sans MS" charset="0"/>
                <a:ea typeface="Comic Sans MS" charset="0"/>
                <a:cs typeface="Comic Sans MS" charset="0"/>
              </a:rPr>
              <a:t>returnType</a:t>
            </a:r>
            <a:endParaRPr lang="en-US" dirty="0">
              <a:latin typeface="Comic Sans MS" charset="0"/>
              <a:ea typeface="Comic Sans MS" charset="0"/>
              <a:cs typeface="Comic Sans MS" charset="0"/>
            </a:endParaRPr>
          </a:p>
          <a:p>
            <a:pPr marL="342900" indent="-342900">
              <a:spcBef>
                <a:spcPct val="20000"/>
              </a:spcBef>
            </a:pPr>
            <a:r>
              <a:rPr lang="en-US" b="1" dirty="0">
                <a:highlight>
                  <a:srgbClr val="FFFF00"/>
                </a:highlight>
                <a:latin typeface="+mn-lt"/>
                <a:ea typeface="ＭＳ Ｐゴシック" pitchFamily="-1" charset="-128"/>
                <a:cs typeface="ＭＳ Ｐゴシック" pitchFamily="-1" charset="-128"/>
              </a:rPr>
              <a:t>Use a reply or return message at the end of an activation bar</a:t>
            </a:r>
          </a:p>
        </p:txBody>
      </p:sp>
      <p:sp>
        <p:nvSpPr>
          <p:cNvPr id="2" name="Slide Number Placeholder 1"/>
          <p:cNvSpPr>
            <a:spLocks noGrp="1"/>
          </p:cNvSpPr>
          <p:nvPr>
            <p:ph type="sldNum" sz="quarter" idx="12"/>
          </p:nvPr>
        </p:nvSpPr>
        <p:spPr/>
        <p:txBody>
          <a:bodyPr/>
          <a:lstStyle/>
          <a:p>
            <a:fld id="{14F6F305-04E4-5E4D-BE4E-D65C3C550673}"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Messages to </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self</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 or </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this</a:t>
            </a:r>
            <a:r>
              <a:rPr lang="ja-JP" altLang="en-US">
                <a:latin typeface="Arial" charset="0"/>
                <a:ea typeface="ＭＳ Ｐゴシック" charset="0"/>
                <a:cs typeface="ＭＳ Ｐゴシック" charset="0"/>
              </a:rPr>
              <a:t>”</a:t>
            </a:r>
            <a:endParaRPr lang="en-US">
              <a:latin typeface="Arial" charset="0"/>
              <a:ea typeface="ＭＳ Ｐゴシック" charset="0"/>
              <a:cs typeface="ＭＳ Ｐゴシック" charset="0"/>
            </a:endParaRPr>
          </a:p>
        </p:txBody>
      </p:sp>
      <p:graphicFrame>
        <p:nvGraphicFramePr>
          <p:cNvPr id="40962" name="Object 2"/>
          <p:cNvGraphicFramePr>
            <a:graphicFrameLocks noGrp="1" noChangeAspect="1"/>
          </p:cNvGraphicFramePr>
          <p:nvPr>
            <p:ph idx="1"/>
          </p:nvPr>
        </p:nvGraphicFramePr>
        <p:xfrm>
          <a:off x="990600" y="1087438"/>
          <a:ext cx="7086600" cy="5070475"/>
        </p:xfrm>
        <a:graphic>
          <a:graphicData uri="http://schemas.openxmlformats.org/presentationml/2006/ole">
            <mc:AlternateContent xmlns:mc="http://schemas.openxmlformats.org/markup-compatibility/2006">
              <mc:Choice xmlns:v="urn:schemas-microsoft-com:vml" Requires="v">
                <p:oleObj name="Visio" r:id="rId3" imgW="1858320" imgH="1330560" progId="Visio.Drawing.11">
                  <p:embed/>
                </p:oleObj>
              </mc:Choice>
              <mc:Fallback>
                <p:oleObj name="Visio" r:id="rId3" imgW="1858320" imgH="13305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087438"/>
                        <a:ext cx="7086600" cy="5070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Instance creation</a:t>
            </a:r>
          </a:p>
        </p:txBody>
      </p:sp>
      <p:graphicFrame>
        <p:nvGraphicFramePr>
          <p:cNvPr id="43010" name="Object 2"/>
          <p:cNvGraphicFramePr>
            <a:graphicFrameLocks noGrp="1" noChangeAspect="1"/>
          </p:cNvGraphicFramePr>
          <p:nvPr>
            <p:ph idx="1"/>
          </p:nvPr>
        </p:nvGraphicFramePr>
        <p:xfrm>
          <a:off x="0" y="1295400"/>
          <a:ext cx="9144000" cy="4425950"/>
        </p:xfrm>
        <a:graphic>
          <a:graphicData uri="http://schemas.openxmlformats.org/presentationml/2006/ole">
            <mc:AlternateContent xmlns:mc="http://schemas.openxmlformats.org/markup-compatibility/2006">
              <mc:Choice xmlns:v="urn:schemas-microsoft-com:vml" Requires="v">
                <p:oleObj name="Visio" r:id="rId3" imgW="5244480" imgH="2538360" progId="Visio.Drawing.11">
                  <p:embed/>
                </p:oleObj>
              </mc:Choice>
              <mc:Fallback>
                <p:oleObj name="Visio" r:id="rId3" imgW="5244480" imgH="25383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5400"/>
                        <a:ext cx="9144000" cy="4425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13</a:t>
            </a:fld>
            <a:endParaRPr lang="en-US"/>
          </a:p>
        </p:txBody>
      </p:sp>
      <p:pic>
        <p:nvPicPr>
          <p:cNvPr id="4" name="Picture 3">
            <a:extLst>
              <a:ext uri="{FF2B5EF4-FFF2-40B4-BE49-F238E27FC236}">
                <a16:creationId xmlns:a16="http://schemas.microsoft.com/office/drawing/2014/main" id="{43A09396-315C-8348-BE35-813482691E14}"/>
              </a:ext>
            </a:extLst>
          </p:cNvPr>
          <p:cNvPicPr>
            <a:picLocks noChangeAspect="1"/>
          </p:cNvPicPr>
          <p:nvPr/>
        </p:nvPicPr>
        <p:blipFill>
          <a:blip r:embed="rId5"/>
          <a:stretch>
            <a:fillRect/>
          </a:stretch>
        </p:blipFill>
        <p:spPr>
          <a:xfrm>
            <a:off x="7164288" y="3180697"/>
            <a:ext cx="184225" cy="24830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Yet another example</a:t>
            </a:r>
          </a:p>
        </p:txBody>
      </p:sp>
      <p:graphicFrame>
        <p:nvGraphicFramePr>
          <p:cNvPr id="45058" name="Object 2"/>
          <p:cNvGraphicFramePr>
            <a:graphicFrameLocks noGrp="1" noChangeAspect="1"/>
          </p:cNvGraphicFramePr>
          <p:nvPr>
            <p:ph idx="1"/>
          </p:nvPr>
        </p:nvGraphicFramePr>
        <p:xfrm>
          <a:off x="457200" y="1066800"/>
          <a:ext cx="8229600" cy="2049463"/>
        </p:xfrm>
        <a:graphic>
          <a:graphicData uri="http://schemas.openxmlformats.org/presentationml/2006/ole">
            <mc:AlternateContent xmlns:mc="http://schemas.openxmlformats.org/markup-compatibility/2006">
              <mc:Choice xmlns:v="urn:schemas-microsoft-com:vml" Requires="v">
                <p:oleObj name="Visio" r:id="rId3" imgW="6942600" imgH="1728360" progId="Visio.Drawing.11">
                  <p:embed/>
                </p:oleObj>
              </mc:Choice>
              <mc:Fallback>
                <p:oleObj name="Visio" r:id="rId3" imgW="6942600" imgH="17283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066800"/>
                        <a:ext cx="8229600" cy="2049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5060" name="Rectangle 5"/>
          <p:cNvSpPr>
            <a:spLocks noChangeArrowheads="1"/>
          </p:cNvSpPr>
          <p:nvPr/>
        </p:nvSpPr>
        <p:spPr bwMode="auto">
          <a:xfrm>
            <a:off x="1357313" y="3500438"/>
            <a:ext cx="8229600" cy="2895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2000" b="1" dirty="0">
                <a:latin typeface="Comic Sans MS" charset="0"/>
              </a:rPr>
              <a:t>public class Sale {</a:t>
            </a:r>
          </a:p>
          <a:p>
            <a:pPr marL="342900" indent="-342900">
              <a:lnSpc>
                <a:spcPct val="80000"/>
              </a:lnSpc>
              <a:spcBef>
                <a:spcPct val="20000"/>
              </a:spcBef>
            </a:pPr>
            <a:endParaRPr lang="en-US" sz="2000" b="1" dirty="0">
              <a:latin typeface="Comic Sans MS" charset="0"/>
            </a:endParaRPr>
          </a:p>
          <a:p>
            <a:pPr marL="342900" indent="-342900">
              <a:lnSpc>
                <a:spcPct val="80000"/>
              </a:lnSpc>
              <a:spcBef>
                <a:spcPct val="20000"/>
              </a:spcBef>
            </a:pPr>
            <a:r>
              <a:rPr lang="en-US" sz="2000" b="1" dirty="0">
                <a:latin typeface="Comic Sans MS" charset="0"/>
              </a:rPr>
              <a:t>	public void </a:t>
            </a:r>
            <a:r>
              <a:rPr lang="en-US" sz="2000" b="1" dirty="0" err="1">
                <a:latin typeface="Comic Sans MS" charset="0"/>
              </a:rPr>
              <a:t>makePayment</a:t>
            </a:r>
            <a:r>
              <a:rPr lang="en-US" sz="2000" b="1" dirty="0">
                <a:latin typeface="Comic Sans MS" charset="0"/>
              </a:rPr>
              <a:t>(Money </a:t>
            </a:r>
            <a:r>
              <a:rPr lang="en-US" sz="2000" b="1" dirty="0" err="1">
                <a:latin typeface="Comic Sans MS" charset="0"/>
              </a:rPr>
              <a:t>cashTendered</a:t>
            </a:r>
            <a:r>
              <a:rPr lang="en-US" sz="2000" b="1" dirty="0">
                <a:latin typeface="Comic Sans MS" charset="0"/>
              </a:rPr>
              <a:t>) {</a:t>
            </a:r>
          </a:p>
          <a:p>
            <a:pPr marL="342900" indent="-342900">
              <a:lnSpc>
                <a:spcPct val="80000"/>
              </a:lnSpc>
              <a:spcBef>
                <a:spcPct val="20000"/>
              </a:spcBef>
            </a:pPr>
            <a:r>
              <a:rPr lang="en-US" sz="2000" b="1" dirty="0">
                <a:latin typeface="Comic Sans MS" charset="0"/>
              </a:rPr>
              <a:t>            ...</a:t>
            </a:r>
          </a:p>
          <a:p>
            <a:pPr marL="342900" indent="-342900">
              <a:lnSpc>
                <a:spcPct val="80000"/>
              </a:lnSpc>
              <a:spcBef>
                <a:spcPct val="20000"/>
              </a:spcBef>
            </a:pPr>
            <a:r>
              <a:rPr lang="en-US" sz="2000" b="1" dirty="0">
                <a:latin typeface="Comic Sans MS" charset="0"/>
              </a:rPr>
              <a:t>		Payment payment = new Payment(</a:t>
            </a:r>
            <a:r>
              <a:rPr lang="en-US" sz="2000" b="1" dirty="0" err="1">
                <a:latin typeface="Comic Sans MS" charset="0"/>
              </a:rPr>
              <a:t>cashTendered</a:t>
            </a:r>
            <a:r>
              <a:rPr lang="en-US" sz="2000" b="1" dirty="0">
                <a:latin typeface="Comic Sans MS" charset="0"/>
              </a:rPr>
              <a:t>);</a:t>
            </a:r>
          </a:p>
          <a:p>
            <a:pPr marL="342900" indent="-342900">
              <a:lnSpc>
                <a:spcPct val="80000"/>
              </a:lnSpc>
              <a:spcBef>
                <a:spcPct val="20000"/>
              </a:spcBef>
            </a:pPr>
            <a:r>
              <a:rPr lang="en-US" sz="2000" b="1" dirty="0">
                <a:latin typeface="Comic Sans MS" charset="0"/>
              </a:rPr>
              <a:t>		...</a:t>
            </a:r>
          </a:p>
          <a:p>
            <a:pPr marL="342900" indent="-342900">
              <a:lnSpc>
                <a:spcPct val="80000"/>
              </a:lnSpc>
              <a:spcBef>
                <a:spcPct val="20000"/>
              </a:spcBef>
            </a:pPr>
            <a:r>
              <a:rPr lang="en-US" sz="2000" b="1" dirty="0">
                <a:latin typeface="Comic Sans MS" charset="0"/>
              </a:rPr>
              <a:t>	}</a:t>
            </a:r>
          </a:p>
          <a:p>
            <a:pPr marL="342900" indent="-342900">
              <a:lnSpc>
                <a:spcPct val="80000"/>
              </a:lnSpc>
              <a:spcBef>
                <a:spcPct val="20000"/>
              </a:spcBef>
            </a:pPr>
            <a:r>
              <a:rPr lang="en-US" sz="2000" b="1" dirty="0">
                <a:latin typeface="Comic Sans MS" charset="0"/>
              </a:rPr>
              <a:t>   ...</a:t>
            </a:r>
          </a:p>
          <a:p>
            <a:pPr marL="342900" indent="-342900">
              <a:lnSpc>
                <a:spcPct val="80000"/>
              </a:lnSpc>
              <a:spcBef>
                <a:spcPct val="20000"/>
              </a:spcBef>
            </a:pPr>
            <a:r>
              <a:rPr lang="en-US" sz="2000" b="1" dirty="0">
                <a:latin typeface="Comic Sans MS" charset="0"/>
              </a:rPr>
              <a:t>}</a:t>
            </a:r>
          </a:p>
        </p:txBody>
      </p:sp>
      <p:sp>
        <p:nvSpPr>
          <p:cNvPr id="2" name="Slide Number Placeholder 1"/>
          <p:cNvSpPr>
            <a:spLocks noGrp="1"/>
          </p:cNvSpPr>
          <p:nvPr>
            <p:ph type="sldNum" sz="quarter" idx="12"/>
          </p:nvPr>
        </p:nvSpPr>
        <p:spPr/>
        <p:txBody>
          <a:bodyPr/>
          <a:lstStyle/>
          <a:p>
            <a:fld id="{14F6F305-04E4-5E4D-BE4E-D65C3C550673}" type="slidenum">
              <a:rPr lang="en-US" smtClean="0"/>
              <a:pPr/>
              <a:t>14</a:t>
            </a:fld>
            <a:endParaRPr lang="en-US"/>
          </a:p>
        </p:txBody>
      </p:sp>
      <p:pic>
        <p:nvPicPr>
          <p:cNvPr id="6" name="Picture 5">
            <a:extLst>
              <a:ext uri="{FF2B5EF4-FFF2-40B4-BE49-F238E27FC236}">
                <a16:creationId xmlns:a16="http://schemas.microsoft.com/office/drawing/2014/main" id="{46C620E0-847F-764A-8F5A-F888633364D3}"/>
              </a:ext>
            </a:extLst>
          </p:cNvPr>
          <p:cNvPicPr>
            <a:picLocks noChangeAspect="1"/>
          </p:cNvPicPr>
          <p:nvPr/>
        </p:nvPicPr>
        <p:blipFill>
          <a:blip r:embed="rId5"/>
          <a:stretch>
            <a:fillRect/>
          </a:stretch>
        </p:blipFill>
        <p:spPr>
          <a:xfrm>
            <a:off x="7596336" y="2348880"/>
            <a:ext cx="160275" cy="2160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Object destruction</a:t>
            </a:r>
          </a:p>
        </p:txBody>
      </p:sp>
      <p:graphicFrame>
        <p:nvGraphicFramePr>
          <p:cNvPr id="47106" name="Object 2"/>
          <p:cNvGraphicFramePr>
            <a:graphicFrameLocks noGrp="1" noChangeAspect="1"/>
          </p:cNvGraphicFramePr>
          <p:nvPr>
            <p:ph idx="1"/>
          </p:nvPr>
        </p:nvGraphicFramePr>
        <p:xfrm>
          <a:off x="457200" y="1371600"/>
          <a:ext cx="8229600" cy="3028950"/>
        </p:xfrm>
        <a:graphic>
          <a:graphicData uri="http://schemas.openxmlformats.org/presentationml/2006/ole">
            <mc:AlternateContent xmlns:mc="http://schemas.openxmlformats.org/markup-compatibility/2006">
              <mc:Choice xmlns:v="urn:schemas-microsoft-com:vml" Requires="v">
                <p:oleObj name="Visio" r:id="rId3" imgW="4495680" imgH="1653480" progId="Visio.Drawing.11">
                  <p:embed/>
                </p:oleObj>
              </mc:Choice>
              <mc:Fallback>
                <p:oleObj name="Visio" r:id="rId3" imgW="4495680" imgH="165348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71600"/>
                        <a:ext cx="8229600" cy="3028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7108" name="Rectangle 5"/>
          <p:cNvSpPr>
            <a:spLocks noChangeArrowheads="1"/>
          </p:cNvSpPr>
          <p:nvPr/>
        </p:nvSpPr>
        <p:spPr bwMode="auto">
          <a:xfrm>
            <a:off x="457200" y="4648200"/>
            <a:ext cx="8229600" cy="147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pPr marL="342900" indent="-342900">
              <a:spcBef>
                <a:spcPct val="20000"/>
              </a:spcBef>
            </a:pPr>
            <a:r>
              <a:rPr lang="en-US" b="1" dirty="0">
                <a:highlight>
                  <a:srgbClr val="FFFF00"/>
                </a:highlight>
                <a:latin typeface="+mn-lt"/>
                <a:ea typeface="ＭＳ Ｐゴシック" pitchFamily="-1" charset="-128"/>
                <a:cs typeface="ＭＳ Ｐゴシック" pitchFamily="-1" charset="-128"/>
              </a:rPr>
              <a:t>Object explicitly destroyed or no longer  usable (reachable)</a:t>
            </a:r>
          </a:p>
          <a:p>
            <a:pPr marL="385763" lvl="1" indent="-195263">
              <a:spcBef>
                <a:spcPct val="20000"/>
              </a:spcBef>
              <a:buChar char="•"/>
            </a:pPr>
            <a:r>
              <a:rPr lang="en-US" dirty="0">
                <a:latin typeface="+mn-lt"/>
                <a:ea typeface="ＭＳ Ｐゴシック" charset="-128"/>
              </a:rPr>
              <a:t>Example: No variable refers to object any longer</a:t>
            </a:r>
          </a:p>
          <a:p>
            <a:pPr marL="804863" lvl="2" indent="-228600">
              <a:spcBef>
                <a:spcPct val="20000"/>
              </a:spcBef>
              <a:buChar char="—"/>
            </a:pPr>
            <a:r>
              <a:rPr lang="en-US" dirty="0">
                <a:highlight>
                  <a:srgbClr val="FFFF00"/>
                </a:highlight>
                <a:latin typeface="+mn-lt"/>
                <a:ea typeface="ＭＳ Ｐゴシック" charset="-128"/>
              </a:rPr>
              <a:t>Marked for garbage collection</a:t>
            </a:r>
          </a:p>
        </p:txBody>
      </p:sp>
      <p:sp>
        <p:nvSpPr>
          <p:cNvPr id="2" name="Slide Number Placeholder 1"/>
          <p:cNvSpPr>
            <a:spLocks noGrp="1"/>
          </p:cNvSpPr>
          <p:nvPr>
            <p:ph type="sldNum" sz="quarter" idx="12"/>
          </p:nvPr>
        </p:nvSpPr>
        <p:spPr/>
        <p:txBody>
          <a:bodyPr/>
          <a:lstStyle/>
          <a:p>
            <a:fld id="{14F6F305-04E4-5E4D-BE4E-D65C3C550673}" type="slidenum">
              <a:rPr lang="en-US" smtClean="0"/>
              <a:pPr/>
              <a:t>15</a:t>
            </a:fld>
            <a:endParaRPr lang="en-US"/>
          </a:p>
        </p:txBody>
      </p:sp>
      <p:pic>
        <p:nvPicPr>
          <p:cNvPr id="6" name="Picture 5">
            <a:extLst>
              <a:ext uri="{FF2B5EF4-FFF2-40B4-BE49-F238E27FC236}">
                <a16:creationId xmlns:a16="http://schemas.microsoft.com/office/drawing/2014/main" id="{70C29566-F140-D74F-9F4C-49D8C2F70BF7}"/>
              </a:ext>
            </a:extLst>
          </p:cNvPr>
          <p:cNvPicPr>
            <a:picLocks noChangeAspect="1"/>
          </p:cNvPicPr>
          <p:nvPr/>
        </p:nvPicPr>
        <p:blipFill>
          <a:blip r:embed="rId5"/>
          <a:stretch>
            <a:fillRect/>
          </a:stretch>
        </p:blipFill>
        <p:spPr>
          <a:xfrm>
            <a:off x="3923928" y="2132856"/>
            <a:ext cx="184225" cy="24830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atin typeface="Arial" charset="0"/>
                <a:ea typeface="ＭＳ Ｐゴシック" charset="0"/>
                <a:cs typeface="ＭＳ Ｐゴシック" charset="0"/>
              </a:rPr>
              <a:t>Frames in UML sequence diagrams	 </a:t>
            </a:r>
            <a:endParaRPr lang="tr-TR">
              <a:latin typeface="Arial" charset="0"/>
              <a:ea typeface="ＭＳ Ｐゴシック" charset="0"/>
              <a:cs typeface="ＭＳ Ｐゴシック" charset="0"/>
            </a:endParaRPr>
          </a:p>
        </p:txBody>
      </p:sp>
      <p:sp>
        <p:nvSpPr>
          <p:cNvPr id="49155" name="Content Placeholder 2"/>
          <p:cNvSpPr>
            <a:spLocks noGrp="1"/>
          </p:cNvSpPr>
          <p:nvPr>
            <p:ph idx="1"/>
          </p:nvPr>
        </p:nvSpPr>
        <p:spPr>
          <a:noFill/>
          <a:ln>
            <a:noFill/>
          </a:ln>
        </p:spPr>
        <p:txBody>
          <a:bodyPr vert="horz" wrap="square" lIns="91440" tIns="45720" rIns="91440" bIns="45720" numCol="1" anchor="t" anchorCtr="0" compatLnSpc="1">
            <a:prstTxWarp prst="textNoShape">
              <a:avLst/>
            </a:prstTxWarp>
            <a:normAutofit/>
          </a:bodyPr>
          <a:lstStyle/>
          <a:p>
            <a:r>
              <a:rPr lang="en-US" kern="1200" dirty="0">
                <a:highlight>
                  <a:srgbClr val="FFFF00"/>
                </a:highlight>
              </a:rPr>
              <a:t> Frames are regions or fragments of a sequence diagrams</a:t>
            </a:r>
          </a:p>
          <a:p>
            <a:r>
              <a:rPr lang="en-US" kern="1200" dirty="0"/>
              <a:t> They indicate a sequence of interactions that is special in someway</a:t>
            </a:r>
          </a:p>
          <a:p>
            <a:r>
              <a:rPr lang="en-US" kern="1200" dirty="0"/>
              <a:t> They have</a:t>
            </a:r>
          </a:p>
          <a:p>
            <a:pPr lvl="1"/>
            <a:r>
              <a:rPr lang="en-US" kern="1200" dirty="0">
                <a:cs typeface="ＭＳ Ｐゴシック" charset="0"/>
              </a:rPr>
              <a:t>An operator or label (such as loop)</a:t>
            </a:r>
          </a:p>
          <a:p>
            <a:pPr lvl="1"/>
            <a:r>
              <a:rPr lang="en-US" kern="1200" dirty="0">
                <a:highlight>
                  <a:srgbClr val="00FFFF"/>
                </a:highlight>
                <a:cs typeface="ＭＳ Ｐゴシック" charset="0"/>
              </a:rPr>
              <a:t>A guard (conditional clause) which should be placed over the lifeline to which it belongs</a:t>
            </a:r>
          </a:p>
          <a:p>
            <a:pPr marL="190500" lvl="1" indent="0">
              <a:buNone/>
            </a:pPr>
            <a:r>
              <a:rPr lang="en-US" kern="1200" dirty="0">
                <a:cs typeface="ＭＳ Ｐゴシック" charset="0"/>
              </a:rPr>
              <a:t> </a:t>
            </a:r>
            <a:endParaRPr lang="tr-TR" kern="1200" dirty="0">
              <a:cs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dirty="0">
                <a:highlight>
                  <a:srgbClr val="00FFFF"/>
                </a:highlight>
                <a:latin typeface="Arial" charset="0"/>
                <a:ea typeface="ＭＳ Ｐゴシック" charset="0"/>
                <a:cs typeface="ＭＳ Ｐゴシック" charset="0"/>
              </a:rPr>
              <a:t>UML supports different types of frames</a:t>
            </a:r>
            <a:endParaRPr lang="tr-TR" dirty="0">
              <a:highlight>
                <a:srgbClr val="00FFFF"/>
              </a:highlight>
              <a:latin typeface="Arial" charset="0"/>
              <a:ea typeface="ＭＳ Ｐゴシック" charset="0"/>
              <a:cs typeface="ＭＳ Ｐゴシック" charset="0"/>
            </a:endParaRPr>
          </a:p>
        </p:txBody>
      </p:sp>
      <p:pic>
        <p:nvPicPr>
          <p:cNvPr id="51205"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2938" y="1714500"/>
            <a:ext cx="8026400" cy="3571875"/>
          </a:xfrm>
          <a:noFill/>
        </p:spPr>
      </p:pic>
      <p:sp>
        <p:nvSpPr>
          <p:cNvPr id="2" name="Slide Number Placeholder 1"/>
          <p:cNvSpPr>
            <a:spLocks noGrp="1"/>
          </p:cNvSpPr>
          <p:nvPr>
            <p:ph type="sldNum" sz="quarter" idx="12"/>
          </p:nvPr>
        </p:nvSpPr>
        <p:spPr/>
        <p:txBody>
          <a:bodyPr/>
          <a:lstStyle/>
          <a:p>
            <a:fld id="{14F6F305-04E4-5E4D-BE4E-D65C3C550673}"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A conditional message</a:t>
            </a:r>
          </a:p>
        </p:txBody>
      </p:sp>
      <p:graphicFrame>
        <p:nvGraphicFramePr>
          <p:cNvPr id="53250" name="Object 2"/>
          <p:cNvGraphicFramePr>
            <a:graphicFrameLocks noGrp="1" noChangeAspect="1"/>
          </p:cNvGraphicFramePr>
          <p:nvPr>
            <p:ph idx="1"/>
          </p:nvPr>
        </p:nvGraphicFramePr>
        <p:xfrm>
          <a:off x="457200" y="1914525"/>
          <a:ext cx="8229600" cy="3363913"/>
        </p:xfrm>
        <a:graphic>
          <a:graphicData uri="http://schemas.openxmlformats.org/presentationml/2006/ole">
            <mc:AlternateContent xmlns:mc="http://schemas.openxmlformats.org/markup-compatibility/2006">
              <mc:Choice xmlns:v="urn:schemas-microsoft-com:vml" Requires="v">
                <p:oleObj name="Visio" r:id="rId3" imgW="4462200" imgH="1823760" progId="Visio.Drawing.11">
                  <p:embed/>
                </p:oleObj>
              </mc:Choice>
              <mc:Fallback>
                <p:oleObj name="Visio" r:id="rId3" imgW="4462200" imgH="18237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914525"/>
                        <a:ext cx="8229600" cy="3363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en-GB">
                <a:latin typeface="Arial" charset="0"/>
                <a:ea typeface="ＭＳ Ｐゴシック" charset="0"/>
                <a:cs typeface="Times" charset="0"/>
              </a:rPr>
              <a:t>A sequence diagram showing a student registration process</a:t>
            </a:r>
            <a:endParaRPr lang="en-US">
              <a:latin typeface="Arial" charset="0"/>
              <a:ea typeface="ＭＳ Ｐゴシック" charset="0"/>
              <a:cs typeface="ＭＳ Ｐゴシック" charset="0"/>
            </a:endParaRPr>
          </a:p>
        </p:txBody>
      </p:sp>
      <p:pic>
        <p:nvPicPr>
          <p:cNvPr id="55301" name="Picture 15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914400" y="1717675"/>
            <a:ext cx="8153400" cy="3616325"/>
          </a:xfrm>
          <a:noFill/>
        </p:spPr>
      </p:pic>
      <p:sp>
        <p:nvSpPr>
          <p:cNvPr id="2" name="Slide Number Placeholder 1"/>
          <p:cNvSpPr>
            <a:spLocks noGrp="1"/>
          </p:cNvSpPr>
          <p:nvPr>
            <p:ph type="sldNum" sz="quarter" idx="12"/>
          </p:nvPr>
        </p:nvSpPr>
        <p:spPr/>
        <p:txBody>
          <a:bodyPr/>
          <a:lstStyle/>
          <a:p>
            <a:fld id="{14F6F305-04E4-5E4D-BE4E-D65C3C550673}"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UML Version 1 notation for conditional messages</a:t>
            </a:r>
          </a:p>
        </p:txBody>
      </p:sp>
      <p:graphicFrame>
        <p:nvGraphicFramePr>
          <p:cNvPr id="57346" name="Object 2"/>
          <p:cNvGraphicFramePr>
            <a:graphicFrameLocks noGrp="1" noChangeAspect="1"/>
          </p:cNvGraphicFramePr>
          <p:nvPr>
            <p:ph idx="1"/>
          </p:nvPr>
        </p:nvGraphicFramePr>
        <p:xfrm>
          <a:off x="457200" y="1833563"/>
          <a:ext cx="8229600" cy="3524250"/>
        </p:xfrm>
        <a:graphic>
          <a:graphicData uri="http://schemas.openxmlformats.org/presentationml/2006/ole">
            <mc:AlternateContent xmlns:mc="http://schemas.openxmlformats.org/markup-compatibility/2006">
              <mc:Choice xmlns:v="urn:schemas-microsoft-com:vml" Requires="v">
                <p:oleObj name="Visio" r:id="rId3" imgW="4259520" imgH="1823760" progId="Visio.Drawing.11">
                  <p:embed/>
                </p:oleObj>
              </mc:Choice>
              <mc:Fallback>
                <p:oleObj name="Visio" r:id="rId3" imgW="4259520" imgH="18237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833563"/>
                        <a:ext cx="8229600" cy="3524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Mutually exclusive conditional messages</a:t>
            </a:r>
          </a:p>
        </p:txBody>
      </p:sp>
      <p:graphicFrame>
        <p:nvGraphicFramePr>
          <p:cNvPr id="59394" name="Object 2"/>
          <p:cNvGraphicFramePr>
            <a:graphicFrameLocks noGrp="1" noChangeAspect="1"/>
          </p:cNvGraphicFramePr>
          <p:nvPr>
            <p:ph idx="1"/>
          </p:nvPr>
        </p:nvGraphicFramePr>
        <p:xfrm>
          <a:off x="457200" y="1371600"/>
          <a:ext cx="8229600" cy="4108450"/>
        </p:xfrm>
        <a:graphic>
          <a:graphicData uri="http://schemas.openxmlformats.org/presentationml/2006/ole">
            <mc:AlternateContent xmlns:mc="http://schemas.openxmlformats.org/markup-compatibility/2006">
              <mc:Choice xmlns:v="urn:schemas-microsoft-com:vml" Requires="v">
                <p:oleObj name="Visio" r:id="rId3" imgW="4534560" imgH="2263320" progId="Visio.Drawing.11">
                  <p:embed/>
                </p:oleObj>
              </mc:Choice>
              <mc:Fallback>
                <p:oleObj name="Visio" r:id="rId3" imgW="4534560" imgH="226332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71600"/>
                        <a:ext cx="8229600" cy="41084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Looping notation</a:t>
            </a:r>
          </a:p>
        </p:txBody>
      </p:sp>
      <p:graphicFrame>
        <p:nvGraphicFramePr>
          <p:cNvPr id="61442" name="Object 2"/>
          <p:cNvGraphicFramePr>
            <a:graphicFrameLocks noGrp="1" noChangeAspect="1"/>
          </p:cNvGraphicFramePr>
          <p:nvPr>
            <p:ph idx="1"/>
          </p:nvPr>
        </p:nvGraphicFramePr>
        <p:xfrm>
          <a:off x="285750" y="1785938"/>
          <a:ext cx="8443913" cy="3195637"/>
        </p:xfrm>
        <a:graphic>
          <a:graphicData uri="http://schemas.openxmlformats.org/presentationml/2006/ole">
            <mc:AlternateContent xmlns:mc="http://schemas.openxmlformats.org/markup-compatibility/2006">
              <mc:Choice xmlns:v="urn:schemas-microsoft-com:vml" Requires="v">
                <p:oleObj name="Visio" r:id="rId3" imgW="5812200" imgH="2200680" progId="Visio.Drawing.11">
                  <p:embed/>
                </p:oleObj>
              </mc:Choice>
              <mc:Fallback>
                <p:oleObj name="Visio" r:id="rId3" imgW="5812200" imgH="220068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1785938"/>
                        <a:ext cx="8443913" cy="3195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11"/>
          <p:cNvSpPr>
            <a:spLocks noGrp="1" noChangeArrowheads="1"/>
          </p:cNvSpPr>
          <p:nvPr>
            <p:ph type="title"/>
          </p:nvPr>
        </p:nvSpPr>
        <p:spPr>
          <a:xfrm>
            <a:off x="381000" y="152400"/>
            <a:ext cx="8229600" cy="914400"/>
          </a:xfrm>
          <a:noFill/>
        </p:spPr>
        <p:txBody>
          <a:bodyPr/>
          <a:lstStyle/>
          <a:p>
            <a:r>
              <a:rPr lang="en-GB">
                <a:latin typeface="Arial" charset="0"/>
                <a:ea typeface="ＭＳ Ｐゴシック" charset="0"/>
                <a:cs typeface="Times" charset="0"/>
              </a:rPr>
              <a:t>Looping notation</a:t>
            </a:r>
            <a:endParaRPr lang="en-US">
              <a:latin typeface="Arial" charset="0"/>
              <a:ea typeface="ＭＳ Ｐゴシック" charset="0"/>
              <a:cs typeface="ＭＳ Ｐゴシック" charset="0"/>
            </a:endParaRPr>
          </a:p>
        </p:txBody>
      </p:sp>
      <p:pic>
        <p:nvPicPr>
          <p:cNvPr id="63493" name="Picture 20"/>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2871788" y="4429125"/>
            <a:ext cx="3695700" cy="931863"/>
          </a:xfrm>
          <a:noFill/>
        </p:spPr>
      </p:pic>
      <p:pic>
        <p:nvPicPr>
          <p:cNvPr id="63494"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88" y="1143000"/>
            <a:ext cx="5743575" cy="3286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 name="Rounded Rectangle 2"/>
          <p:cNvSpPr/>
          <p:nvPr/>
        </p:nvSpPr>
        <p:spPr bwMode="auto">
          <a:xfrm>
            <a:off x="2339752" y="2204864"/>
            <a:ext cx="144016" cy="216024"/>
          </a:xfrm>
          <a:prstGeom prst="round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1" charset="0"/>
            </a:endParaRPr>
          </a:p>
        </p:txBody>
      </p:sp>
      <p:sp>
        <p:nvSpPr>
          <p:cNvPr id="2" name="TextBox 1"/>
          <p:cNvSpPr txBox="1"/>
          <p:nvPr/>
        </p:nvSpPr>
        <p:spPr>
          <a:xfrm>
            <a:off x="2339752" y="2132856"/>
            <a:ext cx="196014" cy="292388"/>
          </a:xfrm>
          <a:prstGeom prst="rect">
            <a:avLst/>
          </a:prstGeom>
          <a:noFill/>
        </p:spPr>
        <p:txBody>
          <a:bodyPr wrap="square" rtlCol="0">
            <a:spAutoFit/>
          </a:bodyPr>
          <a:lstStyle/>
          <a:p>
            <a:r>
              <a:rPr lang="en-US" sz="1300" dirty="0"/>
              <a:t>1</a:t>
            </a:r>
          </a:p>
        </p:txBody>
      </p:sp>
      <p:sp>
        <p:nvSpPr>
          <p:cNvPr id="4" name="Slide Number Placeholder 3"/>
          <p:cNvSpPr>
            <a:spLocks noGrp="1"/>
          </p:cNvSpPr>
          <p:nvPr>
            <p:ph type="sldNum" sz="quarter" idx="12"/>
          </p:nvPr>
        </p:nvSpPr>
        <p:spPr/>
        <p:txBody>
          <a:bodyPr/>
          <a:lstStyle/>
          <a:p>
            <a:fld id="{011BE1DF-1451-DC41-9B9D-6A1FB6507620}"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Nested frames</a:t>
            </a:r>
          </a:p>
        </p:txBody>
      </p:sp>
      <p:graphicFrame>
        <p:nvGraphicFramePr>
          <p:cNvPr id="65538" name="Object 2"/>
          <p:cNvGraphicFramePr>
            <a:graphicFrameLocks noGrp="1" noChangeAspect="1"/>
          </p:cNvGraphicFramePr>
          <p:nvPr>
            <p:ph idx="1"/>
          </p:nvPr>
        </p:nvGraphicFramePr>
        <p:xfrm>
          <a:off x="457200" y="1543050"/>
          <a:ext cx="8229600" cy="4105275"/>
        </p:xfrm>
        <a:graphic>
          <a:graphicData uri="http://schemas.openxmlformats.org/presentationml/2006/ole">
            <mc:AlternateContent xmlns:mc="http://schemas.openxmlformats.org/markup-compatibility/2006">
              <mc:Choice xmlns:v="urn:schemas-microsoft-com:vml" Requires="v">
                <p:oleObj name="Visio" r:id="rId3" imgW="4462200" imgH="2225520" progId="Visio.Drawing.11">
                  <p:embed/>
                </p:oleObj>
              </mc:Choice>
              <mc:Fallback>
                <p:oleObj name="Visio" r:id="rId3" imgW="4462200" imgH="222552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543050"/>
                        <a:ext cx="8229600" cy="4105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457200" y="152400"/>
            <a:ext cx="8229600" cy="715963"/>
          </a:xfrm>
        </p:spPr>
        <p:txBody>
          <a:bodyPr/>
          <a:lstStyle/>
          <a:p>
            <a:r>
              <a:rPr lang="en-US" sz="2000">
                <a:latin typeface="Arial" charset="0"/>
                <a:ea typeface="ＭＳ Ｐゴシック" charset="0"/>
                <a:cs typeface="ＭＳ Ｐゴシック" charset="0"/>
              </a:rPr>
              <a:t>How to relate interaction diagrams (hierarchical notation)</a:t>
            </a:r>
          </a:p>
        </p:txBody>
      </p:sp>
      <p:graphicFrame>
        <p:nvGraphicFramePr>
          <p:cNvPr id="67586" name="Object 2"/>
          <p:cNvGraphicFramePr>
            <a:graphicFrameLocks noGrp="1" noChangeAspect="1"/>
          </p:cNvGraphicFramePr>
          <p:nvPr>
            <p:ph idx="1"/>
          </p:nvPr>
        </p:nvGraphicFramePr>
        <p:xfrm>
          <a:off x="0" y="914400"/>
          <a:ext cx="9144000" cy="5665788"/>
        </p:xfrm>
        <a:graphic>
          <a:graphicData uri="http://schemas.openxmlformats.org/presentationml/2006/ole">
            <mc:AlternateContent xmlns:mc="http://schemas.openxmlformats.org/markup-compatibility/2006">
              <mc:Choice xmlns:v="urn:schemas-microsoft-com:vml" Requires="v">
                <p:oleObj name="Visio" r:id="rId3" imgW="7079760" imgH="4388040" progId="Visio.Drawing.11">
                  <p:embed/>
                </p:oleObj>
              </mc:Choice>
              <mc:Fallback>
                <p:oleObj name="Visio" r:id="rId3" imgW="7079760" imgH="438804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14400"/>
                        <a:ext cx="9144000" cy="56657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3" name="Slide Number Placeholder 2"/>
          <p:cNvSpPr>
            <a:spLocks noGrp="1"/>
          </p:cNvSpPr>
          <p:nvPr>
            <p:ph type="sldNum" sz="quarter" idx="12"/>
          </p:nvPr>
        </p:nvSpPr>
        <p:spPr/>
        <p:txBody>
          <a:bodyPr/>
          <a:lstStyle/>
          <a:p>
            <a:fld id="{14F6F305-04E4-5E4D-BE4E-D65C3C550673}"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a:xfrm>
            <a:off x="533400" y="0"/>
            <a:ext cx="8229600" cy="715963"/>
          </a:xfrm>
        </p:spPr>
        <p:txBody>
          <a:bodyPr/>
          <a:lstStyle/>
          <a:p>
            <a:r>
              <a:rPr lang="en-US" dirty="0">
                <a:latin typeface="Arial" charset="0"/>
                <a:ea typeface="ＭＳ Ｐゴシック" charset="0"/>
                <a:cs typeface="ＭＳ Ｐゴシック" charset="0"/>
              </a:rPr>
              <a:t>Polymorphic messages and cases</a:t>
            </a:r>
          </a:p>
        </p:txBody>
      </p:sp>
      <p:graphicFrame>
        <p:nvGraphicFramePr>
          <p:cNvPr id="69634" name="Object 2"/>
          <p:cNvGraphicFramePr>
            <a:graphicFrameLocks noGrp="1" noChangeAspect="1"/>
          </p:cNvGraphicFramePr>
          <p:nvPr>
            <p:ph idx="1"/>
            <p:extLst>
              <p:ext uri="{D42A27DB-BD31-4B8C-83A1-F6EECF244321}">
                <p14:modId xmlns:p14="http://schemas.microsoft.com/office/powerpoint/2010/main" val="1686586096"/>
              </p:ext>
            </p:extLst>
          </p:nvPr>
        </p:nvGraphicFramePr>
        <p:xfrm>
          <a:off x="381000" y="1052736"/>
          <a:ext cx="8763000" cy="3055937"/>
        </p:xfrm>
        <a:graphic>
          <a:graphicData uri="http://schemas.openxmlformats.org/presentationml/2006/ole">
            <mc:AlternateContent xmlns:mc="http://schemas.openxmlformats.org/markup-compatibility/2006">
              <mc:Choice xmlns:v="urn:schemas-microsoft-com:vml" Requires="v">
                <p:oleObj name="Visio" r:id="rId3" imgW="6879600" imgH="5778360" progId="Visio.Drawing.11">
                  <p:embed/>
                </p:oleObj>
              </mc:Choice>
              <mc:Fallback>
                <p:oleObj name="Visio" r:id="rId3" imgW="6879600" imgH="57783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l="16814" r="18584" b="68747"/>
                      <a:stretch>
                        <a:fillRect/>
                      </a:stretch>
                    </p:blipFill>
                    <p:spPr bwMode="auto">
                      <a:xfrm>
                        <a:off x="381000" y="1052736"/>
                        <a:ext cx="8763000" cy="30559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6" name="Content Placeholder 2"/>
          <p:cNvSpPr txBox="1">
            <a:spLocks/>
          </p:cNvSpPr>
          <p:nvPr/>
        </p:nvSpPr>
        <p:spPr bwMode="auto">
          <a:xfrm>
            <a:off x="395536" y="4437112"/>
            <a:ext cx="8287072" cy="1800200"/>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defRPr sz="2400" b="1">
                <a:solidFill>
                  <a:schemeClr val="tx1"/>
                </a:solidFill>
                <a:latin typeface="+mn-lt"/>
                <a:ea typeface="ＭＳ Ｐゴシック" pitchFamily="-1" charset="-128"/>
                <a:cs typeface="ＭＳ Ｐゴシック" pitchFamily="-1" charset="-128"/>
              </a:defRPr>
            </a:lvl1pPr>
            <a:lvl2pPr marL="385763" indent="-195263" algn="l" rtl="0" eaLnBrk="0" fontAlgn="base" hangingPunct="0">
              <a:spcBef>
                <a:spcPct val="20000"/>
              </a:spcBef>
              <a:spcAft>
                <a:spcPct val="0"/>
              </a:spcAft>
              <a:buChar char="•"/>
              <a:defRPr sz="2400">
                <a:solidFill>
                  <a:schemeClr val="tx1"/>
                </a:solidFill>
                <a:latin typeface="+mn-lt"/>
                <a:ea typeface="ＭＳ Ｐゴシック" charset="-128"/>
              </a:defRPr>
            </a:lvl2pPr>
            <a:lvl3pPr marL="804863" indent="-228600" algn="l" rtl="0" eaLnBrk="0" fontAlgn="base" hangingPunct="0">
              <a:spcBef>
                <a:spcPct val="20000"/>
              </a:spcBef>
              <a:spcAft>
                <a:spcPct val="0"/>
              </a:spcAft>
              <a:buChar char="—"/>
              <a:defRPr sz="2400">
                <a:solidFill>
                  <a:schemeClr val="tx1"/>
                </a:solidFill>
                <a:latin typeface="+mn-lt"/>
                <a:ea typeface="ＭＳ Ｐゴシック" charset="-128"/>
              </a:defRPr>
            </a:lvl3pPr>
            <a:lvl4pPr marL="1223963" indent="-228600" algn="l" rtl="0" eaLnBrk="0" fontAlgn="base" hangingPunct="0">
              <a:spcBef>
                <a:spcPct val="20000"/>
              </a:spcBef>
              <a:spcAft>
                <a:spcPct val="0"/>
              </a:spcAft>
              <a:buChar char="-"/>
              <a:defRPr sz="2000">
                <a:solidFill>
                  <a:schemeClr val="tx1"/>
                </a:solidFill>
                <a:latin typeface="+mn-lt"/>
                <a:ea typeface="ＭＳ Ｐゴシック" charset="-128"/>
              </a:defRPr>
            </a:lvl4pPr>
            <a:lvl5pPr marL="1643063" indent="-228600" algn="l" rtl="0" eaLnBrk="0" fontAlgn="base" hangingPunct="0">
              <a:spcBef>
                <a:spcPct val="20000"/>
              </a:spcBef>
              <a:spcAft>
                <a:spcPct val="0"/>
              </a:spcAft>
              <a:buChar char="»"/>
              <a:defRPr sz="2000">
                <a:solidFill>
                  <a:schemeClr val="tx1"/>
                </a:solidFill>
                <a:latin typeface="+mn-lt"/>
                <a:ea typeface="ＭＳ Ｐゴシック" charset="-128"/>
              </a:defRPr>
            </a:lvl5pPr>
            <a:lvl6pPr marL="2100263" indent="-228600" algn="l" rtl="0" eaLnBrk="0" fontAlgn="base" hangingPunct="0">
              <a:spcBef>
                <a:spcPct val="20000"/>
              </a:spcBef>
              <a:spcAft>
                <a:spcPct val="0"/>
              </a:spcAft>
              <a:buChar char="»"/>
              <a:defRPr sz="2000">
                <a:solidFill>
                  <a:schemeClr val="tx1"/>
                </a:solidFill>
                <a:latin typeface="+mn-lt"/>
              </a:defRPr>
            </a:lvl6pPr>
            <a:lvl7pPr marL="2557463" indent="-228600" algn="l" rtl="0" eaLnBrk="0" fontAlgn="base" hangingPunct="0">
              <a:spcBef>
                <a:spcPct val="20000"/>
              </a:spcBef>
              <a:spcAft>
                <a:spcPct val="0"/>
              </a:spcAft>
              <a:buChar char="»"/>
              <a:defRPr sz="2000">
                <a:solidFill>
                  <a:schemeClr val="tx1"/>
                </a:solidFill>
                <a:latin typeface="+mn-lt"/>
              </a:defRPr>
            </a:lvl7pPr>
            <a:lvl8pPr marL="3014663" indent="-228600" algn="l" rtl="0" eaLnBrk="0" fontAlgn="base" hangingPunct="0">
              <a:spcBef>
                <a:spcPct val="20000"/>
              </a:spcBef>
              <a:spcAft>
                <a:spcPct val="0"/>
              </a:spcAft>
              <a:buChar char="»"/>
              <a:defRPr sz="2000">
                <a:solidFill>
                  <a:schemeClr val="tx1"/>
                </a:solidFill>
                <a:latin typeface="+mn-lt"/>
              </a:defRPr>
            </a:lvl8pPr>
            <a:lvl9pPr marL="3471863" indent="-228600" algn="l" rtl="0" eaLnBrk="0" fontAlgn="base" hangingPunct="0">
              <a:spcBef>
                <a:spcPct val="20000"/>
              </a:spcBef>
              <a:spcAft>
                <a:spcPct val="0"/>
              </a:spcAft>
              <a:buChar char="»"/>
              <a:defRPr sz="2000">
                <a:solidFill>
                  <a:schemeClr val="tx1"/>
                </a:solidFill>
                <a:latin typeface="+mn-lt"/>
              </a:defRPr>
            </a:lvl9pPr>
          </a:lstStyle>
          <a:p>
            <a:r>
              <a:rPr lang="en-US" dirty="0">
                <a:latin typeface="Times" charset="0"/>
                <a:ea typeface="ＭＳ Ｐゴシック" charset="0"/>
                <a:cs typeface="ＭＳ Ｐゴシック" charset="0"/>
              </a:rPr>
              <a:t>One approach is to show multiple sequence diagrams, one sequence diagram to show the polymorphic message to the abstract superclass or interface and then separate sequence diagrams detailing each polymorphic case. </a:t>
            </a:r>
            <a:endParaRPr lang="tr-TR" dirty="0">
              <a:latin typeface="Times" charset="0"/>
              <a:ea typeface="ＭＳ Ｐゴシック" charset="0"/>
              <a:cs typeface="ＭＳ Ｐゴシック" charset="0"/>
            </a:endParaRPr>
          </a:p>
          <a:p>
            <a:pPr marL="0" indent="0"/>
            <a:endParaRPr lang="tr-TR" dirty="0">
              <a:latin typeface="Times" charset="0"/>
              <a:ea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26</a:t>
            </a:fld>
            <a:endParaRPr lang="en-US"/>
          </a:p>
        </p:txBody>
      </p:sp>
      <p:sp>
        <p:nvSpPr>
          <p:cNvPr id="7" name="Rectangle 5">
            <a:extLst>
              <a:ext uri="{FF2B5EF4-FFF2-40B4-BE49-F238E27FC236}">
                <a16:creationId xmlns:a16="http://schemas.microsoft.com/office/drawing/2014/main" id="{46A2EFEC-E2AE-6B41-9B83-862B90D35F9F}"/>
              </a:ext>
            </a:extLst>
          </p:cNvPr>
          <p:cNvSpPr>
            <a:spLocks noChangeArrowheads="1"/>
          </p:cNvSpPr>
          <p:nvPr/>
        </p:nvSpPr>
        <p:spPr bwMode="auto">
          <a:xfrm>
            <a:off x="381000" y="2742617"/>
            <a:ext cx="3470920"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a:latin typeface="Comic Sans MS" charset="0"/>
              </a:rPr>
              <a:t>Payment p;</a:t>
            </a:r>
          </a:p>
          <a:p>
            <a:pPr marL="342900" indent="-342900">
              <a:lnSpc>
                <a:spcPct val="80000"/>
              </a:lnSpc>
              <a:spcBef>
                <a:spcPct val="20000"/>
              </a:spcBef>
            </a:pPr>
            <a:endParaRPr lang="en-US" sz="1500" b="1" dirty="0">
              <a:latin typeface="Comic Sans MS" charset="0"/>
            </a:endParaRPr>
          </a:p>
        </p:txBody>
      </p:sp>
      <p:sp>
        <p:nvSpPr>
          <p:cNvPr id="8" name="Rectangle 5">
            <a:extLst>
              <a:ext uri="{FF2B5EF4-FFF2-40B4-BE49-F238E27FC236}">
                <a16:creationId xmlns:a16="http://schemas.microsoft.com/office/drawing/2014/main" id="{33869623-22D9-984A-9FDF-7D61F68B9A0A}"/>
              </a:ext>
            </a:extLst>
          </p:cNvPr>
          <p:cNvSpPr>
            <a:spLocks noChangeArrowheads="1"/>
          </p:cNvSpPr>
          <p:nvPr/>
        </p:nvSpPr>
        <p:spPr bwMode="auto">
          <a:xfrm>
            <a:off x="381000" y="3416595"/>
            <a:ext cx="1454696"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err="1">
                <a:latin typeface="Comic Sans MS" charset="0"/>
              </a:rPr>
              <a:t>p.authorize</a:t>
            </a:r>
            <a:r>
              <a:rPr lang="en-US" sz="1500" b="1" dirty="0">
                <a:latin typeface="Comic Sans MS" charset="0"/>
              </a:rPr>
              <a:t>(); </a:t>
            </a:r>
          </a:p>
          <a:p>
            <a:pPr marL="342900" indent="-342900">
              <a:lnSpc>
                <a:spcPct val="80000"/>
              </a:lnSpc>
              <a:spcBef>
                <a:spcPct val="20000"/>
              </a:spcBef>
            </a:pPr>
            <a:endParaRPr lang="en-US" sz="1500" b="1" dirty="0">
              <a:latin typeface="Comic Sans MS" charset="0"/>
            </a:endParaRPr>
          </a:p>
        </p:txBody>
      </p:sp>
      <p:sp>
        <p:nvSpPr>
          <p:cNvPr id="9" name="Rectangle 5">
            <a:extLst>
              <a:ext uri="{FF2B5EF4-FFF2-40B4-BE49-F238E27FC236}">
                <a16:creationId xmlns:a16="http://schemas.microsoft.com/office/drawing/2014/main" id="{863D88D2-94B7-A54D-B265-17A69FBA0FDC}"/>
              </a:ext>
            </a:extLst>
          </p:cNvPr>
          <p:cNvSpPr>
            <a:spLocks noChangeArrowheads="1"/>
          </p:cNvSpPr>
          <p:nvPr/>
        </p:nvSpPr>
        <p:spPr bwMode="auto">
          <a:xfrm>
            <a:off x="395536" y="3098177"/>
            <a:ext cx="3470920"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a:latin typeface="Comic Sans MS" charset="0"/>
              </a:rPr>
              <a:t>...</a:t>
            </a:r>
          </a:p>
          <a:p>
            <a:pPr marL="342900" indent="-342900">
              <a:lnSpc>
                <a:spcPct val="80000"/>
              </a:lnSpc>
              <a:spcBef>
                <a:spcPct val="20000"/>
              </a:spcBef>
            </a:pPr>
            <a:endParaRPr lang="en-US" sz="1500" b="1" dirty="0">
              <a:latin typeface="Comic Sans MS" charset="0"/>
            </a:endParaRPr>
          </a:p>
        </p:txBody>
      </p:sp>
      <p:sp>
        <p:nvSpPr>
          <p:cNvPr id="10" name="Rectangle 5">
            <a:extLst>
              <a:ext uri="{FF2B5EF4-FFF2-40B4-BE49-F238E27FC236}">
                <a16:creationId xmlns:a16="http://schemas.microsoft.com/office/drawing/2014/main" id="{A73C14EC-BB26-3B4F-95A3-0CBE7AC3FB28}"/>
              </a:ext>
            </a:extLst>
          </p:cNvPr>
          <p:cNvSpPr>
            <a:spLocks noChangeArrowheads="1"/>
          </p:cNvSpPr>
          <p:nvPr/>
        </p:nvSpPr>
        <p:spPr bwMode="auto">
          <a:xfrm>
            <a:off x="1691680" y="3433481"/>
            <a:ext cx="1470992"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a:latin typeface="Comic Sans MS" charset="0"/>
              </a:rPr>
              <a:t>// which one</a:t>
            </a:r>
          </a:p>
          <a:p>
            <a:pPr marL="342900" indent="-342900">
              <a:lnSpc>
                <a:spcPct val="80000"/>
              </a:lnSpc>
              <a:spcBef>
                <a:spcPct val="20000"/>
              </a:spcBef>
            </a:pPr>
            <a:endParaRPr lang="en-US" sz="1500" b="1" dirty="0">
              <a:latin typeface="Comic Sans MS" charset="0"/>
            </a:endParaRPr>
          </a:p>
        </p:txBody>
      </p:sp>
      <p:sp>
        <p:nvSpPr>
          <p:cNvPr id="11" name="Rectangle 5">
            <a:extLst>
              <a:ext uri="{FF2B5EF4-FFF2-40B4-BE49-F238E27FC236}">
                <a16:creationId xmlns:a16="http://schemas.microsoft.com/office/drawing/2014/main" id="{85C7C092-8DA5-5A48-B737-4820E279744C}"/>
              </a:ext>
            </a:extLst>
          </p:cNvPr>
          <p:cNvSpPr>
            <a:spLocks noChangeArrowheads="1"/>
          </p:cNvSpPr>
          <p:nvPr/>
        </p:nvSpPr>
        <p:spPr bwMode="auto">
          <a:xfrm>
            <a:off x="377492" y="3127394"/>
            <a:ext cx="3470920"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a:latin typeface="Comic Sans MS" charset="0"/>
              </a:rPr>
              <a:t>p = new </a:t>
            </a:r>
            <a:r>
              <a:rPr lang="en-US" sz="1500" b="1" dirty="0" err="1">
                <a:latin typeface="Comic Sans MS" charset="0"/>
              </a:rPr>
              <a:t>CreditPayment</a:t>
            </a:r>
            <a:r>
              <a:rPr lang="en-US" sz="1500" b="1" dirty="0">
                <a:latin typeface="Comic Sans MS" charset="0"/>
              </a:rPr>
              <a:t>(); </a:t>
            </a:r>
          </a:p>
          <a:p>
            <a:pPr marL="342900" indent="-342900">
              <a:lnSpc>
                <a:spcPct val="80000"/>
              </a:lnSpc>
              <a:spcBef>
                <a:spcPct val="20000"/>
              </a:spcBef>
            </a:pPr>
            <a:endParaRPr lang="en-US" sz="1500" b="1" dirty="0">
              <a:latin typeface="Comic Sans MS" charset="0"/>
            </a:endParaRPr>
          </a:p>
        </p:txBody>
      </p:sp>
      <p:sp>
        <p:nvSpPr>
          <p:cNvPr id="12" name="Rectangle 5">
            <a:extLst>
              <a:ext uri="{FF2B5EF4-FFF2-40B4-BE49-F238E27FC236}">
                <a16:creationId xmlns:a16="http://schemas.microsoft.com/office/drawing/2014/main" id="{11B06FF5-33D6-914C-B0CD-3B6E017DC71D}"/>
              </a:ext>
            </a:extLst>
          </p:cNvPr>
          <p:cNvSpPr>
            <a:spLocks noChangeArrowheads="1"/>
          </p:cNvSpPr>
          <p:nvPr/>
        </p:nvSpPr>
        <p:spPr bwMode="auto">
          <a:xfrm>
            <a:off x="1694685" y="3431988"/>
            <a:ext cx="2877315"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a:latin typeface="Comic Sans MS" charset="0"/>
              </a:rPr>
              <a:t>// </a:t>
            </a:r>
            <a:r>
              <a:rPr lang="en-US" sz="1500" b="1" dirty="0" err="1">
                <a:latin typeface="Comic Sans MS" charset="0"/>
              </a:rPr>
              <a:t>CreditPayment.authorize</a:t>
            </a:r>
            <a:r>
              <a:rPr lang="en-US" sz="1500" b="1" dirty="0">
                <a:latin typeface="Comic Sans MS" charset="0"/>
              </a:rPr>
              <a:t>()</a:t>
            </a:r>
          </a:p>
          <a:p>
            <a:pPr marL="342900" indent="-342900">
              <a:lnSpc>
                <a:spcPct val="80000"/>
              </a:lnSpc>
              <a:spcBef>
                <a:spcPct val="20000"/>
              </a:spcBef>
            </a:pPr>
            <a:endParaRPr lang="en-US" sz="1500" b="1" dirty="0">
              <a:latin typeface="Comic Sans MS" charset="0"/>
            </a:endParaRPr>
          </a:p>
        </p:txBody>
      </p:sp>
      <p:sp>
        <p:nvSpPr>
          <p:cNvPr id="13" name="Rectangle 5">
            <a:extLst>
              <a:ext uri="{FF2B5EF4-FFF2-40B4-BE49-F238E27FC236}">
                <a16:creationId xmlns:a16="http://schemas.microsoft.com/office/drawing/2014/main" id="{77310794-0997-5E4F-A5C6-E8358A36F159}"/>
              </a:ext>
            </a:extLst>
          </p:cNvPr>
          <p:cNvSpPr>
            <a:spLocks noChangeArrowheads="1"/>
          </p:cNvSpPr>
          <p:nvPr/>
        </p:nvSpPr>
        <p:spPr bwMode="auto">
          <a:xfrm>
            <a:off x="1670662" y="3424668"/>
            <a:ext cx="2877315"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a:latin typeface="Comic Sans MS" charset="0"/>
              </a:rPr>
              <a:t>// </a:t>
            </a:r>
            <a:r>
              <a:rPr lang="en-US" sz="1500" b="1" dirty="0" err="1">
                <a:latin typeface="Comic Sans MS" charset="0"/>
              </a:rPr>
              <a:t>DebitPayment.authorize</a:t>
            </a:r>
            <a:r>
              <a:rPr lang="en-US" sz="1500" b="1" dirty="0">
                <a:latin typeface="Comic Sans MS" charset="0"/>
              </a:rPr>
              <a:t>()</a:t>
            </a:r>
          </a:p>
          <a:p>
            <a:pPr marL="342900" indent="-342900">
              <a:lnSpc>
                <a:spcPct val="80000"/>
              </a:lnSpc>
              <a:spcBef>
                <a:spcPct val="20000"/>
              </a:spcBef>
            </a:pPr>
            <a:endParaRPr lang="en-US" sz="1500" b="1" dirty="0">
              <a:latin typeface="Comic Sans MS" charset="0"/>
            </a:endParaRPr>
          </a:p>
        </p:txBody>
      </p:sp>
      <p:sp>
        <p:nvSpPr>
          <p:cNvPr id="14" name="Rectangle 5">
            <a:extLst>
              <a:ext uri="{FF2B5EF4-FFF2-40B4-BE49-F238E27FC236}">
                <a16:creationId xmlns:a16="http://schemas.microsoft.com/office/drawing/2014/main" id="{951D2DC8-8C8E-5147-B525-9F0B4B577221}"/>
              </a:ext>
            </a:extLst>
          </p:cNvPr>
          <p:cNvSpPr>
            <a:spLocks noChangeArrowheads="1"/>
          </p:cNvSpPr>
          <p:nvPr/>
        </p:nvSpPr>
        <p:spPr bwMode="auto">
          <a:xfrm>
            <a:off x="381387" y="3138331"/>
            <a:ext cx="3470920" cy="3263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342900" indent="-342900">
              <a:lnSpc>
                <a:spcPct val="80000"/>
              </a:lnSpc>
              <a:spcBef>
                <a:spcPct val="20000"/>
              </a:spcBef>
            </a:pPr>
            <a:r>
              <a:rPr lang="en-US" sz="1500" b="1" dirty="0">
                <a:latin typeface="Comic Sans MS" charset="0"/>
              </a:rPr>
              <a:t>p = new </a:t>
            </a:r>
            <a:r>
              <a:rPr lang="en-US" sz="1500" b="1" dirty="0" err="1">
                <a:latin typeface="Comic Sans MS" charset="0"/>
              </a:rPr>
              <a:t>DebitPayment</a:t>
            </a:r>
            <a:r>
              <a:rPr lang="en-US" sz="1500" b="1" dirty="0">
                <a:latin typeface="Comic Sans MS" charset="0"/>
              </a:rPr>
              <a:t>(); </a:t>
            </a:r>
          </a:p>
          <a:p>
            <a:pPr marL="342900" indent="-342900">
              <a:lnSpc>
                <a:spcPct val="80000"/>
              </a:lnSpc>
              <a:spcBef>
                <a:spcPct val="20000"/>
              </a:spcBef>
            </a:pPr>
            <a:endParaRPr lang="en-US" sz="1500" b="1" dirty="0">
              <a:latin typeface="Comic Sans MS"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10"/>
                                        </p:tgtEl>
                                      </p:cBhvr>
                                    </p:animEffect>
                                    <p:set>
                                      <p:cBhvr>
                                        <p:cTn id="10" dur="1" fill="hold">
                                          <p:stCondLst>
                                            <p:cond delay="499"/>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grpId="1" nodeType="clickEffect">
                                  <p:stCondLst>
                                    <p:cond delay="0"/>
                                  </p:stCondLst>
                                  <p:childTnLst>
                                    <p:animEffect transition="out" filter="blinds(horizontal)">
                                      <p:cBhvr>
                                        <p:cTn id="22" dur="500"/>
                                        <p:tgtEl>
                                          <p:spTgt spid="11"/>
                                        </p:tgtEl>
                                      </p:cBhvr>
                                    </p:animEffect>
                                    <p:set>
                                      <p:cBhvr>
                                        <p:cTn id="23" dur="1" fill="hold">
                                          <p:stCondLst>
                                            <p:cond delay="499"/>
                                          </p:stCondLst>
                                        </p:cTn>
                                        <p:tgtEl>
                                          <p:spTgt spid="11"/>
                                        </p:tgtEl>
                                        <p:attrNameLst>
                                          <p:attrName>style.visibility</p:attrName>
                                        </p:attrNameLst>
                                      </p:cBhvr>
                                      <p:to>
                                        <p:strVal val="hidden"/>
                                      </p:to>
                                    </p:set>
                                  </p:childTnLst>
                                </p:cTn>
                              </p:par>
                              <p:par>
                                <p:cTn id="24" presetID="3" presetClass="exit" presetSubtype="10" fill="hold" grpId="1" nodeType="withEffect">
                                  <p:stCondLst>
                                    <p:cond delay="0"/>
                                  </p:stCondLst>
                                  <p:childTnLst>
                                    <p:animEffect transition="out" filter="blinds(horizontal)">
                                      <p:cBhvr>
                                        <p:cTn id="25" dur="500"/>
                                        <p:tgtEl>
                                          <p:spTgt spid="12"/>
                                        </p:tgtEl>
                                      </p:cBhvr>
                                    </p:animEffect>
                                    <p:set>
                                      <p:cBhvr>
                                        <p:cTn id="26" dur="1" fill="hold">
                                          <p:stCondLst>
                                            <p:cond delay="499"/>
                                          </p:stCondLst>
                                        </p:cTn>
                                        <p:tgtEl>
                                          <p:spTgt spid="12"/>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1" grpId="1"/>
      <p:bldP spid="12" grpId="0"/>
      <p:bldP spid="12" grpId="1"/>
      <p:bldP spid="13"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a:xfrm>
            <a:off x="533400" y="0"/>
            <a:ext cx="8229600" cy="715963"/>
          </a:xfrm>
        </p:spPr>
        <p:txBody>
          <a:bodyPr/>
          <a:lstStyle/>
          <a:p>
            <a:r>
              <a:rPr lang="en-US" dirty="0">
                <a:latin typeface="Arial" charset="0"/>
                <a:ea typeface="ＭＳ Ｐゴシック" charset="0"/>
                <a:cs typeface="ＭＳ Ｐゴシック" charset="0"/>
              </a:rPr>
              <a:t>Polymorphic messages and cases</a:t>
            </a:r>
          </a:p>
        </p:txBody>
      </p:sp>
      <p:graphicFrame>
        <p:nvGraphicFramePr>
          <p:cNvPr id="71682" name="Object 2"/>
          <p:cNvGraphicFramePr>
            <a:graphicFrameLocks noGrp="1" noChangeAspect="1"/>
          </p:cNvGraphicFramePr>
          <p:nvPr>
            <p:ph idx="1"/>
          </p:nvPr>
        </p:nvGraphicFramePr>
        <p:xfrm>
          <a:off x="0" y="762000"/>
          <a:ext cx="9144000" cy="5638800"/>
        </p:xfrm>
        <a:graphic>
          <a:graphicData uri="http://schemas.openxmlformats.org/presentationml/2006/ole">
            <mc:AlternateContent xmlns:mc="http://schemas.openxmlformats.org/markup-compatibility/2006">
              <mc:Choice xmlns:v="urn:schemas-microsoft-com:vml" Requires="v">
                <p:oleObj name="Visio" r:id="rId3" imgW="6879600" imgH="5778360" progId="Visio.Drawing.11">
                  <p:embed/>
                </p:oleObj>
              </mc:Choice>
              <mc:Fallback>
                <p:oleObj name="Visio" r:id="rId3" imgW="6879600" imgH="57783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t="32481"/>
                      <a:stretch>
                        <a:fillRect/>
                      </a:stretch>
                    </p:blipFill>
                    <p:spPr bwMode="auto">
                      <a:xfrm>
                        <a:off x="0" y="762000"/>
                        <a:ext cx="9144000" cy="5638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4" name="Slide Number Placeholder 3"/>
          <p:cNvSpPr>
            <a:spLocks noGrp="1"/>
          </p:cNvSpPr>
          <p:nvPr>
            <p:ph type="sldNum" sz="quarter" idx="12"/>
          </p:nvPr>
        </p:nvSpPr>
        <p:spPr/>
        <p:txBody>
          <a:bodyPr/>
          <a:lstStyle/>
          <a:p>
            <a:fld id="{14F6F305-04E4-5E4D-BE4E-D65C3C550673}"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en-US" dirty="0"/>
              <a:t>Asynchronous vs. synchronous messages</a:t>
            </a:r>
          </a:p>
        </p:txBody>
      </p:sp>
      <p:sp>
        <p:nvSpPr>
          <p:cNvPr id="3" name="Content Placeholder 2"/>
          <p:cNvSpPr>
            <a:spLocks noGrp="1"/>
          </p:cNvSpPr>
          <p:nvPr>
            <p:ph idx="1"/>
          </p:nvPr>
        </p:nvSpPr>
        <p:spPr/>
        <p:txBody>
          <a:bodyPr/>
          <a:lstStyle/>
          <a:p>
            <a:r>
              <a:rPr lang="en-US" dirty="0">
                <a:highlight>
                  <a:srgbClr val="00FFFF"/>
                </a:highlight>
              </a:rPr>
              <a:t>Synchronous message: Sender gets blocked until a response has received</a:t>
            </a:r>
          </a:p>
          <a:p>
            <a:r>
              <a:rPr lang="en-US" dirty="0">
                <a:highlight>
                  <a:srgbClr val="00FFFF"/>
                </a:highlight>
              </a:rPr>
              <a:t>Asynchronous message: Sender does not wait for a response </a:t>
            </a:r>
          </a:p>
          <a:p>
            <a:pPr lvl="1"/>
            <a:r>
              <a:rPr lang="ja-JP" altLang="en-US" dirty="0"/>
              <a:t>“</a:t>
            </a:r>
            <a:r>
              <a:rPr lang="en-US" dirty="0"/>
              <a:t>It </a:t>
            </a:r>
            <a:r>
              <a:rPr lang="en-US" dirty="0" err="1"/>
              <a:t>doesn</a:t>
            </a:r>
            <a:r>
              <a:rPr lang="ja-JP" altLang="en-US" dirty="0"/>
              <a:t>’</a:t>
            </a:r>
            <a:r>
              <a:rPr lang="en-US" dirty="0"/>
              <a:t>t block</a:t>
            </a:r>
            <a:r>
              <a:rPr lang="ja-JP" altLang="en-US" dirty="0"/>
              <a:t>”</a:t>
            </a:r>
            <a:endParaRPr lang="en-US" dirty="0"/>
          </a:p>
          <a:p>
            <a:pPr lvl="1"/>
            <a:r>
              <a:rPr lang="en-US" dirty="0"/>
              <a:t>Used in multi-threaded environments </a:t>
            </a:r>
          </a:p>
          <a:p>
            <a:pPr lvl="2"/>
            <a:r>
              <a:rPr lang="en-US" dirty="0"/>
              <a:t>New threads can be created and initiated</a:t>
            </a:r>
          </a:p>
          <a:p>
            <a:endParaRPr lang="en-US" dirty="0"/>
          </a:p>
        </p:txBody>
      </p:sp>
      <p:sp>
        <p:nvSpPr>
          <p:cNvPr id="73731" name="Rectangle 5"/>
          <p:cNvSpPr>
            <a:spLocks noChangeArrowheads="1"/>
          </p:cNvSpPr>
          <p:nvPr/>
        </p:nvSpPr>
        <p:spPr bwMode="auto">
          <a:xfrm>
            <a:off x="228600" y="1219200"/>
            <a:ext cx="8229600" cy="528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2900" indent="-342900">
              <a:spcBef>
                <a:spcPct val="20000"/>
              </a:spcBef>
            </a:pPr>
            <a:endParaRPr lang="en-US" dirty="0">
              <a:latin typeface="+mn-lt"/>
              <a:ea typeface="ＭＳ Ｐゴシック" charset="-128"/>
            </a:endParaRPr>
          </a:p>
        </p:txBody>
      </p:sp>
      <p:sp>
        <p:nvSpPr>
          <p:cNvPr id="4" name="Slide Number Placeholder 3"/>
          <p:cNvSpPr>
            <a:spLocks noGrp="1"/>
          </p:cNvSpPr>
          <p:nvPr>
            <p:ph type="sldNum" sz="quarter" idx="12"/>
          </p:nvPr>
        </p:nvSpPr>
        <p:spPr/>
        <p:txBody>
          <a:bodyPr/>
          <a:lstStyle/>
          <a:p>
            <a:fld id="{14F6F305-04E4-5E4D-BE4E-D65C3C550673}"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Asynchronous vs. synchronous calls</a:t>
            </a:r>
          </a:p>
        </p:txBody>
      </p:sp>
      <p:graphicFrame>
        <p:nvGraphicFramePr>
          <p:cNvPr id="75778" name="Object 2"/>
          <p:cNvGraphicFramePr>
            <a:graphicFrameLocks noGrp="1" noChangeAspect="1"/>
          </p:cNvGraphicFramePr>
          <p:nvPr>
            <p:ph idx="1"/>
          </p:nvPr>
        </p:nvGraphicFramePr>
        <p:xfrm>
          <a:off x="0" y="1219200"/>
          <a:ext cx="9144000" cy="3776663"/>
        </p:xfrm>
        <a:graphic>
          <a:graphicData uri="http://schemas.openxmlformats.org/presentationml/2006/ole">
            <mc:AlternateContent xmlns:mc="http://schemas.openxmlformats.org/markup-compatibility/2006">
              <mc:Choice xmlns:v="urn:schemas-microsoft-com:vml" Requires="v">
                <p:oleObj name="Visio" r:id="rId3" imgW="6885360" imgH="2842560" progId="Visio.Drawing.11">
                  <p:embed/>
                </p:oleObj>
              </mc:Choice>
              <mc:Fallback>
                <p:oleObj name="Visio" r:id="rId3" imgW="6885360" imgH="28425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19200"/>
                        <a:ext cx="9144000" cy="37766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75780" name="Rectangle 4"/>
          <p:cNvSpPr>
            <a:spLocks noChangeArrowheads="1"/>
          </p:cNvSpPr>
          <p:nvPr/>
        </p:nvSpPr>
        <p:spPr bwMode="auto">
          <a:xfrm>
            <a:off x="228600" y="5029200"/>
            <a:ext cx="8229600" cy="147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42900" indent="-342900">
              <a:spcBef>
                <a:spcPct val="20000"/>
              </a:spcBef>
            </a:pPr>
            <a:r>
              <a:rPr lang="en-US" b="1" dirty="0">
                <a:latin typeface="+mn-lt"/>
                <a:ea typeface="ＭＳ Ｐゴシック" pitchFamily="-1" charset="-128"/>
                <a:cs typeface="ＭＳ Ｐゴシック" pitchFamily="-1" charset="-128"/>
              </a:rPr>
              <a:t>Active object: Each instance runs on and controls its own thread of execution</a:t>
            </a:r>
          </a:p>
          <a:p>
            <a:pPr marL="385763" lvl="1" indent="-195263">
              <a:spcBef>
                <a:spcPct val="20000"/>
              </a:spcBef>
              <a:buChar char="•"/>
            </a:pPr>
            <a:r>
              <a:rPr lang="en-US" dirty="0">
                <a:latin typeface="+mn-lt"/>
                <a:ea typeface="ＭＳ Ｐゴシック" charset="-128"/>
              </a:rPr>
              <a:t>Example: Clock</a:t>
            </a:r>
          </a:p>
        </p:txBody>
      </p:sp>
      <p:sp>
        <p:nvSpPr>
          <p:cNvPr id="2" name="Slide Number Placeholder 1"/>
          <p:cNvSpPr>
            <a:spLocks noGrp="1"/>
          </p:cNvSpPr>
          <p:nvPr>
            <p:ph type="sldNum" sz="quarter" idx="12"/>
          </p:nvPr>
        </p:nvSpPr>
        <p:spPr/>
        <p:txBody>
          <a:bodyPr/>
          <a:lstStyle/>
          <a:p>
            <a:fld id="{14F6F305-04E4-5E4D-BE4E-D65C3C550673}"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Grp="1" noChangeArrowheads="1"/>
          </p:cNvSpPr>
          <p:nvPr>
            <p:ph type="title"/>
          </p:nvPr>
        </p:nvSpPr>
        <p:spPr/>
        <p:txBody>
          <a:bodyPr/>
          <a:lstStyle/>
          <a:p>
            <a:r>
              <a:rPr lang="en-GB">
                <a:latin typeface="Arial" charset="0"/>
                <a:ea typeface="ＭＳ Ｐゴシック" charset="0"/>
                <a:cs typeface="Times" charset="0"/>
              </a:rPr>
              <a:t>Sequence Diagrams</a:t>
            </a:r>
            <a:r>
              <a:rPr lang="en-US">
                <a:latin typeface="Arial" charset="0"/>
                <a:ea typeface="ＭＳ Ｐゴシック" charset="0"/>
                <a:cs typeface="ＭＳ Ｐゴシック" charset="0"/>
              </a:rPr>
              <a:t> </a:t>
            </a:r>
          </a:p>
        </p:txBody>
      </p:sp>
      <p:sp>
        <p:nvSpPr>
          <p:cNvPr id="77829" name="Rectangle 3"/>
          <p:cNvSpPr>
            <a:spLocks noGrp="1" noChangeArrowheads="1"/>
          </p:cNvSpPr>
          <p:nvPr>
            <p:ph type="body" idx="1"/>
          </p:nvPr>
        </p:nvSpPr>
        <p:spPr>
          <a:xfrm>
            <a:off x="1071563" y="1071563"/>
            <a:ext cx="7543800" cy="4800600"/>
          </a:xfrm>
        </p:spPr>
        <p:txBody>
          <a:bodyPr/>
          <a:lstStyle/>
          <a:p>
            <a:pPr marL="0" indent="0"/>
            <a:r>
              <a:rPr lang="en-GB" dirty="0">
                <a:highlight>
                  <a:srgbClr val="00FFFF"/>
                </a:highlight>
                <a:latin typeface="Times" charset="0"/>
                <a:ea typeface="ＭＳ Ｐゴシック" charset="0"/>
                <a:cs typeface="Times" charset="0"/>
              </a:rPr>
              <a:t>Interaction diagrams model the dynamic aspects of a software system</a:t>
            </a:r>
          </a:p>
          <a:p>
            <a:pPr lvl="1"/>
            <a:r>
              <a:rPr lang="en-GB" dirty="0">
                <a:highlight>
                  <a:srgbClr val="FFFF00"/>
                </a:highlight>
                <a:latin typeface="Times" charset="0"/>
                <a:ea typeface="ＭＳ Ｐゴシック" charset="0"/>
                <a:cs typeface="Times" charset="0"/>
              </a:rPr>
              <a:t>They help you to visualize how the system runs</a:t>
            </a:r>
          </a:p>
          <a:p>
            <a:pPr lvl="1" algn="just"/>
            <a:r>
              <a:rPr lang="en-GB" dirty="0">
                <a:latin typeface="Times" charset="0"/>
                <a:ea typeface="ＭＳ Ｐゴシック" charset="0"/>
                <a:cs typeface="Times" charset="0"/>
              </a:rPr>
              <a:t>They show how a set of actors and objects communicate with each other to perform:</a:t>
            </a:r>
          </a:p>
          <a:p>
            <a:pPr lvl="2" algn="just"/>
            <a:r>
              <a:rPr lang="en-GB" dirty="0">
                <a:latin typeface="Times" charset="0"/>
                <a:ea typeface="ＭＳ Ｐゴシック" charset="0"/>
                <a:cs typeface="Times" charset="0"/>
              </a:rPr>
              <a:t>The steps of a use case, or</a:t>
            </a:r>
          </a:p>
          <a:p>
            <a:pPr lvl="2" algn="just"/>
            <a:r>
              <a:rPr lang="en-GB" dirty="0">
                <a:latin typeface="Times" charset="0"/>
                <a:ea typeface="ＭＳ Ｐゴシック" charset="0"/>
                <a:cs typeface="Times" charset="0"/>
              </a:rPr>
              <a:t>The steps of some other piece of functionality </a:t>
            </a:r>
          </a:p>
          <a:p>
            <a:pPr lvl="1"/>
            <a:r>
              <a:rPr lang="en-GB" dirty="0">
                <a:latin typeface="Times" charset="0"/>
                <a:ea typeface="ＭＳ Ｐゴシック" charset="0"/>
                <a:cs typeface="Times" charset="0"/>
              </a:rPr>
              <a:t>An interaction diagram is often </a:t>
            </a:r>
            <a:r>
              <a:rPr lang="en-GB" dirty="0">
                <a:highlight>
                  <a:srgbClr val="FFFF00"/>
                </a:highlight>
                <a:latin typeface="Times" charset="0"/>
                <a:ea typeface="ＭＳ Ｐゴシック" charset="0"/>
                <a:cs typeface="Times" charset="0"/>
              </a:rPr>
              <a:t>built from a use case and a class diagram </a:t>
            </a:r>
          </a:p>
          <a:p>
            <a:pPr lvl="2"/>
            <a:r>
              <a:rPr lang="en-GB" dirty="0">
                <a:highlight>
                  <a:srgbClr val="FFFF00"/>
                </a:highlight>
                <a:latin typeface="Times" charset="0"/>
                <a:ea typeface="ＭＳ Ｐゴシック" charset="0"/>
                <a:cs typeface="Times" charset="0"/>
              </a:rPr>
              <a:t>The objective is to show how a set of objects accomplish the required interactions with an actor</a:t>
            </a:r>
            <a:endParaRPr lang="en-US" dirty="0">
              <a:highlight>
                <a:srgbClr val="FFFF00"/>
              </a:highlight>
              <a:latin typeface="Times" charset="0"/>
              <a:ea typeface="ＭＳ Ｐゴシック" charset="0"/>
              <a:cs typeface="Times"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6" name="Rectangle 2"/>
          <p:cNvSpPr>
            <a:spLocks noGrp="1" noChangeArrowheads="1"/>
          </p:cNvSpPr>
          <p:nvPr>
            <p:ph type="title"/>
          </p:nvPr>
        </p:nvSpPr>
        <p:spPr/>
        <p:txBody>
          <a:bodyPr/>
          <a:lstStyle/>
          <a:p>
            <a:r>
              <a:rPr lang="en-GB" dirty="0">
                <a:highlight>
                  <a:srgbClr val="00FFFF"/>
                </a:highlight>
                <a:latin typeface="Arial" charset="0"/>
                <a:ea typeface="ＭＳ Ｐゴシック" charset="0"/>
                <a:cs typeface="Times" charset="0"/>
              </a:rPr>
              <a:t>Communication Diagrams</a:t>
            </a:r>
            <a:r>
              <a:rPr lang="en-US" dirty="0">
                <a:highlight>
                  <a:srgbClr val="00FFFF"/>
                </a:highlight>
                <a:latin typeface="Arial" charset="0"/>
                <a:ea typeface="ＭＳ Ｐゴシック" charset="0"/>
                <a:cs typeface="ＭＳ Ｐゴシック" charset="0"/>
              </a:rPr>
              <a:t> </a:t>
            </a:r>
          </a:p>
        </p:txBody>
      </p:sp>
      <p:sp>
        <p:nvSpPr>
          <p:cNvPr id="79877" name="Rectangle 3"/>
          <p:cNvSpPr>
            <a:spLocks noGrp="1" noChangeArrowheads="1"/>
          </p:cNvSpPr>
          <p:nvPr>
            <p:ph type="body" idx="1"/>
          </p:nvPr>
        </p:nvSpPr>
        <p:spPr/>
        <p:txBody>
          <a:bodyPr/>
          <a:lstStyle/>
          <a:p>
            <a:pPr marL="0" indent="0"/>
            <a:r>
              <a:rPr lang="en-GB" dirty="0">
                <a:latin typeface="Times" charset="0"/>
                <a:ea typeface="ＭＳ Ｐゴシック" charset="0"/>
                <a:cs typeface="Times" charset="0"/>
              </a:rPr>
              <a:t>Communication diagrams emphasise how the objects collaborate in order to realize an interaction</a:t>
            </a:r>
            <a:r>
              <a:rPr lang="en-US" dirty="0">
                <a:latin typeface="Times" charset="0"/>
                <a:ea typeface="ＭＳ Ｐゴシック" charset="0"/>
                <a:cs typeface="ＭＳ Ｐゴシック" charset="0"/>
              </a:rPr>
              <a:t> </a:t>
            </a:r>
          </a:p>
          <a:p>
            <a:pPr lvl="1" algn="just"/>
            <a:r>
              <a:rPr lang="en-GB" dirty="0">
                <a:latin typeface="Times" charset="0"/>
                <a:ea typeface="ＭＳ Ｐゴシック" charset="0"/>
                <a:cs typeface="Times" charset="0"/>
              </a:rPr>
              <a:t>A communication diagram is a graph with the </a:t>
            </a:r>
            <a:r>
              <a:rPr lang="en-GB" dirty="0">
                <a:highlight>
                  <a:srgbClr val="00FF00"/>
                </a:highlight>
                <a:latin typeface="Times" charset="0"/>
                <a:ea typeface="ＭＳ Ｐゴシック" charset="0"/>
                <a:cs typeface="Times" charset="0"/>
              </a:rPr>
              <a:t>objects</a:t>
            </a:r>
            <a:r>
              <a:rPr lang="en-GB" dirty="0">
                <a:highlight>
                  <a:srgbClr val="FFFF00"/>
                </a:highlight>
                <a:latin typeface="Times" charset="0"/>
                <a:ea typeface="ＭＳ Ｐゴシック" charset="0"/>
                <a:cs typeface="Times" charset="0"/>
              </a:rPr>
              <a:t> as the vertices</a:t>
            </a:r>
          </a:p>
          <a:p>
            <a:pPr lvl="1" algn="just"/>
            <a:r>
              <a:rPr lang="en-GB" dirty="0">
                <a:highlight>
                  <a:srgbClr val="00FF00"/>
                </a:highlight>
                <a:latin typeface="Times" charset="0"/>
                <a:ea typeface="ＭＳ Ｐゴシック" charset="0"/>
                <a:cs typeface="Times" charset="0"/>
              </a:rPr>
              <a:t>Communication links </a:t>
            </a:r>
            <a:r>
              <a:rPr lang="en-GB" dirty="0">
                <a:highlight>
                  <a:srgbClr val="FFFF00"/>
                </a:highlight>
                <a:latin typeface="Times" charset="0"/>
                <a:ea typeface="ＭＳ Ｐゴシック" charset="0"/>
                <a:cs typeface="Times" charset="0"/>
              </a:rPr>
              <a:t>are added between objects</a:t>
            </a:r>
          </a:p>
          <a:p>
            <a:pPr lvl="1" algn="just"/>
            <a:r>
              <a:rPr lang="en-GB" dirty="0">
                <a:highlight>
                  <a:srgbClr val="FFFF00"/>
                </a:highlight>
                <a:latin typeface="Times" charset="0"/>
                <a:ea typeface="ＭＳ Ｐゴシック" charset="0"/>
                <a:cs typeface="Times" charset="0"/>
              </a:rPr>
              <a:t>Messages are attached to these links </a:t>
            </a:r>
          </a:p>
          <a:p>
            <a:pPr lvl="2" algn="just"/>
            <a:r>
              <a:rPr lang="en-GB" dirty="0">
                <a:latin typeface="Times" charset="0"/>
                <a:ea typeface="ＭＳ Ｐゴシック" charset="0"/>
                <a:cs typeface="Times" charset="0"/>
              </a:rPr>
              <a:t>Shown as arrows labelled with the message name </a:t>
            </a:r>
          </a:p>
          <a:p>
            <a:pPr lvl="1" algn="just"/>
            <a:r>
              <a:rPr lang="en-GB" dirty="0">
                <a:highlight>
                  <a:srgbClr val="FFFF00"/>
                </a:highlight>
                <a:latin typeface="Times" charset="0"/>
                <a:ea typeface="ＭＳ Ｐゴシック" charset="0"/>
                <a:cs typeface="Times" charset="0"/>
              </a:rPr>
              <a:t>Time ordering is indicated by prefixing the message with some numbering scheme</a:t>
            </a:r>
          </a:p>
          <a:p>
            <a:pPr lvl="1"/>
            <a:endParaRPr lang="en-US" dirty="0">
              <a:latin typeface="Times" charset="0"/>
              <a:ea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4" name="Rectangle 2"/>
          <p:cNvSpPr>
            <a:spLocks noGrp="1" noChangeArrowheads="1"/>
          </p:cNvSpPr>
          <p:nvPr>
            <p:ph type="title"/>
          </p:nvPr>
        </p:nvSpPr>
        <p:spPr/>
        <p:txBody>
          <a:bodyPr/>
          <a:lstStyle/>
          <a:p>
            <a:pPr algn="just"/>
            <a:r>
              <a:rPr lang="en-GB" dirty="0">
                <a:latin typeface="Arial" charset="0"/>
                <a:ea typeface="ＭＳ Ｐゴシック" charset="0"/>
                <a:cs typeface="Times" charset="0"/>
              </a:rPr>
              <a:t>Communication Diagrams</a:t>
            </a:r>
          </a:p>
        </p:txBody>
      </p:sp>
      <p:pic>
        <p:nvPicPr>
          <p:cNvPr id="81925" name="Picture 117"/>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500188" y="2428875"/>
            <a:ext cx="6553200" cy="2447925"/>
          </a:xfrm>
          <a:noFill/>
        </p:spPr>
      </p:pic>
      <p:pic>
        <p:nvPicPr>
          <p:cNvPr id="81926" name="Picture 120"/>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1071563" y="1143000"/>
            <a:ext cx="7215187" cy="993775"/>
          </a:xfrm>
          <a:noFill/>
        </p:spPr>
      </p:pic>
      <p:pic>
        <p:nvPicPr>
          <p:cNvPr id="81927" name="Picture 4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0125" y="5357813"/>
            <a:ext cx="7543800" cy="720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578827F-E356-B04D-A807-CAEF2C38836F}"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2"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Communication </a:t>
            </a:r>
            <a:r>
              <a:rPr lang="en-GB" dirty="0">
                <a:latin typeface="Arial" charset="0"/>
                <a:ea typeface="ＭＳ Ｐゴシック" charset="0"/>
                <a:cs typeface="Times" charset="0"/>
              </a:rPr>
              <a:t>Diagrams – </a:t>
            </a:r>
            <a:br>
              <a:rPr lang="en-GB" dirty="0">
                <a:latin typeface="Arial" charset="0"/>
                <a:ea typeface="ＭＳ Ｐゴシック" charset="0"/>
                <a:cs typeface="Times" charset="0"/>
              </a:rPr>
            </a:br>
            <a:r>
              <a:rPr lang="en-GB" dirty="0">
                <a:latin typeface="Arial" charset="0"/>
                <a:ea typeface="ＭＳ Ｐゴシック" charset="0"/>
                <a:cs typeface="Times" charset="0"/>
              </a:rPr>
              <a:t>  same example, more details</a:t>
            </a:r>
            <a:endParaRPr lang="en-US" dirty="0">
              <a:latin typeface="Arial" charset="0"/>
              <a:ea typeface="ＭＳ Ｐゴシック" charset="0"/>
              <a:cs typeface="Times" charset="0"/>
            </a:endParaRPr>
          </a:p>
        </p:txBody>
      </p:sp>
      <p:pic>
        <p:nvPicPr>
          <p:cNvPr id="83973" name="Picture 7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2938" y="1285875"/>
            <a:ext cx="8153400" cy="2397125"/>
          </a:xfrm>
          <a:noFill/>
        </p:spPr>
      </p:pic>
      <p:sp>
        <p:nvSpPr>
          <p:cNvPr id="8" name="Rectangle 3"/>
          <p:cNvSpPr txBox="1">
            <a:spLocks noChangeArrowheads="1"/>
          </p:cNvSpPr>
          <p:nvPr/>
        </p:nvSpPr>
        <p:spPr bwMode="auto">
          <a:xfrm>
            <a:off x="1066800" y="3714750"/>
            <a:ext cx="7543800" cy="2457450"/>
          </a:xfrm>
          <a:prstGeom prst="rect">
            <a:avLst/>
          </a:prstGeom>
          <a:noFill/>
          <a:ln w="9525">
            <a:noFill/>
            <a:miter lim="800000"/>
            <a:headEnd/>
            <a:tailEnd/>
          </a:ln>
        </p:spPr>
        <p:txBody>
          <a:bodyPr/>
          <a:lstStyle/>
          <a:p>
            <a:pPr marL="804863" lvl="2" indent="-228600">
              <a:spcBef>
                <a:spcPct val="20000"/>
              </a:spcBef>
              <a:defRPr/>
            </a:pPr>
            <a:endParaRPr lang="en-GB" kern="0" dirty="0">
              <a:latin typeface="+mn-lt"/>
              <a:ea typeface="+mn-ea"/>
              <a:cs typeface="Times" pitchFamily="1" charset="0"/>
            </a:endParaRPr>
          </a:p>
          <a:p>
            <a:pPr marL="804863" lvl="2" indent="-228600">
              <a:spcBef>
                <a:spcPct val="20000"/>
              </a:spcBef>
              <a:defRPr/>
            </a:pPr>
            <a:r>
              <a:rPr lang="en-GB" kern="0" dirty="0">
                <a:latin typeface="+mn-lt"/>
                <a:ea typeface="+mn-ea"/>
                <a:cs typeface="Times" pitchFamily="1" charset="0"/>
              </a:rPr>
              <a:t>1. </a:t>
            </a:r>
            <a:r>
              <a:rPr lang="en-GB" kern="0" dirty="0">
                <a:highlight>
                  <a:srgbClr val="FFFF00"/>
                </a:highlight>
                <a:latin typeface="+mn-lt"/>
                <a:ea typeface="+mn-ea"/>
                <a:cs typeface="Times" pitchFamily="1" charset="0"/>
              </a:rPr>
              <a:t>The classes of the two objects have an </a:t>
            </a:r>
            <a:r>
              <a:rPr lang="en-GB" i="1" kern="0" dirty="0">
                <a:highlight>
                  <a:srgbClr val="FFFF00"/>
                </a:highlight>
                <a:latin typeface="+mn-lt"/>
                <a:ea typeface="+mn-ea"/>
                <a:cs typeface="Times" pitchFamily="1" charset="0"/>
              </a:rPr>
              <a:t>association</a:t>
            </a:r>
            <a:r>
              <a:rPr lang="en-GB" kern="0" dirty="0">
                <a:highlight>
                  <a:srgbClr val="FFFF00"/>
                </a:highlight>
                <a:latin typeface="+mn-lt"/>
                <a:ea typeface="+mn-ea"/>
                <a:cs typeface="Times" pitchFamily="1" charset="0"/>
              </a:rPr>
              <a:t> between them</a:t>
            </a:r>
          </a:p>
          <a:p>
            <a:pPr marL="1223963" lvl="3" indent="-228600">
              <a:spcBef>
                <a:spcPct val="20000"/>
              </a:spcBef>
              <a:buFontTx/>
              <a:buChar char="-"/>
              <a:defRPr/>
            </a:pPr>
            <a:r>
              <a:rPr lang="en-GB" sz="2000" kern="0" dirty="0">
                <a:latin typeface="+mn-lt"/>
                <a:ea typeface="+mn-ea"/>
                <a:cs typeface="Times" pitchFamily="1" charset="0"/>
              </a:rPr>
              <a:t>This is the most common case</a:t>
            </a:r>
          </a:p>
          <a:p>
            <a:pPr marL="1223963" lvl="3" indent="-228600">
              <a:spcBef>
                <a:spcPct val="20000"/>
              </a:spcBef>
              <a:buFontTx/>
              <a:buChar char="-"/>
              <a:defRPr/>
            </a:pPr>
            <a:r>
              <a:rPr lang="en-GB" sz="2000" kern="0" dirty="0">
                <a:latin typeface="+mn-lt"/>
                <a:ea typeface="+mn-ea"/>
                <a:cs typeface="Times" pitchFamily="1" charset="0"/>
              </a:rPr>
              <a:t>If all messages are sent in the same direction, then probably the association can be made unidirectional</a:t>
            </a:r>
          </a:p>
        </p:txBody>
      </p:sp>
      <p:sp>
        <p:nvSpPr>
          <p:cNvPr id="2" name="Slide Number Placeholder 1"/>
          <p:cNvSpPr>
            <a:spLocks noGrp="1"/>
          </p:cNvSpPr>
          <p:nvPr>
            <p:ph type="sldNum" sz="quarter" idx="12"/>
          </p:nvPr>
        </p:nvSpPr>
        <p:spPr/>
        <p:txBody>
          <a:bodyPr/>
          <a:lstStyle/>
          <a:p>
            <a:fld id="{14F6F305-04E4-5E4D-BE4E-D65C3C550673}"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6020"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Communication </a:t>
            </a:r>
            <a:r>
              <a:rPr lang="en-GB" dirty="0">
                <a:latin typeface="Arial" charset="0"/>
                <a:ea typeface="ＭＳ Ｐゴシック" charset="0"/>
                <a:cs typeface="Times" charset="0"/>
              </a:rPr>
              <a:t>Diagrams – </a:t>
            </a:r>
            <a:br>
              <a:rPr lang="en-GB" dirty="0">
                <a:latin typeface="Arial" charset="0"/>
                <a:ea typeface="ＭＳ Ｐゴシック" charset="0"/>
                <a:cs typeface="Times" charset="0"/>
              </a:rPr>
            </a:br>
            <a:r>
              <a:rPr lang="en-GB" dirty="0">
                <a:latin typeface="Arial" charset="0"/>
                <a:ea typeface="ＭＳ Ｐゴシック" charset="0"/>
                <a:cs typeface="Times" charset="0"/>
              </a:rPr>
              <a:t>  same example, more details</a:t>
            </a:r>
            <a:endParaRPr lang="en-US" dirty="0">
              <a:latin typeface="Arial" charset="0"/>
              <a:ea typeface="ＭＳ Ｐゴシック" charset="0"/>
              <a:cs typeface="Times" charset="0"/>
            </a:endParaRPr>
          </a:p>
        </p:txBody>
      </p:sp>
      <p:pic>
        <p:nvPicPr>
          <p:cNvPr id="86021" name="Picture 7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2938" y="1285875"/>
            <a:ext cx="8153400" cy="2397125"/>
          </a:xfrm>
          <a:noFill/>
        </p:spPr>
      </p:pic>
      <p:sp>
        <p:nvSpPr>
          <p:cNvPr id="86022" name="Rectangle 3"/>
          <p:cNvSpPr txBox="1">
            <a:spLocks noChangeArrowheads="1"/>
          </p:cNvSpPr>
          <p:nvPr/>
        </p:nvSpPr>
        <p:spPr bwMode="auto">
          <a:xfrm>
            <a:off x="785813" y="3857625"/>
            <a:ext cx="7543800" cy="480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24161750" indent="-24161750">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marL="804863" indent="-228600">
              <a:defRPr sz="2400">
                <a:solidFill>
                  <a:schemeClr val="tx1"/>
                </a:solidFill>
                <a:latin typeface="Times" charset="0"/>
                <a:ea typeface="ＭＳ Ｐゴシック" charset="0"/>
              </a:defRPr>
            </a:lvl3pPr>
            <a:lvl4pPr marL="1223963" indent="-228600">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lvl="2">
              <a:spcBef>
                <a:spcPct val="20000"/>
              </a:spcBef>
            </a:pPr>
            <a:endParaRPr lang="en-GB" dirty="0">
              <a:cs typeface="Times" charset="0"/>
            </a:endParaRPr>
          </a:p>
          <a:p>
            <a:pPr lvl="2">
              <a:spcBef>
                <a:spcPct val="20000"/>
              </a:spcBef>
            </a:pPr>
            <a:r>
              <a:rPr lang="en-GB" dirty="0">
                <a:highlight>
                  <a:srgbClr val="FFFF00"/>
                </a:highlight>
                <a:cs typeface="Times" charset="0"/>
              </a:rPr>
              <a:t>2. The receiving object is stored in a </a:t>
            </a:r>
            <a:r>
              <a:rPr lang="en-GB" i="1" dirty="0">
                <a:highlight>
                  <a:srgbClr val="FFFF00"/>
                </a:highlight>
                <a:cs typeface="Times" charset="0"/>
              </a:rPr>
              <a:t>local</a:t>
            </a:r>
            <a:r>
              <a:rPr lang="en-GB" dirty="0">
                <a:highlight>
                  <a:srgbClr val="FFFF00"/>
                </a:highlight>
                <a:cs typeface="Times" charset="0"/>
              </a:rPr>
              <a:t> variable of the sending method</a:t>
            </a:r>
          </a:p>
          <a:p>
            <a:pPr lvl="3">
              <a:spcBef>
                <a:spcPct val="20000"/>
              </a:spcBef>
              <a:buFontTx/>
              <a:buChar char="-"/>
            </a:pPr>
            <a:r>
              <a:rPr lang="en-GB" sz="2000" dirty="0">
                <a:cs typeface="Times" charset="0"/>
              </a:rPr>
              <a:t>This often happens when the object is created in the sending method or when some computation returns an object</a:t>
            </a:r>
          </a:p>
          <a:p>
            <a:pPr lvl="3">
              <a:spcBef>
                <a:spcPct val="20000"/>
              </a:spcBef>
              <a:buFontTx/>
              <a:buChar char="-"/>
            </a:pPr>
            <a:r>
              <a:rPr lang="en-GB" sz="2000" dirty="0">
                <a:cs typeface="Times" charset="0"/>
              </a:rPr>
              <a:t>The stereotype to be used is «local» or [L]</a:t>
            </a:r>
          </a:p>
          <a:p>
            <a:pPr lvl="3">
              <a:spcBef>
                <a:spcPct val="20000"/>
              </a:spcBef>
              <a:buFontTx/>
              <a:buChar char="-"/>
            </a:pPr>
            <a:endParaRPr lang="en-GB" sz="2000" dirty="0">
              <a:cs typeface="Times" charset="0"/>
            </a:endParaRPr>
          </a:p>
          <a:p>
            <a:pPr lvl="2">
              <a:spcBef>
                <a:spcPct val="20000"/>
              </a:spcBef>
            </a:pPr>
            <a:endParaRPr lang="en-GB" sz="2000" dirty="0">
              <a:cs typeface="Times"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8"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Communication </a:t>
            </a:r>
            <a:r>
              <a:rPr lang="en-GB" dirty="0">
                <a:latin typeface="Arial" charset="0"/>
                <a:ea typeface="ＭＳ Ｐゴシック" charset="0"/>
                <a:cs typeface="Times" charset="0"/>
              </a:rPr>
              <a:t>Diagrams – </a:t>
            </a:r>
            <a:br>
              <a:rPr lang="en-GB" dirty="0">
                <a:latin typeface="Arial" charset="0"/>
                <a:ea typeface="ＭＳ Ｐゴシック" charset="0"/>
                <a:cs typeface="Times" charset="0"/>
              </a:rPr>
            </a:br>
            <a:r>
              <a:rPr lang="en-GB" dirty="0">
                <a:latin typeface="Arial" charset="0"/>
                <a:ea typeface="ＭＳ Ｐゴシック" charset="0"/>
                <a:cs typeface="Times" charset="0"/>
              </a:rPr>
              <a:t>  same example, more details</a:t>
            </a:r>
            <a:endParaRPr lang="en-US" dirty="0">
              <a:latin typeface="Arial" charset="0"/>
              <a:ea typeface="ＭＳ Ｐゴシック" charset="0"/>
              <a:cs typeface="Times" charset="0"/>
            </a:endParaRPr>
          </a:p>
        </p:txBody>
      </p:sp>
      <p:pic>
        <p:nvPicPr>
          <p:cNvPr id="88069" name="Picture 7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2938" y="1285875"/>
            <a:ext cx="8153400" cy="2397125"/>
          </a:xfrm>
          <a:noFill/>
        </p:spPr>
      </p:pic>
      <p:sp>
        <p:nvSpPr>
          <p:cNvPr id="88070" name="Rectangle 3"/>
          <p:cNvSpPr txBox="1">
            <a:spLocks noChangeArrowheads="1"/>
          </p:cNvSpPr>
          <p:nvPr/>
        </p:nvSpPr>
        <p:spPr bwMode="auto">
          <a:xfrm>
            <a:off x="990600" y="4214813"/>
            <a:ext cx="7543800" cy="1881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24161750" indent="-24161750">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marL="804863" indent="-228600">
              <a:defRPr sz="2400">
                <a:solidFill>
                  <a:schemeClr val="tx1"/>
                </a:solidFill>
                <a:latin typeface="Times" charset="0"/>
                <a:ea typeface="ＭＳ Ｐゴシック" charset="0"/>
              </a:defRPr>
            </a:lvl3pPr>
            <a:lvl4pPr marL="1223963" indent="-228600">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lvl="3">
              <a:spcBef>
                <a:spcPct val="20000"/>
              </a:spcBef>
              <a:buFontTx/>
              <a:buChar char="-"/>
            </a:pPr>
            <a:endParaRPr lang="en-GB" sz="2000" dirty="0">
              <a:cs typeface="Times" charset="0"/>
            </a:endParaRPr>
          </a:p>
          <a:p>
            <a:pPr lvl="2">
              <a:spcBef>
                <a:spcPct val="20000"/>
              </a:spcBef>
            </a:pPr>
            <a:r>
              <a:rPr lang="en-GB" dirty="0">
                <a:highlight>
                  <a:srgbClr val="FFFF00"/>
                </a:highlight>
                <a:cs typeface="Times" charset="0"/>
              </a:rPr>
              <a:t>3. A reference to the receiving object has been received as a </a:t>
            </a:r>
            <a:r>
              <a:rPr lang="en-GB" i="1" dirty="0">
                <a:highlight>
                  <a:srgbClr val="FFFF00"/>
                </a:highlight>
                <a:cs typeface="Times" charset="0"/>
              </a:rPr>
              <a:t>parameter</a:t>
            </a:r>
            <a:r>
              <a:rPr lang="en-GB" dirty="0">
                <a:highlight>
                  <a:srgbClr val="FFFF00"/>
                </a:highlight>
                <a:cs typeface="Times" charset="0"/>
              </a:rPr>
              <a:t> of the sending method </a:t>
            </a:r>
          </a:p>
          <a:p>
            <a:pPr lvl="3">
              <a:spcBef>
                <a:spcPct val="20000"/>
              </a:spcBef>
              <a:buFontTx/>
              <a:buChar char="-"/>
            </a:pPr>
            <a:r>
              <a:rPr lang="en-GB" sz="2000" dirty="0">
                <a:cs typeface="Times" charset="0"/>
              </a:rPr>
              <a:t>The stereotype is «parameter» or [P]</a:t>
            </a:r>
          </a:p>
        </p:txBody>
      </p:sp>
      <p:sp>
        <p:nvSpPr>
          <p:cNvPr id="2" name="Slide Number Placeholder 1"/>
          <p:cNvSpPr>
            <a:spLocks noGrp="1"/>
          </p:cNvSpPr>
          <p:nvPr>
            <p:ph type="sldNum" sz="quarter" idx="12"/>
          </p:nvPr>
        </p:nvSpPr>
        <p:spPr/>
        <p:txBody>
          <a:bodyPr/>
          <a:lstStyle/>
          <a:p>
            <a:fld id="{14F6F305-04E4-5E4D-BE4E-D65C3C550673}"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6"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Communication </a:t>
            </a:r>
            <a:r>
              <a:rPr lang="en-GB" dirty="0">
                <a:latin typeface="Arial" charset="0"/>
                <a:ea typeface="ＭＳ Ｐゴシック" charset="0"/>
                <a:cs typeface="Times" charset="0"/>
              </a:rPr>
              <a:t>Diagrams – </a:t>
            </a:r>
            <a:br>
              <a:rPr lang="en-GB" dirty="0">
                <a:latin typeface="Arial" charset="0"/>
                <a:ea typeface="ＭＳ Ｐゴシック" charset="0"/>
                <a:cs typeface="Times" charset="0"/>
              </a:rPr>
            </a:br>
            <a:r>
              <a:rPr lang="en-GB" dirty="0">
                <a:latin typeface="Arial" charset="0"/>
                <a:ea typeface="ＭＳ Ｐゴシック" charset="0"/>
                <a:cs typeface="Times" charset="0"/>
              </a:rPr>
              <a:t>  same example, more details</a:t>
            </a:r>
            <a:endParaRPr lang="en-US" dirty="0">
              <a:latin typeface="Arial" charset="0"/>
              <a:ea typeface="ＭＳ Ｐゴシック" charset="0"/>
              <a:cs typeface="Times" charset="0"/>
            </a:endParaRPr>
          </a:p>
        </p:txBody>
      </p:sp>
      <p:sp>
        <p:nvSpPr>
          <p:cNvPr id="90117" name="Content Placeholder 8"/>
          <p:cNvSpPr>
            <a:spLocks noGrp="1"/>
          </p:cNvSpPr>
          <p:nvPr>
            <p:ph idx="1"/>
          </p:nvPr>
        </p:nvSpPr>
        <p:spPr>
          <a:xfrm>
            <a:off x="1000125" y="1714500"/>
            <a:ext cx="7543800" cy="3128963"/>
          </a:xfrm>
        </p:spPr>
        <p:txBody>
          <a:bodyPr/>
          <a:lstStyle/>
          <a:p>
            <a:pPr lvl="2">
              <a:buFontTx/>
              <a:buNone/>
            </a:pPr>
            <a:r>
              <a:rPr lang="en-GB" dirty="0">
                <a:highlight>
                  <a:srgbClr val="FFFF00"/>
                </a:highlight>
                <a:latin typeface="Times" charset="0"/>
                <a:ea typeface="ＭＳ Ｐゴシック" charset="0"/>
                <a:cs typeface="Times" charset="0"/>
              </a:rPr>
              <a:t>4. The receiving object is global. </a:t>
            </a:r>
          </a:p>
          <a:p>
            <a:pPr lvl="3"/>
            <a:r>
              <a:rPr lang="en-GB" dirty="0">
                <a:latin typeface="Times" charset="0"/>
                <a:ea typeface="ＭＳ Ｐゴシック" charset="0"/>
                <a:cs typeface="Times" charset="0"/>
              </a:rPr>
              <a:t>This is the case when a reference to an object can be obtained using a static method</a:t>
            </a:r>
          </a:p>
          <a:p>
            <a:pPr lvl="3"/>
            <a:r>
              <a:rPr lang="en-GB" dirty="0">
                <a:latin typeface="Times" charset="0"/>
                <a:ea typeface="ＭＳ Ｐゴシック" charset="0"/>
                <a:cs typeface="Times" charset="0"/>
              </a:rPr>
              <a:t>The stereotype «global», or a [G] symbol is used in this case</a:t>
            </a:r>
          </a:p>
          <a:p>
            <a:pPr lvl="2" algn="just">
              <a:buFontTx/>
              <a:buNone/>
            </a:pPr>
            <a:endParaRPr lang="en-GB" dirty="0">
              <a:latin typeface="Times" charset="0"/>
              <a:ea typeface="ＭＳ Ｐゴシック" charset="0"/>
              <a:cs typeface="Times" charset="0"/>
            </a:endParaRPr>
          </a:p>
          <a:p>
            <a:pPr lvl="2" algn="just">
              <a:buFontTx/>
              <a:buNone/>
            </a:pPr>
            <a:r>
              <a:rPr lang="en-GB" dirty="0">
                <a:highlight>
                  <a:srgbClr val="FFFF00"/>
                </a:highlight>
                <a:latin typeface="Times" charset="0"/>
                <a:ea typeface="ＭＳ Ｐゴシック" charset="0"/>
                <a:cs typeface="Times" charset="0"/>
              </a:rPr>
              <a:t>5. The objects communicate over a network</a:t>
            </a:r>
          </a:p>
          <a:p>
            <a:pPr lvl="3" algn="just"/>
            <a:r>
              <a:rPr lang="en-GB" dirty="0">
                <a:latin typeface="Times" charset="0"/>
                <a:ea typeface="ＭＳ Ｐゴシック" charset="0"/>
                <a:cs typeface="Times" charset="0"/>
              </a:rPr>
              <a:t>We suggest to write «network»</a:t>
            </a:r>
            <a:endParaRPr lang="en-US" dirty="0">
              <a:latin typeface="Times" charset="0"/>
              <a:ea typeface="ＭＳ Ｐゴシック" charset="0"/>
            </a:endParaRPr>
          </a:p>
          <a:p>
            <a:endParaRPr lang="en-US" dirty="0">
              <a:latin typeface="Times" charset="0"/>
              <a:ea typeface="ＭＳ Ｐゴシック" charset="0"/>
              <a:cs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Messages to </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self</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 or </a:t>
            </a:r>
            <a:r>
              <a:rPr lang="ja-JP" altLang="en-US">
                <a:latin typeface="Arial" charset="0"/>
                <a:ea typeface="ＭＳ Ｐゴシック" charset="0"/>
                <a:cs typeface="ＭＳ Ｐゴシック" charset="0"/>
              </a:rPr>
              <a:t>“</a:t>
            </a:r>
            <a:r>
              <a:rPr lang="en-US">
                <a:latin typeface="Arial" charset="0"/>
                <a:ea typeface="ＭＳ Ｐゴシック" charset="0"/>
                <a:cs typeface="ＭＳ Ｐゴシック" charset="0"/>
              </a:rPr>
              <a:t>this</a:t>
            </a:r>
            <a:r>
              <a:rPr lang="ja-JP" altLang="en-US">
                <a:latin typeface="Arial" charset="0"/>
                <a:ea typeface="ＭＳ Ｐゴシック" charset="0"/>
                <a:cs typeface="ＭＳ Ｐゴシック" charset="0"/>
              </a:rPr>
              <a:t>”</a:t>
            </a:r>
            <a:endParaRPr lang="en-US">
              <a:latin typeface="Arial" charset="0"/>
              <a:ea typeface="ＭＳ Ｐゴシック" charset="0"/>
              <a:cs typeface="ＭＳ Ｐゴシック" charset="0"/>
            </a:endParaRPr>
          </a:p>
        </p:txBody>
      </p:sp>
      <p:graphicFrame>
        <p:nvGraphicFramePr>
          <p:cNvPr id="92162" name="Object 2"/>
          <p:cNvGraphicFramePr>
            <a:graphicFrameLocks noGrp="1" noChangeAspect="1"/>
          </p:cNvGraphicFramePr>
          <p:nvPr>
            <p:ph idx="1"/>
          </p:nvPr>
        </p:nvGraphicFramePr>
        <p:xfrm>
          <a:off x="2517775" y="1143000"/>
          <a:ext cx="4111625" cy="5029200"/>
        </p:xfrm>
        <a:graphic>
          <a:graphicData uri="http://schemas.openxmlformats.org/presentationml/2006/ole">
            <mc:AlternateContent xmlns:mc="http://schemas.openxmlformats.org/markup-compatibility/2006">
              <mc:Choice xmlns:v="urn:schemas-microsoft-com:vml" Requires="v">
                <p:oleObj name="Visio" r:id="rId3" imgW="1197000" imgH="1463400" progId="Visio.Drawing.11">
                  <p:embed/>
                </p:oleObj>
              </mc:Choice>
              <mc:Fallback>
                <p:oleObj name="Visio" r:id="rId3" imgW="1197000" imgH="146340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7775" y="1143000"/>
                        <a:ext cx="4111625" cy="502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Instance creation in communication diagrams</a:t>
            </a:r>
          </a:p>
        </p:txBody>
      </p:sp>
      <p:graphicFrame>
        <p:nvGraphicFramePr>
          <p:cNvPr id="94210" name="Object 2"/>
          <p:cNvGraphicFramePr>
            <a:graphicFrameLocks noGrp="1" noChangeAspect="1"/>
          </p:cNvGraphicFramePr>
          <p:nvPr>
            <p:ph idx="1"/>
          </p:nvPr>
        </p:nvGraphicFramePr>
        <p:xfrm>
          <a:off x="1214438" y="1285875"/>
          <a:ext cx="7019925" cy="5224463"/>
        </p:xfrm>
        <a:graphic>
          <a:graphicData uri="http://schemas.openxmlformats.org/presentationml/2006/ole">
            <mc:AlternateContent xmlns:mc="http://schemas.openxmlformats.org/markup-compatibility/2006">
              <mc:Choice xmlns:v="urn:schemas-microsoft-com:vml" Requires="v">
                <p:oleObj name="Visio" r:id="rId3" imgW="6250680" imgH="3605040" progId="Visio.Drawing.11">
                  <p:embed/>
                </p:oleObj>
              </mc:Choice>
              <mc:Fallback>
                <p:oleObj name="Visio" r:id="rId3" imgW="6250680" imgH="360504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l="22501"/>
                      <a:stretch>
                        <a:fillRect/>
                      </a:stretch>
                    </p:blipFill>
                    <p:spPr bwMode="auto">
                      <a:xfrm>
                        <a:off x="1214438" y="1285875"/>
                        <a:ext cx="7019925" cy="52244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94212" name="Rectangle 5"/>
          <p:cNvSpPr>
            <a:spLocks noChangeArrowheads="1"/>
          </p:cNvSpPr>
          <p:nvPr/>
        </p:nvSpPr>
        <p:spPr bwMode="auto">
          <a:xfrm>
            <a:off x="928688" y="1214438"/>
            <a:ext cx="1676400" cy="9906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tr-TR"/>
          </a:p>
        </p:txBody>
      </p:sp>
      <p:sp>
        <p:nvSpPr>
          <p:cNvPr id="2" name="Slide Number Placeholder 1"/>
          <p:cNvSpPr>
            <a:spLocks noGrp="1"/>
          </p:cNvSpPr>
          <p:nvPr>
            <p:ph type="sldNum" sz="quarter" idx="12"/>
          </p:nvPr>
        </p:nvSpPr>
        <p:spPr/>
        <p:txBody>
          <a:bodyPr/>
          <a:lstStyle/>
          <a:p>
            <a:fld id="{14F6F305-04E4-5E4D-BE4E-D65C3C550673}"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Sequence numbering</a:t>
            </a:r>
          </a:p>
        </p:txBody>
      </p:sp>
      <p:graphicFrame>
        <p:nvGraphicFramePr>
          <p:cNvPr id="96258" name="Object 2"/>
          <p:cNvGraphicFramePr>
            <a:graphicFrameLocks noGrp="1" noChangeAspect="1"/>
          </p:cNvGraphicFramePr>
          <p:nvPr>
            <p:ph idx="1"/>
          </p:nvPr>
        </p:nvGraphicFramePr>
        <p:xfrm>
          <a:off x="0" y="1752600"/>
          <a:ext cx="8915400" cy="2463800"/>
        </p:xfrm>
        <a:graphic>
          <a:graphicData uri="http://schemas.openxmlformats.org/presentationml/2006/ole">
            <mc:AlternateContent xmlns:mc="http://schemas.openxmlformats.org/markup-compatibility/2006">
              <mc:Choice xmlns:v="urn:schemas-microsoft-com:vml" Requires="v">
                <p:oleObj name="Visio" r:id="rId3" imgW="5279400" imgH="1458360" progId="Visio.Drawing.11">
                  <p:embed/>
                </p:oleObj>
              </mc:Choice>
              <mc:Fallback>
                <p:oleObj name="Visio" r:id="rId3" imgW="5279400" imgH="14583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52600"/>
                        <a:ext cx="8915400" cy="2463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96260" name="Text Box 5"/>
          <p:cNvSpPr txBox="1">
            <a:spLocks noChangeArrowheads="1"/>
          </p:cNvSpPr>
          <p:nvPr/>
        </p:nvSpPr>
        <p:spPr bwMode="auto">
          <a:xfrm>
            <a:off x="4724400" y="5029200"/>
            <a:ext cx="1962150" cy="36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37931725" indent="-37474525">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r>
              <a:rPr lang="en-US"/>
              <a:t>Nested message </a:t>
            </a:r>
          </a:p>
        </p:txBody>
      </p:sp>
      <p:sp>
        <p:nvSpPr>
          <p:cNvPr id="96261" name="Line 6"/>
          <p:cNvSpPr>
            <a:spLocks noChangeShapeType="1"/>
          </p:cNvSpPr>
          <p:nvPr/>
        </p:nvSpPr>
        <p:spPr bwMode="auto">
          <a:xfrm flipV="1">
            <a:off x="5791200" y="3276600"/>
            <a:ext cx="914400" cy="1828800"/>
          </a:xfrm>
          <a:prstGeom prst="line">
            <a:avLst/>
          </a:prstGeom>
          <a:noFill/>
          <a:ln w="9525">
            <a:solidFill>
              <a:srgbClr val="CC0000"/>
            </a:solidFill>
            <a:round/>
            <a:headEnd type="diamond" w="med" len="med"/>
            <a:tailEnd type="triangle" w="lg" len="lg"/>
          </a:ln>
          <a:extLst>
            <a:ext uri="{909E8E84-426E-40dd-AFC4-6F175D3DCCD1}">
              <a14:hiddenFill xmlns:a14="http://schemas.microsoft.com/office/drawing/2010/main" xmlns="">
                <a:noFill/>
              </a14:hiddenFill>
            </a:ext>
          </a:extLst>
        </p:spPr>
        <p:txBody>
          <a:bodyPr/>
          <a:lstStyle/>
          <a:p>
            <a:endParaRPr lang="en-US"/>
          </a:p>
        </p:txBody>
      </p:sp>
      <p:sp>
        <p:nvSpPr>
          <p:cNvPr id="2" name="Slide Number Placeholder 1"/>
          <p:cNvSpPr>
            <a:spLocks noGrp="1"/>
          </p:cNvSpPr>
          <p:nvPr>
            <p:ph type="sldNum" sz="quarter" idx="12"/>
          </p:nvPr>
        </p:nvSpPr>
        <p:spPr/>
        <p:txBody>
          <a:bodyPr/>
          <a:lstStyle/>
          <a:p>
            <a:fld id="{14F6F305-04E4-5E4D-BE4E-D65C3C550673}"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Sequence numbering</a:t>
            </a:r>
          </a:p>
        </p:txBody>
      </p:sp>
      <p:graphicFrame>
        <p:nvGraphicFramePr>
          <p:cNvPr id="98306" name="Object 2"/>
          <p:cNvGraphicFramePr>
            <a:graphicFrameLocks noGrp="1" noChangeAspect="1"/>
          </p:cNvGraphicFramePr>
          <p:nvPr>
            <p:ph idx="1"/>
          </p:nvPr>
        </p:nvGraphicFramePr>
        <p:xfrm>
          <a:off x="0" y="1066800"/>
          <a:ext cx="9144000" cy="5502275"/>
        </p:xfrm>
        <a:graphic>
          <a:graphicData uri="http://schemas.openxmlformats.org/presentationml/2006/ole">
            <mc:AlternateContent xmlns:mc="http://schemas.openxmlformats.org/markup-compatibility/2006">
              <mc:Choice xmlns:v="urn:schemas-microsoft-com:vml" Requires="v">
                <p:oleObj name="Visio" r:id="rId3" imgW="5339520" imgH="3213360" progId="Visio.Drawing.11">
                  <p:embed/>
                </p:oleObj>
              </mc:Choice>
              <mc:Fallback>
                <p:oleObj name="Visio" r:id="rId3" imgW="5339520" imgH="32133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66800"/>
                        <a:ext cx="9144000" cy="5502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98308" name="Rectangle 5"/>
          <p:cNvSpPr>
            <a:spLocks noChangeArrowheads="1"/>
          </p:cNvSpPr>
          <p:nvPr/>
        </p:nvSpPr>
        <p:spPr bwMode="auto">
          <a:xfrm>
            <a:off x="1295400" y="1219200"/>
            <a:ext cx="685800"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tr-TR"/>
          </a:p>
        </p:txBody>
      </p:sp>
      <p:sp>
        <p:nvSpPr>
          <p:cNvPr id="98309" name="Rectangle 6"/>
          <p:cNvSpPr>
            <a:spLocks noChangeArrowheads="1"/>
          </p:cNvSpPr>
          <p:nvPr/>
        </p:nvSpPr>
        <p:spPr bwMode="auto">
          <a:xfrm>
            <a:off x="4572000" y="1219200"/>
            <a:ext cx="685800"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tr-TR"/>
          </a:p>
        </p:txBody>
      </p:sp>
      <p:sp>
        <p:nvSpPr>
          <p:cNvPr id="98310" name="Rectangle 7"/>
          <p:cNvSpPr>
            <a:spLocks noChangeArrowheads="1"/>
          </p:cNvSpPr>
          <p:nvPr/>
        </p:nvSpPr>
        <p:spPr bwMode="auto">
          <a:xfrm>
            <a:off x="8001000" y="1676400"/>
            <a:ext cx="685800"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tr-TR"/>
          </a:p>
        </p:txBody>
      </p:sp>
      <p:sp>
        <p:nvSpPr>
          <p:cNvPr id="98311" name="Rectangle 8"/>
          <p:cNvSpPr>
            <a:spLocks noChangeArrowheads="1"/>
          </p:cNvSpPr>
          <p:nvPr/>
        </p:nvSpPr>
        <p:spPr bwMode="auto">
          <a:xfrm>
            <a:off x="2743200" y="4953000"/>
            <a:ext cx="685800"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tr-TR"/>
          </a:p>
        </p:txBody>
      </p:sp>
      <p:sp>
        <p:nvSpPr>
          <p:cNvPr id="98312" name="Rectangle 9"/>
          <p:cNvSpPr>
            <a:spLocks noChangeArrowheads="1"/>
          </p:cNvSpPr>
          <p:nvPr/>
        </p:nvSpPr>
        <p:spPr bwMode="auto">
          <a:xfrm>
            <a:off x="3962400" y="5867400"/>
            <a:ext cx="685800"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tr-TR"/>
          </a:p>
        </p:txBody>
      </p:sp>
      <p:sp>
        <p:nvSpPr>
          <p:cNvPr id="98313" name="Rectangle 10"/>
          <p:cNvSpPr>
            <a:spLocks noChangeArrowheads="1"/>
          </p:cNvSpPr>
          <p:nvPr/>
        </p:nvSpPr>
        <p:spPr bwMode="auto">
          <a:xfrm>
            <a:off x="8001000" y="4953000"/>
            <a:ext cx="685800" cy="304800"/>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tr-TR"/>
          </a:p>
        </p:txBody>
      </p:sp>
      <p:sp>
        <p:nvSpPr>
          <p:cNvPr id="2" name="Slide Number Placeholder 1"/>
          <p:cNvSpPr>
            <a:spLocks noGrp="1"/>
          </p:cNvSpPr>
          <p:nvPr>
            <p:ph type="sldNum" sz="quarter" idx="12"/>
          </p:nvPr>
        </p:nvSpPr>
        <p:spPr/>
        <p:txBody>
          <a:bodyPr/>
          <a:lstStyle/>
          <a:p>
            <a:fld id="{14F6F305-04E4-5E4D-BE4E-D65C3C550673}"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Sequence numbering</a:t>
            </a:r>
          </a:p>
        </p:txBody>
      </p:sp>
      <p:graphicFrame>
        <p:nvGraphicFramePr>
          <p:cNvPr id="100354" name="Object 2"/>
          <p:cNvGraphicFramePr>
            <a:graphicFrameLocks noGrp="1" noChangeAspect="1"/>
          </p:cNvGraphicFramePr>
          <p:nvPr>
            <p:ph idx="1"/>
          </p:nvPr>
        </p:nvGraphicFramePr>
        <p:xfrm>
          <a:off x="0" y="1066800"/>
          <a:ext cx="9144000" cy="5502275"/>
        </p:xfrm>
        <a:graphic>
          <a:graphicData uri="http://schemas.openxmlformats.org/presentationml/2006/ole">
            <mc:AlternateContent xmlns:mc="http://schemas.openxmlformats.org/markup-compatibility/2006">
              <mc:Choice xmlns:v="urn:schemas-microsoft-com:vml" Requires="v">
                <p:oleObj name="Visio" r:id="rId3" imgW="5339520" imgH="3213360" progId="Visio.Drawing.11">
                  <p:embed/>
                </p:oleObj>
              </mc:Choice>
              <mc:Fallback>
                <p:oleObj name="Visio" r:id="rId3" imgW="5339520" imgH="321336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66800"/>
                        <a:ext cx="9144000" cy="5502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Conditional messages</a:t>
            </a:r>
          </a:p>
        </p:txBody>
      </p:sp>
      <p:graphicFrame>
        <p:nvGraphicFramePr>
          <p:cNvPr id="102402" name="Object 2"/>
          <p:cNvGraphicFramePr>
            <a:graphicFrameLocks noGrp="1" noChangeAspect="1"/>
          </p:cNvGraphicFramePr>
          <p:nvPr>
            <p:ph idx="1"/>
          </p:nvPr>
        </p:nvGraphicFramePr>
        <p:xfrm>
          <a:off x="457200" y="2286000"/>
          <a:ext cx="8229600" cy="2286000"/>
        </p:xfrm>
        <a:graphic>
          <a:graphicData uri="http://schemas.openxmlformats.org/presentationml/2006/ole">
            <mc:AlternateContent xmlns:mc="http://schemas.openxmlformats.org/markup-compatibility/2006">
              <mc:Choice xmlns:v="urn:schemas-microsoft-com:vml" Requires="v">
                <p:oleObj name="Visio" r:id="rId3" imgW="3888360" imgH="1080000" progId="Visio.Drawing.11">
                  <p:embed/>
                </p:oleObj>
              </mc:Choice>
              <mc:Fallback>
                <p:oleObj name="Visio" r:id="rId3" imgW="3888360" imgH="108000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286000"/>
                        <a:ext cx="8229600" cy="2286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Mutually exclusive conditional messages</a:t>
            </a:r>
          </a:p>
        </p:txBody>
      </p:sp>
      <p:graphicFrame>
        <p:nvGraphicFramePr>
          <p:cNvPr id="104450" name="Object 2"/>
          <p:cNvGraphicFramePr>
            <a:graphicFrameLocks noGrp="1" noChangeAspect="1"/>
          </p:cNvGraphicFramePr>
          <p:nvPr>
            <p:ph idx="1"/>
          </p:nvPr>
        </p:nvGraphicFramePr>
        <p:xfrm>
          <a:off x="0" y="1295400"/>
          <a:ext cx="9144000" cy="4152900"/>
        </p:xfrm>
        <a:graphic>
          <a:graphicData uri="http://schemas.openxmlformats.org/presentationml/2006/ole">
            <mc:AlternateContent xmlns:mc="http://schemas.openxmlformats.org/markup-compatibility/2006">
              <mc:Choice xmlns:v="urn:schemas-microsoft-com:vml" Requires="v">
                <p:oleObj name="Visio" r:id="rId3" imgW="6032520" imgH="2740680" progId="Visio.Drawing.11">
                  <p:embed/>
                </p:oleObj>
              </mc:Choice>
              <mc:Fallback>
                <p:oleObj name="Visio" r:id="rId3" imgW="6032520" imgH="274068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95400"/>
                        <a:ext cx="9144000" cy="41529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Iteration in communication diagrams</a:t>
            </a:r>
          </a:p>
        </p:txBody>
      </p:sp>
      <p:graphicFrame>
        <p:nvGraphicFramePr>
          <p:cNvPr id="106498" name="Object 2"/>
          <p:cNvGraphicFramePr>
            <a:graphicFrameLocks noGrp="1" noChangeAspect="1"/>
          </p:cNvGraphicFramePr>
          <p:nvPr>
            <p:ph idx="1"/>
          </p:nvPr>
        </p:nvGraphicFramePr>
        <p:xfrm>
          <a:off x="0" y="1752600"/>
          <a:ext cx="9144000" cy="2798763"/>
        </p:xfrm>
        <a:graphic>
          <a:graphicData uri="http://schemas.openxmlformats.org/presentationml/2006/ole">
            <mc:AlternateContent xmlns:mc="http://schemas.openxmlformats.org/markup-compatibility/2006">
              <mc:Choice xmlns:v="urn:schemas-microsoft-com:vml" Requires="v">
                <p:oleObj name="Visio" r:id="rId3" imgW="4818960" imgH="1474200" progId="Visio.Drawing.11">
                  <p:embed/>
                </p:oleObj>
              </mc:Choice>
              <mc:Fallback>
                <p:oleObj name="Visio" r:id="rId3" imgW="4818960" imgH="147420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752600"/>
                        <a:ext cx="9144000" cy="27987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2"/>
          <p:cNvSpPr>
            <a:spLocks noGrp="1" noChangeArrowheads="1"/>
          </p:cNvSpPr>
          <p:nvPr>
            <p:ph type="title"/>
          </p:nvPr>
        </p:nvSpPr>
        <p:spPr>
          <a:noFill/>
          <a:ln>
            <a:noFill/>
          </a:ln>
        </p:spPr>
        <p:txBody>
          <a:bodyPr vert="horz" wrap="square" lIns="91440" tIns="45720" rIns="91440" bIns="45720" numCol="1" anchor="ctr" anchorCtr="0" compatLnSpc="1">
            <a:prstTxWarp prst="textNoShape">
              <a:avLst/>
            </a:prstTxWarp>
          </a:bodyPr>
          <a:lstStyle/>
          <a:p>
            <a:r>
              <a:rPr lang="en-US" dirty="0">
                <a:latin typeface="Arial" charset="0"/>
                <a:ea typeface="ＭＳ Ｐゴシック" charset="0"/>
                <a:cs typeface="ＭＳ Ｐゴシック" charset="0"/>
              </a:rPr>
              <a:t>Static method invocation (message to a class)</a:t>
            </a:r>
          </a:p>
        </p:txBody>
      </p:sp>
      <p:graphicFrame>
        <p:nvGraphicFramePr>
          <p:cNvPr id="108546" name="Object 2"/>
          <p:cNvGraphicFramePr>
            <a:graphicFrameLocks noGrp="1" noChangeAspect="1"/>
          </p:cNvGraphicFramePr>
          <p:nvPr>
            <p:ph idx="1"/>
          </p:nvPr>
        </p:nvGraphicFramePr>
        <p:xfrm>
          <a:off x="457200" y="2362200"/>
          <a:ext cx="8229600" cy="2112963"/>
        </p:xfrm>
        <a:graphic>
          <a:graphicData uri="http://schemas.openxmlformats.org/presentationml/2006/ole">
            <mc:AlternateContent xmlns:mc="http://schemas.openxmlformats.org/markup-compatibility/2006">
              <mc:Choice xmlns:v="urn:schemas-microsoft-com:vml" Requires="v">
                <p:oleObj name="Visio" r:id="rId3" imgW="4495680" imgH="1154520" progId="Visio.Drawing.11">
                  <p:embed/>
                </p:oleObj>
              </mc:Choice>
              <mc:Fallback>
                <p:oleObj name="Visio" r:id="rId3" imgW="4495680" imgH="115452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362200"/>
                        <a:ext cx="8229600" cy="2112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108548" name="Rectangle 3"/>
          <p:cNvSpPr>
            <a:spLocks noChangeArrowheads="1"/>
          </p:cNvSpPr>
          <p:nvPr/>
        </p:nvSpPr>
        <p:spPr bwMode="auto">
          <a:xfrm>
            <a:off x="6572250" y="3857625"/>
            <a:ext cx="1714500" cy="285750"/>
          </a:xfrm>
          <a:prstGeom prst="rect">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tr-TR"/>
          </a:p>
        </p:txBody>
      </p:sp>
      <p:sp>
        <p:nvSpPr>
          <p:cNvPr id="2" name="Slide Number Placeholder 1"/>
          <p:cNvSpPr>
            <a:spLocks noGrp="1"/>
          </p:cNvSpPr>
          <p:nvPr>
            <p:ph type="sldNum" sz="quarter" idx="12"/>
          </p:nvPr>
        </p:nvSpPr>
        <p:spPr/>
        <p:txBody>
          <a:bodyPr/>
          <a:lstStyle/>
          <a:p>
            <a:fld id="{14F6F305-04E4-5E4D-BE4E-D65C3C550673}"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Rectangle 2"/>
          <p:cNvSpPr>
            <a:spLocks noGrp="1" noChangeArrowheads="1"/>
          </p:cNvSpPr>
          <p:nvPr>
            <p:ph type="title"/>
          </p:nvPr>
        </p:nvSpPr>
        <p:spPr>
          <a:noFill/>
          <a:ln>
            <a:noFill/>
          </a:ln>
        </p:spPr>
        <p:txBody>
          <a:bodyPr vert="horz" wrap="square" lIns="91440" tIns="45720" rIns="91440" bIns="45720" numCol="1" anchor="ctr" anchorCtr="0" compatLnSpc="1">
            <a:prstTxWarp prst="textNoShape">
              <a:avLst/>
            </a:prstTxWarp>
          </a:bodyPr>
          <a:lstStyle/>
          <a:p>
            <a:r>
              <a:rPr lang="en-US">
                <a:latin typeface="Arial" charset="0"/>
                <a:ea typeface="ＭＳ Ｐゴシック" charset="0"/>
                <a:cs typeface="ＭＳ Ｐゴシック" charset="0"/>
              </a:rPr>
              <a:t>Modeling polymorphic cases in communication diagrams</a:t>
            </a:r>
          </a:p>
        </p:txBody>
      </p:sp>
      <p:graphicFrame>
        <p:nvGraphicFramePr>
          <p:cNvPr id="110594" name="Object 2"/>
          <p:cNvGraphicFramePr>
            <a:graphicFrameLocks noGrp="1" noChangeAspect="1"/>
          </p:cNvGraphicFramePr>
          <p:nvPr>
            <p:ph idx="1"/>
          </p:nvPr>
        </p:nvGraphicFramePr>
        <p:xfrm>
          <a:off x="0" y="1219200"/>
          <a:ext cx="9144000" cy="5029200"/>
        </p:xfrm>
        <a:graphic>
          <a:graphicData uri="http://schemas.openxmlformats.org/presentationml/2006/ole">
            <mc:AlternateContent xmlns:mc="http://schemas.openxmlformats.org/markup-compatibility/2006">
              <mc:Choice xmlns:v="urn:schemas-microsoft-com:vml" Requires="v">
                <p:oleObj name="Visio" r:id="rId3" imgW="6737760" imgH="3301200" progId="Visio.Drawing.11">
                  <p:embed/>
                </p:oleObj>
              </mc:Choice>
              <mc:Fallback>
                <p:oleObj name="Visio" r:id="rId3" imgW="6737760" imgH="330120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19200"/>
                        <a:ext cx="9144000" cy="5029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Asynchronous messages in communication diagrams</a:t>
            </a:r>
          </a:p>
        </p:txBody>
      </p:sp>
      <p:graphicFrame>
        <p:nvGraphicFramePr>
          <p:cNvPr id="112642" name="Object 2"/>
          <p:cNvGraphicFramePr>
            <a:graphicFrameLocks noGrp="1" noChangeAspect="1"/>
          </p:cNvGraphicFramePr>
          <p:nvPr>
            <p:ph idx="1"/>
          </p:nvPr>
        </p:nvGraphicFramePr>
        <p:xfrm>
          <a:off x="571500" y="1857375"/>
          <a:ext cx="8001000" cy="3230563"/>
        </p:xfrm>
        <a:graphic>
          <a:graphicData uri="http://schemas.openxmlformats.org/presentationml/2006/ole">
            <mc:AlternateContent xmlns:mc="http://schemas.openxmlformats.org/markup-compatibility/2006">
              <mc:Choice xmlns:v="urn:schemas-microsoft-com:vml" Requires="v">
                <p:oleObj name="Visio" r:id="rId3" imgW="4495680" imgH="1815120" progId="Visio.Drawing.11">
                  <p:embed/>
                </p:oleObj>
              </mc:Choice>
              <mc:Fallback>
                <p:oleObj name="Visio" r:id="rId3" imgW="4495680" imgH="1815120" progId="Visio.Drawing.11">
                  <p:embed/>
                  <p:pic>
                    <p:nvPicPr>
                      <p:cNvPr id="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1857375"/>
                        <a:ext cx="8001000" cy="3230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2" name="Slide Number Placeholder 1"/>
          <p:cNvSpPr>
            <a:spLocks noGrp="1"/>
          </p:cNvSpPr>
          <p:nvPr>
            <p:ph type="sldNum" sz="quarter" idx="12"/>
          </p:nvPr>
        </p:nvSpPr>
        <p:spPr/>
        <p:txBody>
          <a:bodyPr/>
          <a:lstStyle/>
          <a:p>
            <a:fld id="{14F6F305-04E4-5E4D-BE4E-D65C3C550673}" type="slidenum">
              <a:rPr lang="en-US" smtClean="0"/>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2" name="Rectangle 2"/>
          <p:cNvSpPr>
            <a:spLocks noGrp="1" noChangeArrowheads="1"/>
          </p:cNvSpPr>
          <p:nvPr>
            <p:ph type="title"/>
          </p:nvPr>
        </p:nvSpPr>
        <p:spPr/>
        <p:txBody>
          <a:bodyPr/>
          <a:lstStyle/>
          <a:p>
            <a:r>
              <a:rPr lang="en-GB">
                <a:latin typeface="Arial" charset="0"/>
                <a:ea typeface="ＭＳ Ｐゴシック" charset="0"/>
                <a:cs typeface="Times" charset="0"/>
              </a:rPr>
              <a:t>How to choose between using a sequence or co</a:t>
            </a:r>
            <a:r>
              <a:rPr lang="en-US">
                <a:latin typeface="Arial" charset="0"/>
                <a:ea typeface="ＭＳ Ｐゴシック" charset="0"/>
                <a:cs typeface="Times" charset="0"/>
              </a:rPr>
              <a:t>mmunication</a:t>
            </a:r>
            <a:r>
              <a:rPr lang="en-GB">
                <a:latin typeface="Arial" charset="0"/>
                <a:ea typeface="ＭＳ Ｐゴシック" charset="0"/>
                <a:cs typeface="Times" charset="0"/>
              </a:rPr>
              <a:t> diagram</a:t>
            </a:r>
            <a:r>
              <a:rPr lang="en-US">
                <a:latin typeface="Arial" charset="0"/>
                <a:ea typeface="ＭＳ Ｐゴシック" charset="0"/>
                <a:cs typeface="ＭＳ Ｐゴシック" charset="0"/>
              </a:rPr>
              <a:t> </a:t>
            </a:r>
          </a:p>
        </p:txBody>
      </p:sp>
      <p:sp>
        <p:nvSpPr>
          <p:cNvPr id="114693" name="Rectangle 3"/>
          <p:cNvSpPr>
            <a:spLocks noGrp="1" noChangeArrowheads="1"/>
          </p:cNvSpPr>
          <p:nvPr>
            <p:ph type="body" idx="1"/>
          </p:nvPr>
        </p:nvSpPr>
        <p:spPr/>
        <p:txBody>
          <a:bodyPr/>
          <a:lstStyle/>
          <a:p>
            <a:pPr marL="0" indent="0" algn="just"/>
            <a:r>
              <a:rPr lang="en-GB" dirty="0">
                <a:highlight>
                  <a:srgbClr val="00FFFF"/>
                </a:highlight>
                <a:latin typeface="Times" charset="0"/>
                <a:ea typeface="ＭＳ Ｐゴシック" charset="0"/>
                <a:cs typeface="Times" charset="0"/>
              </a:rPr>
              <a:t>Sequence diagrams</a:t>
            </a:r>
          </a:p>
          <a:p>
            <a:pPr lvl="1" algn="just"/>
            <a:r>
              <a:rPr lang="en-GB" dirty="0">
                <a:highlight>
                  <a:srgbClr val="FFFF00"/>
                </a:highlight>
                <a:latin typeface="Times" charset="0"/>
                <a:ea typeface="ＭＳ Ｐゴシック" charset="0"/>
                <a:cs typeface="Times" charset="0"/>
              </a:rPr>
              <a:t>Make explicit the time ordering of the interaction</a:t>
            </a:r>
          </a:p>
          <a:p>
            <a:pPr lvl="2" algn="just"/>
            <a:r>
              <a:rPr lang="en-GB" dirty="0">
                <a:latin typeface="Times" charset="0"/>
                <a:ea typeface="ＭＳ Ｐゴシック" charset="0"/>
                <a:cs typeface="Times" charset="0"/>
              </a:rPr>
              <a:t>Use cases make time ordering explicit too </a:t>
            </a:r>
          </a:p>
          <a:p>
            <a:pPr lvl="2" algn="just"/>
            <a:r>
              <a:rPr lang="en-GB" dirty="0">
                <a:latin typeface="Times" charset="0"/>
                <a:ea typeface="ＭＳ Ｐゴシック" charset="0"/>
                <a:cs typeface="Times" charset="0"/>
              </a:rPr>
              <a:t>So sequence diagrams are a natural choice when you build an interaction model from a use case</a:t>
            </a:r>
          </a:p>
          <a:p>
            <a:pPr lvl="1" algn="just"/>
            <a:r>
              <a:rPr lang="en-GB" dirty="0">
                <a:highlight>
                  <a:srgbClr val="FFFF00"/>
                </a:highlight>
                <a:latin typeface="Times" charset="0"/>
                <a:ea typeface="ＭＳ Ｐゴシック" charset="0"/>
                <a:cs typeface="Times" charset="0"/>
              </a:rPr>
              <a:t>Make it easy to add details to messages</a:t>
            </a:r>
          </a:p>
          <a:p>
            <a:pPr lvl="2" algn="just"/>
            <a:r>
              <a:rPr lang="en-GB" dirty="0">
                <a:latin typeface="Times" charset="0"/>
                <a:ea typeface="ＭＳ Ｐゴシック" charset="0"/>
                <a:cs typeface="Times" charset="0"/>
              </a:rPr>
              <a:t>Communication diagrams have less space for this</a:t>
            </a:r>
          </a:p>
        </p:txBody>
      </p:sp>
      <p:sp>
        <p:nvSpPr>
          <p:cNvPr id="2" name="Slide Number Placeholder 1"/>
          <p:cNvSpPr>
            <a:spLocks noGrp="1"/>
          </p:cNvSpPr>
          <p:nvPr>
            <p:ph type="sldNum" sz="quarter" idx="12"/>
          </p:nvPr>
        </p:nvSpPr>
        <p:spPr/>
        <p:txBody>
          <a:bodyPr/>
          <a:lstStyle/>
          <a:p>
            <a:fld id="{14F6F305-04E4-5E4D-BE4E-D65C3C550673}" type="slidenum">
              <a:rPr lang="en-US" smtClean="0"/>
              <a:pPr/>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40" name="Rectangle 2"/>
          <p:cNvSpPr>
            <a:spLocks noGrp="1" noChangeArrowheads="1"/>
          </p:cNvSpPr>
          <p:nvPr>
            <p:ph type="title"/>
          </p:nvPr>
        </p:nvSpPr>
        <p:spPr/>
        <p:txBody>
          <a:bodyPr/>
          <a:lstStyle/>
          <a:p>
            <a:pPr algn="just"/>
            <a:r>
              <a:rPr lang="en-GB">
                <a:latin typeface="Arial" charset="0"/>
                <a:ea typeface="ＭＳ Ｐゴシック" charset="0"/>
                <a:cs typeface="Times" charset="0"/>
              </a:rPr>
              <a:t>How to choose between using a sequence or co</a:t>
            </a:r>
            <a:r>
              <a:rPr lang="en-US">
                <a:latin typeface="Arial" charset="0"/>
                <a:ea typeface="ＭＳ Ｐゴシック" charset="0"/>
                <a:cs typeface="Times" charset="0"/>
              </a:rPr>
              <a:t>mmunication</a:t>
            </a:r>
            <a:r>
              <a:rPr lang="en-GB">
                <a:latin typeface="Arial" charset="0"/>
                <a:ea typeface="ＭＳ Ｐゴシック" charset="0"/>
                <a:cs typeface="Times" charset="0"/>
              </a:rPr>
              <a:t> diagram</a:t>
            </a:r>
          </a:p>
        </p:txBody>
      </p:sp>
      <p:sp>
        <p:nvSpPr>
          <p:cNvPr id="116741" name="Rectangle 3"/>
          <p:cNvSpPr>
            <a:spLocks noGrp="1" noChangeArrowheads="1"/>
          </p:cNvSpPr>
          <p:nvPr>
            <p:ph type="body" idx="1"/>
          </p:nvPr>
        </p:nvSpPr>
        <p:spPr/>
        <p:txBody>
          <a:bodyPr/>
          <a:lstStyle/>
          <a:p>
            <a:pPr marL="0" indent="0" algn="just"/>
            <a:r>
              <a:rPr lang="en-GB" dirty="0">
                <a:highlight>
                  <a:srgbClr val="00FFFF"/>
                </a:highlight>
                <a:latin typeface="Times" charset="0"/>
                <a:ea typeface="ＭＳ Ｐゴシック" charset="0"/>
                <a:cs typeface="Times" charset="0"/>
              </a:rPr>
              <a:t>Communication diagrams </a:t>
            </a:r>
          </a:p>
          <a:p>
            <a:pPr lvl="1" algn="just"/>
            <a:r>
              <a:rPr lang="en-GB" dirty="0">
                <a:highlight>
                  <a:srgbClr val="FFFF00"/>
                </a:highlight>
                <a:latin typeface="Times" charset="0"/>
                <a:ea typeface="ＭＳ Ｐゴシック" charset="0"/>
                <a:cs typeface="Times" charset="0"/>
              </a:rPr>
              <a:t>Can be seen as a projection of the class diagram </a:t>
            </a:r>
          </a:p>
          <a:p>
            <a:pPr lvl="2" algn="just"/>
            <a:r>
              <a:rPr lang="en-GB" dirty="0">
                <a:latin typeface="Times" charset="0"/>
                <a:ea typeface="ＭＳ Ｐゴシック" charset="0"/>
                <a:cs typeface="Times" charset="0"/>
              </a:rPr>
              <a:t>Might be preferred when you are </a:t>
            </a:r>
            <a:r>
              <a:rPr lang="en-GB" i="1" dirty="0">
                <a:latin typeface="Times" charset="0"/>
                <a:ea typeface="ＭＳ Ｐゴシック" charset="0"/>
                <a:cs typeface="Times" charset="0"/>
              </a:rPr>
              <a:t>deriving</a:t>
            </a:r>
            <a:r>
              <a:rPr lang="en-GB" dirty="0">
                <a:latin typeface="Times" charset="0"/>
                <a:ea typeface="ＭＳ Ｐゴシック" charset="0"/>
                <a:cs typeface="Times" charset="0"/>
              </a:rPr>
              <a:t> an interaction diagram from a class diagram. </a:t>
            </a:r>
          </a:p>
          <a:p>
            <a:pPr lvl="2" algn="just"/>
            <a:r>
              <a:rPr lang="en-GB" dirty="0">
                <a:latin typeface="Times" charset="0"/>
                <a:ea typeface="ＭＳ Ｐゴシック" charset="0"/>
                <a:cs typeface="Times" charset="0"/>
              </a:rPr>
              <a:t>Are also useful for </a:t>
            </a:r>
            <a:r>
              <a:rPr lang="en-GB" i="1" dirty="0">
                <a:highlight>
                  <a:srgbClr val="FFFF00"/>
                </a:highlight>
                <a:latin typeface="Times" charset="0"/>
                <a:ea typeface="ＭＳ Ｐゴシック" charset="0"/>
                <a:cs typeface="Times" charset="0"/>
              </a:rPr>
              <a:t>validating</a:t>
            </a:r>
            <a:r>
              <a:rPr lang="en-GB" dirty="0">
                <a:latin typeface="Times" charset="0"/>
                <a:ea typeface="ＭＳ Ｐゴシック" charset="0"/>
                <a:cs typeface="Times" charset="0"/>
              </a:rPr>
              <a:t> class diagrams.</a:t>
            </a:r>
          </a:p>
          <a:p>
            <a:pPr lvl="1"/>
            <a:endParaRPr lang="en-US" dirty="0">
              <a:latin typeface="Times" charset="0"/>
              <a:ea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8" name="Rectangle 2"/>
          <p:cNvSpPr>
            <a:spLocks noGrp="1" noChangeArrowheads="1"/>
          </p:cNvSpPr>
          <p:nvPr>
            <p:ph type="title"/>
          </p:nvPr>
        </p:nvSpPr>
        <p:spPr/>
        <p:txBody>
          <a:bodyPr/>
          <a:lstStyle/>
          <a:p>
            <a:r>
              <a:rPr lang="en-GB" dirty="0" err="1">
                <a:highlight>
                  <a:srgbClr val="00FFFF"/>
                </a:highlight>
                <a:latin typeface="Arial" charset="0"/>
                <a:ea typeface="ＭＳ Ｐゴシック" charset="0"/>
                <a:cs typeface="Times" charset="0"/>
              </a:rPr>
              <a:t>Behavior</a:t>
            </a:r>
            <a:r>
              <a:rPr lang="en-GB" dirty="0">
                <a:highlight>
                  <a:srgbClr val="00FFFF"/>
                </a:highlight>
                <a:latin typeface="Arial" charset="0"/>
                <a:ea typeface="ＭＳ Ｐゴシック" charset="0"/>
                <a:cs typeface="Times" charset="0"/>
              </a:rPr>
              <a:t> Model</a:t>
            </a:r>
            <a:r>
              <a:rPr lang="en-GB" dirty="0">
                <a:latin typeface="Arial" charset="0"/>
                <a:ea typeface="ＭＳ Ｐゴシック" charset="0"/>
                <a:cs typeface="Times" charset="0"/>
              </a:rPr>
              <a:t>: </a:t>
            </a:r>
            <a:r>
              <a:rPr lang="en-GB" dirty="0">
                <a:highlight>
                  <a:srgbClr val="00FF00"/>
                </a:highlight>
                <a:latin typeface="Arial" charset="0"/>
                <a:ea typeface="ＭＳ Ｐゴシック" charset="0"/>
                <a:cs typeface="Times" charset="0"/>
              </a:rPr>
              <a:t>State Diagrams</a:t>
            </a:r>
            <a:r>
              <a:rPr lang="en-US" dirty="0">
                <a:highlight>
                  <a:srgbClr val="00FF00"/>
                </a:highlight>
                <a:latin typeface="Arial" charset="0"/>
                <a:ea typeface="ＭＳ Ｐゴシック" charset="0"/>
                <a:cs typeface="ＭＳ Ｐゴシック" charset="0"/>
              </a:rPr>
              <a:t> </a:t>
            </a:r>
          </a:p>
        </p:txBody>
      </p:sp>
      <p:sp>
        <p:nvSpPr>
          <p:cNvPr id="118789" name="Rectangle 3"/>
          <p:cNvSpPr>
            <a:spLocks noGrp="1" noChangeArrowheads="1"/>
          </p:cNvSpPr>
          <p:nvPr>
            <p:ph type="body" idx="1"/>
          </p:nvPr>
        </p:nvSpPr>
        <p:spPr/>
        <p:txBody>
          <a:bodyPr/>
          <a:lstStyle/>
          <a:p>
            <a:pPr marL="0" indent="0" algn="just"/>
            <a:r>
              <a:rPr lang="en-GB" sz="2300" dirty="0">
                <a:highlight>
                  <a:srgbClr val="FFFF00"/>
                </a:highlight>
                <a:latin typeface="Times" charset="0"/>
                <a:ea typeface="ＭＳ Ｐゴシック" charset="0"/>
                <a:cs typeface="Times" charset="0"/>
              </a:rPr>
              <a:t>A state diagram describes the behaviour of a </a:t>
            </a:r>
            <a:r>
              <a:rPr lang="en-GB" sz="2300" i="1" dirty="0">
                <a:highlight>
                  <a:srgbClr val="FFFF00"/>
                </a:highlight>
                <a:latin typeface="Times" charset="0"/>
                <a:ea typeface="ＭＳ Ｐゴシック" charset="0"/>
                <a:cs typeface="Times" charset="0"/>
              </a:rPr>
              <a:t>system</a:t>
            </a:r>
            <a:r>
              <a:rPr lang="en-GB" sz="2300" dirty="0">
                <a:highlight>
                  <a:srgbClr val="FFFF00"/>
                </a:highlight>
                <a:latin typeface="Times" charset="0"/>
                <a:ea typeface="ＭＳ Ｐゴシック" charset="0"/>
                <a:cs typeface="Times" charset="0"/>
              </a:rPr>
              <a:t>, some </a:t>
            </a:r>
            <a:r>
              <a:rPr lang="en-GB" sz="2300" i="1" dirty="0">
                <a:highlight>
                  <a:srgbClr val="FFFF00"/>
                </a:highlight>
                <a:latin typeface="Times" charset="0"/>
                <a:ea typeface="ＭＳ Ｐゴシック" charset="0"/>
                <a:cs typeface="Times" charset="0"/>
              </a:rPr>
              <a:t>part</a:t>
            </a:r>
            <a:r>
              <a:rPr lang="en-GB" sz="2300" dirty="0">
                <a:highlight>
                  <a:srgbClr val="FFFF00"/>
                </a:highlight>
                <a:latin typeface="Times" charset="0"/>
                <a:ea typeface="ＭＳ Ｐゴシック" charset="0"/>
                <a:cs typeface="Times" charset="0"/>
              </a:rPr>
              <a:t> of a system, or an </a:t>
            </a:r>
            <a:r>
              <a:rPr lang="en-GB" sz="2300" i="1" dirty="0">
                <a:highlight>
                  <a:srgbClr val="FFFF00"/>
                </a:highlight>
                <a:latin typeface="Times" charset="0"/>
                <a:ea typeface="ＭＳ Ｐゴシック" charset="0"/>
                <a:cs typeface="Times" charset="0"/>
              </a:rPr>
              <a:t>individual object</a:t>
            </a:r>
            <a:r>
              <a:rPr lang="en-GB" sz="2300" dirty="0">
                <a:highlight>
                  <a:srgbClr val="FFFF00"/>
                </a:highlight>
                <a:latin typeface="Times" charset="0"/>
                <a:ea typeface="ＭＳ Ｐゴシック" charset="0"/>
                <a:cs typeface="Times" charset="0"/>
              </a:rPr>
              <a:t> </a:t>
            </a:r>
          </a:p>
          <a:p>
            <a:pPr lvl="1" algn="just"/>
            <a:r>
              <a:rPr lang="en-GB" sz="2300" dirty="0">
                <a:latin typeface="Times" charset="0"/>
                <a:ea typeface="ＭＳ Ｐゴシック" charset="0"/>
                <a:cs typeface="Times" charset="0"/>
              </a:rPr>
              <a:t>At any given point in time, the system or object is in a certain state</a:t>
            </a:r>
          </a:p>
          <a:p>
            <a:pPr lvl="2" algn="just"/>
            <a:r>
              <a:rPr lang="en-GB" sz="2300" dirty="0">
                <a:highlight>
                  <a:srgbClr val="FFFF00"/>
                </a:highlight>
                <a:latin typeface="Times" charset="0"/>
                <a:ea typeface="ＭＳ Ｐゴシック" charset="0"/>
                <a:cs typeface="Times" charset="0"/>
              </a:rPr>
              <a:t>Being in a state means that it behaves in a </a:t>
            </a:r>
            <a:r>
              <a:rPr lang="en-GB" sz="2300" i="1" dirty="0">
                <a:highlight>
                  <a:srgbClr val="FFFF00"/>
                </a:highlight>
                <a:latin typeface="Times" charset="0"/>
                <a:ea typeface="ＭＳ Ｐゴシック" charset="0"/>
                <a:cs typeface="Times" charset="0"/>
              </a:rPr>
              <a:t>specific way</a:t>
            </a:r>
            <a:r>
              <a:rPr lang="en-GB" sz="2300" dirty="0">
                <a:highlight>
                  <a:srgbClr val="FFFF00"/>
                </a:highlight>
                <a:latin typeface="Times" charset="0"/>
                <a:ea typeface="ＭＳ Ｐゴシック" charset="0"/>
                <a:cs typeface="Times" charset="0"/>
              </a:rPr>
              <a:t> in response to any events that occur</a:t>
            </a:r>
          </a:p>
          <a:p>
            <a:pPr lvl="1" algn="just"/>
            <a:r>
              <a:rPr lang="en-GB" sz="2300" dirty="0">
                <a:latin typeface="Times" charset="0"/>
                <a:ea typeface="ＭＳ Ｐゴシック" charset="0"/>
                <a:cs typeface="Times" charset="0"/>
              </a:rPr>
              <a:t>Some events will cause the system to change state</a:t>
            </a:r>
          </a:p>
          <a:p>
            <a:pPr lvl="2" algn="just"/>
            <a:r>
              <a:rPr lang="en-GB" sz="2300" dirty="0">
                <a:latin typeface="Times" charset="0"/>
                <a:ea typeface="ＭＳ Ｐゴシック" charset="0"/>
                <a:cs typeface="Times" charset="0"/>
              </a:rPr>
              <a:t>In the new state, the system will behave in a different way to events</a:t>
            </a:r>
          </a:p>
          <a:p>
            <a:pPr lvl="1"/>
            <a:r>
              <a:rPr lang="en-GB" sz="2300" dirty="0">
                <a:highlight>
                  <a:srgbClr val="FFFF00"/>
                </a:highlight>
                <a:latin typeface="Times" charset="0"/>
                <a:ea typeface="ＭＳ Ｐゴシック" charset="0"/>
                <a:cs typeface="Times" charset="0"/>
              </a:rPr>
              <a:t>A state diagram is a directed graph where the nodes are states and the arcs are transitions</a:t>
            </a:r>
            <a:r>
              <a:rPr lang="en-US" sz="2300" dirty="0">
                <a:highlight>
                  <a:srgbClr val="FFFF00"/>
                </a:highlight>
                <a:latin typeface="Times" charset="0"/>
                <a:ea typeface="ＭＳ Ｐゴシック" charset="0"/>
              </a:rPr>
              <a:t> </a:t>
            </a:r>
          </a:p>
        </p:txBody>
      </p:sp>
      <p:sp>
        <p:nvSpPr>
          <p:cNvPr id="2" name="Slide Number Placeholder 1"/>
          <p:cNvSpPr>
            <a:spLocks noGrp="1"/>
          </p:cNvSpPr>
          <p:nvPr>
            <p:ph type="sldNum" sz="quarter" idx="12"/>
          </p:nvPr>
        </p:nvSpPr>
        <p:spPr/>
        <p:txBody>
          <a:bodyPr/>
          <a:lstStyle/>
          <a:p>
            <a:fld id="{14F6F305-04E4-5E4D-BE4E-D65C3C550673}"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6" name="Rectangle 2"/>
          <p:cNvSpPr>
            <a:spLocks noGrp="1" noChangeArrowheads="1"/>
          </p:cNvSpPr>
          <p:nvPr>
            <p:ph type="title"/>
          </p:nvPr>
        </p:nvSpPr>
        <p:spPr/>
        <p:txBody>
          <a:bodyPr/>
          <a:lstStyle/>
          <a:p>
            <a:pPr algn="just"/>
            <a:r>
              <a:rPr lang="en-US">
                <a:latin typeface="Arial" charset="0"/>
                <a:ea typeface="ＭＳ Ｐゴシック" charset="0"/>
                <a:cs typeface="ＭＳ Ｐゴシック" charset="0"/>
              </a:rPr>
              <a:t>State diagrams – an example</a:t>
            </a:r>
          </a:p>
        </p:txBody>
      </p:sp>
      <p:sp>
        <p:nvSpPr>
          <p:cNvPr id="120837" name="Rectangle 3"/>
          <p:cNvSpPr>
            <a:spLocks noGrp="1" noChangeArrowheads="1"/>
          </p:cNvSpPr>
          <p:nvPr>
            <p:ph type="body" sz="half" idx="1"/>
          </p:nvPr>
        </p:nvSpPr>
        <p:spPr>
          <a:xfrm>
            <a:off x="1066800" y="1371600"/>
            <a:ext cx="7315200" cy="838200"/>
          </a:xfrm>
          <a:noFill/>
          <a:ln>
            <a:noFill/>
          </a:ln>
        </p:spPr>
        <p:txBody>
          <a:bodyPr vert="horz" wrap="square" lIns="91440" tIns="45720" rIns="91440" bIns="45720" numCol="1" anchor="t" anchorCtr="0" compatLnSpc="1">
            <a:prstTxWarp prst="textNoShape">
              <a:avLst/>
            </a:prstTxWarp>
          </a:bodyPr>
          <a:lstStyle/>
          <a:p>
            <a:pPr marL="190500" lvl="1" indent="0" algn="just">
              <a:buNone/>
            </a:pPr>
            <a:r>
              <a:rPr lang="en-GB" sz="2300" b="1" dirty="0">
                <a:latin typeface="Times" charset="0"/>
                <a:ea typeface="ＭＳ Ｐゴシック" charset="0"/>
                <a:cs typeface="Times" charset="0"/>
              </a:rPr>
              <a:t>Tic-tac-toe game (also called noughts and crosses)</a:t>
            </a:r>
            <a:endParaRPr lang="en-US" sz="2300" b="1" dirty="0">
              <a:latin typeface="Times" charset="0"/>
              <a:ea typeface="ＭＳ Ｐゴシック" charset="0"/>
              <a:cs typeface="Times" charset="0"/>
            </a:endParaRPr>
          </a:p>
        </p:txBody>
      </p:sp>
      <p:pic>
        <p:nvPicPr>
          <p:cNvPr id="120838" name="Picture 57"/>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828800" y="2209800"/>
            <a:ext cx="5181600" cy="3036888"/>
          </a:xfrm>
          <a:noFill/>
        </p:spPr>
      </p:pic>
      <p:sp>
        <p:nvSpPr>
          <p:cNvPr id="5" name="Slide Number Placeholder 4"/>
          <p:cNvSpPr>
            <a:spLocks noGrp="1"/>
          </p:cNvSpPr>
          <p:nvPr>
            <p:ph type="sldNum" sz="quarter" idx="12"/>
          </p:nvPr>
        </p:nvSpPr>
        <p:spPr/>
        <p:txBody>
          <a:bodyPr/>
          <a:lstStyle/>
          <a:p>
            <a:fld id="{AC3CA339-292C-C740-99AC-8402B0A7BAED}"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84" name="Rectangle 2"/>
          <p:cNvSpPr>
            <a:spLocks noGrp="1" noChangeArrowheads="1"/>
          </p:cNvSpPr>
          <p:nvPr>
            <p:ph type="title"/>
          </p:nvPr>
        </p:nvSpPr>
        <p:spPr/>
        <p:txBody>
          <a:bodyPr/>
          <a:lstStyle/>
          <a:p>
            <a:r>
              <a:rPr lang="en-US"/>
              <a:t>States</a:t>
            </a:r>
            <a:endParaRPr lang="en-GB"/>
          </a:p>
        </p:txBody>
      </p:sp>
      <p:sp>
        <p:nvSpPr>
          <p:cNvPr id="122885" name="Rectangle 3"/>
          <p:cNvSpPr>
            <a:spLocks noGrp="1" noChangeArrowheads="1"/>
          </p:cNvSpPr>
          <p:nvPr>
            <p:ph type="body" idx="1"/>
          </p:nvPr>
        </p:nvSpPr>
        <p:spPr/>
        <p:txBody>
          <a:bodyPr/>
          <a:lstStyle/>
          <a:p>
            <a:r>
              <a:rPr lang="en-GB" dirty="0">
                <a:highlight>
                  <a:srgbClr val="00FFFF"/>
                </a:highlight>
              </a:rPr>
              <a:t>At any given point in time, the system is in one state</a:t>
            </a:r>
          </a:p>
          <a:p>
            <a:r>
              <a:rPr lang="en-GB" dirty="0">
                <a:highlight>
                  <a:srgbClr val="FFFF00"/>
                </a:highlight>
              </a:rPr>
              <a:t>It will remain in this state until an event occurs that causes it to change state </a:t>
            </a:r>
          </a:p>
          <a:p>
            <a:r>
              <a:rPr lang="en-GB" dirty="0"/>
              <a:t>A state is represented by a rounded rectangle containing the name of the state</a:t>
            </a:r>
          </a:p>
          <a:p>
            <a:r>
              <a:rPr lang="en-GB" dirty="0"/>
              <a:t>Special states:</a:t>
            </a:r>
          </a:p>
          <a:p>
            <a:pPr lvl="1"/>
            <a:r>
              <a:rPr lang="en-GB" dirty="0">
                <a:highlight>
                  <a:srgbClr val="FFFF00"/>
                </a:highlight>
              </a:rPr>
              <a:t>A black circle represents the </a:t>
            </a:r>
            <a:r>
              <a:rPr lang="en-GB" i="1" dirty="0">
                <a:highlight>
                  <a:srgbClr val="FFFF00"/>
                </a:highlight>
              </a:rPr>
              <a:t>start state</a:t>
            </a:r>
            <a:r>
              <a:rPr lang="en-US" dirty="0">
                <a:highlight>
                  <a:srgbClr val="FFFF00"/>
                </a:highlight>
              </a:rPr>
              <a:t> </a:t>
            </a:r>
          </a:p>
          <a:p>
            <a:pPr lvl="1"/>
            <a:r>
              <a:rPr lang="en-GB" dirty="0">
                <a:highlight>
                  <a:srgbClr val="00FFFF"/>
                </a:highlight>
              </a:rPr>
              <a:t>A circle with a ring around it represents an </a:t>
            </a:r>
            <a:r>
              <a:rPr lang="en-GB" i="1" dirty="0">
                <a:highlight>
                  <a:srgbClr val="00FFFF"/>
                </a:highlight>
              </a:rPr>
              <a:t>end state</a:t>
            </a:r>
            <a:r>
              <a:rPr lang="en-US" i="1" dirty="0">
                <a:highlight>
                  <a:srgbClr val="00FFFF"/>
                </a:highlight>
              </a:rPr>
              <a:t> </a:t>
            </a:r>
          </a:p>
        </p:txBody>
      </p:sp>
      <p:sp>
        <p:nvSpPr>
          <p:cNvPr id="4" name="Slide Number Placeholder 3"/>
          <p:cNvSpPr>
            <a:spLocks noGrp="1"/>
          </p:cNvSpPr>
          <p:nvPr>
            <p:ph type="sldNum" sz="quarter" idx="12"/>
          </p:nvPr>
        </p:nvSpPr>
        <p:spPr/>
        <p:txBody>
          <a:bodyPr/>
          <a:lstStyle/>
          <a:p>
            <a:fld id="{14F6F305-04E4-5E4D-BE4E-D65C3C550673}"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932" name="Rectangle 2"/>
          <p:cNvSpPr>
            <a:spLocks noGrp="1" noChangeArrowheads="1"/>
          </p:cNvSpPr>
          <p:nvPr>
            <p:ph type="title"/>
          </p:nvPr>
        </p:nvSpPr>
        <p:spPr/>
        <p:txBody>
          <a:bodyPr/>
          <a:lstStyle/>
          <a:p>
            <a:r>
              <a:rPr lang="en-US"/>
              <a:t>Transitions</a:t>
            </a:r>
            <a:endParaRPr lang="en-GB" dirty="0"/>
          </a:p>
        </p:txBody>
      </p:sp>
      <p:sp>
        <p:nvSpPr>
          <p:cNvPr id="124933" name="Rectangle 3"/>
          <p:cNvSpPr>
            <a:spLocks noGrp="1" noChangeArrowheads="1"/>
          </p:cNvSpPr>
          <p:nvPr>
            <p:ph type="body" idx="1"/>
          </p:nvPr>
        </p:nvSpPr>
        <p:spPr/>
        <p:txBody>
          <a:bodyPr/>
          <a:lstStyle/>
          <a:p>
            <a:r>
              <a:rPr lang="en-GB" dirty="0">
                <a:highlight>
                  <a:srgbClr val="00FFFF"/>
                </a:highlight>
              </a:rPr>
              <a:t>A transition represents a change of state in response to an event</a:t>
            </a:r>
          </a:p>
          <a:p>
            <a:pPr lvl="1"/>
            <a:r>
              <a:rPr lang="en-GB" dirty="0"/>
              <a:t>It is considered to occur instantaneously</a:t>
            </a:r>
          </a:p>
          <a:p>
            <a:r>
              <a:rPr lang="en-GB" dirty="0">
                <a:highlight>
                  <a:srgbClr val="FFFF00"/>
                </a:highlight>
              </a:rPr>
              <a:t>The label on each transition is the event that causes the change of state</a:t>
            </a:r>
            <a:endParaRPr lang="en-US" dirty="0">
              <a:highlight>
                <a:srgbClr val="FFFF00"/>
              </a:highlight>
            </a:endParaRPr>
          </a:p>
        </p:txBody>
      </p:sp>
      <p:sp>
        <p:nvSpPr>
          <p:cNvPr id="4" name="Slide Number Placeholder 3"/>
          <p:cNvSpPr>
            <a:spLocks noGrp="1"/>
          </p:cNvSpPr>
          <p:nvPr>
            <p:ph type="sldNum" sz="quarter" idx="12"/>
          </p:nvPr>
        </p:nvSpPr>
        <p:spPr/>
        <p:txBody>
          <a:bodyPr/>
          <a:lstStyle/>
          <a:p>
            <a:fld id="{14F6F305-04E4-5E4D-BE4E-D65C3C550673}"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80" name="Rectangle 10"/>
          <p:cNvSpPr>
            <a:spLocks noChangeArrowheads="1"/>
          </p:cNvSpPr>
          <p:nvPr/>
        </p:nvSpPr>
        <p:spPr bwMode="auto">
          <a:xfrm>
            <a:off x="381000" y="304800"/>
            <a:ext cx="8229600"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200" dirty="0">
                <a:solidFill>
                  <a:srgbClr val="00B0F0"/>
                </a:solidFill>
                <a:latin typeface="+mj-lt"/>
                <a:ea typeface="ＭＳ Ｐゴシック" pitchFamily="-1" charset="-128"/>
                <a:cs typeface="ＭＳ Ｐゴシック" pitchFamily="-1" charset="-128"/>
              </a:rPr>
              <a:t>State diagrams – an example of transitions</a:t>
            </a:r>
            <a:r>
              <a:rPr lang="en-GB" sz="3200" dirty="0">
                <a:solidFill>
                  <a:srgbClr val="00B0F0"/>
                </a:solidFill>
                <a:latin typeface="+mj-lt"/>
                <a:ea typeface="ＭＳ Ｐゴシック" pitchFamily="-1" charset="-128"/>
                <a:cs typeface="ＭＳ Ｐゴシック" pitchFamily="-1" charset="-128"/>
              </a:rPr>
              <a:t> with time-outs</a:t>
            </a:r>
            <a:endParaRPr lang="en-US" sz="3200" dirty="0">
              <a:solidFill>
                <a:srgbClr val="00B0F0"/>
              </a:solidFill>
              <a:latin typeface="+mj-lt"/>
              <a:ea typeface="ＭＳ Ｐゴシック" pitchFamily="-1" charset="-128"/>
              <a:cs typeface="ＭＳ Ｐゴシック" pitchFamily="-1" charset="-128"/>
            </a:endParaRPr>
          </a:p>
        </p:txBody>
      </p:sp>
      <p:pic>
        <p:nvPicPr>
          <p:cNvPr id="126981" name="Picture 73"/>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0" y="2357438"/>
            <a:ext cx="8229600" cy="3808412"/>
          </a:xfrm>
          <a:noFill/>
        </p:spPr>
      </p:pic>
      <p:pic>
        <p:nvPicPr>
          <p:cNvPr id="126982" name="Picture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1925" y="785813"/>
            <a:ext cx="1362075" cy="1838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CFA2E5DF-4F62-2D45-920E-8E93D8F64D58}"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8"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State diagrams – an example with </a:t>
            </a:r>
            <a:r>
              <a:rPr lang="en-US" dirty="0">
                <a:highlight>
                  <a:srgbClr val="00FF00"/>
                </a:highlight>
                <a:latin typeface="Arial" charset="0"/>
                <a:ea typeface="ＭＳ Ｐゴシック" charset="0"/>
                <a:cs typeface="ＭＳ Ｐゴシック" charset="0"/>
              </a:rPr>
              <a:t>conditional transitions  </a:t>
            </a:r>
            <a:r>
              <a:rPr lang="en-US" dirty="0">
                <a:latin typeface="Arial" charset="0"/>
                <a:ea typeface="ＭＳ Ｐゴシック" charset="0"/>
                <a:cs typeface="ＭＳ Ｐゴシック" charset="0"/>
              </a:rPr>
              <a:t>	</a:t>
            </a:r>
          </a:p>
        </p:txBody>
      </p:sp>
      <p:pic>
        <p:nvPicPr>
          <p:cNvPr id="129029" name="Picture 8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57313" y="1714500"/>
            <a:ext cx="7065962" cy="3257550"/>
          </a:xfrm>
          <a:noFill/>
        </p:spPr>
      </p:pic>
      <p:sp>
        <p:nvSpPr>
          <p:cNvPr id="129030" name="Rectangle 3"/>
          <p:cNvSpPr txBox="1">
            <a:spLocks noChangeArrowheads="1"/>
          </p:cNvSpPr>
          <p:nvPr/>
        </p:nvSpPr>
        <p:spPr bwMode="auto">
          <a:xfrm>
            <a:off x="2066925" y="5300663"/>
            <a:ext cx="7077075" cy="628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24161750" indent="-24161750">
              <a:defRPr sz="2400">
                <a:solidFill>
                  <a:schemeClr val="tx1"/>
                </a:solidFill>
                <a:latin typeface="Times" charset="0"/>
                <a:ea typeface="ＭＳ Ｐゴシック" charset="0"/>
                <a:cs typeface="ＭＳ Ｐゴシック" charset="0"/>
              </a:defRPr>
            </a:lvl1pPr>
            <a:lvl2pPr marL="385763" indent="-195263">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lvl="1">
              <a:spcBef>
                <a:spcPct val="20000"/>
              </a:spcBef>
            </a:pPr>
            <a:r>
              <a:rPr lang="en-GB" dirty="0">
                <a:cs typeface="Times" charset="0"/>
              </a:rPr>
              <a:t>State diagram of the </a:t>
            </a:r>
            <a:r>
              <a:rPr lang="en-GB" dirty="0" err="1">
                <a:cs typeface="Times" charset="0"/>
              </a:rPr>
              <a:t>CourseSection</a:t>
            </a:r>
            <a:r>
              <a:rPr lang="en-GB" dirty="0">
                <a:cs typeface="Times" charset="0"/>
              </a:rPr>
              <a:t> class</a:t>
            </a:r>
            <a:endParaRPr lang="en-GB" sz="2000" dirty="0">
              <a:cs typeface="Times"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55</a:t>
            </a:fld>
            <a:endParaRPr lang="en-US"/>
          </a:p>
        </p:txBody>
      </p:sp>
      <p:pic>
        <p:nvPicPr>
          <p:cNvPr id="7" name="Picture 62" descr="x">
            <a:extLst>
              <a:ext uri="{FF2B5EF4-FFF2-40B4-BE49-F238E27FC236}">
                <a16:creationId xmlns:a16="http://schemas.microsoft.com/office/drawing/2014/main" id="{36D35386-4D6B-3141-A25A-715986D111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820203"/>
            <a:ext cx="3857332" cy="5556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6" name="Rectangle 2"/>
          <p:cNvSpPr>
            <a:spLocks noGrp="1" noChangeArrowheads="1"/>
          </p:cNvSpPr>
          <p:nvPr>
            <p:ph type="title"/>
          </p:nvPr>
        </p:nvSpPr>
        <p:spPr/>
        <p:txBody>
          <a:bodyPr/>
          <a:lstStyle/>
          <a:p>
            <a:r>
              <a:rPr lang="en-GB">
                <a:latin typeface="Arial" charset="0"/>
                <a:ea typeface="ＭＳ Ｐゴシック" charset="0"/>
                <a:cs typeface="Times" charset="0"/>
              </a:rPr>
              <a:t>Activities in state diagrams</a:t>
            </a:r>
            <a:r>
              <a:rPr lang="en-US">
                <a:latin typeface="Arial" charset="0"/>
                <a:ea typeface="ＭＳ Ｐゴシック" charset="0"/>
                <a:cs typeface="ＭＳ Ｐゴシック" charset="0"/>
              </a:rPr>
              <a:t> </a:t>
            </a:r>
          </a:p>
        </p:txBody>
      </p:sp>
      <p:sp>
        <p:nvSpPr>
          <p:cNvPr id="131077"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bodyPr>
          <a:lstStyle/>
          <a:p>
            <a:r>
              <a:rPr lang="en-GB" dirty="0">
                <a:highlight>
                  <a:srgbClr val="00FFFF"/>
                </a:highlight>
              </a:rPr>
              <a:t>An activity is something that takes place while the system is in a state</a:t>
            </a:r>
          </a:p>
          <a:p>
            <a:pPr lvl="1"/>
            <a:r>
              <a:rPr lang="en-GB" dirty="0"/>
              <a:t>It takes a period of time</a:t>
            </a:r>
          </a:p>
          <a:p>
            <a:pPr lvl="1"/>
            <a:r>
              <a:rPr lang="en-GB" dirty="0"/>
              <a:t>The system may take a transition out of the state in response to completion of the activity, </a:t>
            </a:r>
          </a:p>
          <a:p>
            <a:pPr lvl="1"/>
            <a:r>
              <a:rPr lang="en-GB" dirty="0"/>
              <a:t>Some other </a:t>
            </a:r>
            <a:r>
              <a:rPr lang="en-GB" dirty="0">
                <a:highlight>
                  <a:srgbClr val="00FFFF"/>
                </a:highlight>
              </a:rPr>
              <a:t>outgoing transition</a:t>
            </a:r>
            <a:r>
              <a:rPr lang="en-GB" dirty="0"/>
              <a:t> may result in:</a:t>
            </a:r>
          </a:p>
          <a:p>
            <a:pPr lvl="2"/>
            <a:r>
              <a:rPr lang="en-GB" dirty="0">
                <a:highlight>
                  <a:srgbClr val="FFFF00"/>
                </a:highlight>
              </a:rPr>
              <a:t>The interruption of the activity, and</a:t>
            </a:r>
          </a:p>
          <a:p>
            <a:pPr lvl="2"/>
            <a:r>
              <a:rPr lang="en-GB" dirty="0">
                <a:highlight>
                  <a:srgbClr val="FFFF00"/>
                </a:highlight>
              </a:rPr>
              <a:t>An early exit from the state</a:t>
            </a:r>
          </a:p>
        </p:txBody>
      </p:sp>
      <p:sp>
        <p:nvSpPr>
          <p:cNvPr id="2" name="Slide Number Placeholder 1"/>
          <p:cNvSpPr>
            <a:spLocks noGrp="1"/>
          </p:cNvSpPr>
          <p:nvPr>
            <p:ph type="sldNum" sz="quarter" idx="12"/>
          </p:nvPr>
        </p:nvSpPr>
        <p:spPr/>
        <p:txBody>
          <a:bodyPr/>
          <a:lstStyle/>
          <a:p>
            <a:fld id="{14F6F305-04E4-5E4D-BE4E-D65C3C550673}"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4"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State diagram – an example with activity </a:t>
            </a:r>
          </a:p>
        </p:txBody>
      </p:sp>
      <p:pic>
        <p:nvPicPr>
          <p:cNvPr id="133125" name="Picture 29"/>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0" y="2209800"/>
            <a:ext cx="6248400" cy="1563688"/>
          </a:xfrm>
          <a:noFill/>
        </p:spPr>
      </p:pic>
      <p:sp>
        <p:nvSpPr>
          <p:cNvPr id="133126" name="Rectangle 3"/>
          <p:cNvSpPr txBox="1">
            <a:spLocks noChangeArrowheads="1"/>
          </p:cNvSpPr>
          <p:nvPr/>
        </p:nvSpPr>
        <p:spPr bwMode="auto">
          <a:xfrm>
            <a:off x="785813" y="4143375"/>
            <a:ext cx="7934325" cy="628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spcBef>
                <a:spcPct val="20000"/>
              </a:spcBef>
              <a:defRPr b="1">
                <a:latin typeface="+mn-lt"/>
                <a:ea typeface="ＭＳ Ｐゴシック" pitchFamily="-1" charset="-128"/>
                <a:cs typeface="ＭＳ Ｐゴシック" pitchFamily="-1" charset="-128"/>
              </a:defRPr>
            </a:lvl1pPr>
            <a:lvl2pPr marL="385763" lvl="1" indent="-195263">
              <a:spcBef>
                <a:spcPct val="20000"/>
              </a:spcBef>
              <a:buChar char="•"/>
              <a:defRPr>
                <a:latin typeface="+mn-lt"/>
                <a:ea typeface="ＭＳ Ｐゴシック" charset="-128"/>
              </a:defRPr>
            </a:lvl2pPr>
            <a:lvl3pPr marL="804863" lvl="2" indent="-228600">
              <a:spcBef>
                <a:spcPct val="20000"/>
              </a:spcBef>
              <a:buChar char="—"/>
              <a:defRPr>
                <a:latin typeface="+mn-lt"/>
                <a:ea typeface="ＭＳ Ｐゴシック" charset="-128"/>
              </a:defRPr>
            </a:lvl3pPr>
            <a:lvl4pPr marL="1223963" indent="-228600">
              <a:spcBef>
                <a:spcPct val="20000"/>
              </a:spcBef>
              <a:buChar char="-"/>
              <a:defRPr sz="2000">
                <a:latin typeface="+mn-lt"/>
                <a:ea typeface="ＭＳ Ｐゴシック" charset="-128"/>
              </a:defRPr>
            </a:lvl4pPr>
            <a:lvl5pPr marL="1643063" indent="-228600">
              <a:spcBef>
                <a:spcPct val="20000"/>
              </a:spcBef>
              <a:buChar char="»"/>
              <a:defRPr sz="2000">
                <a:latin typeface="+mn-lt"/>
                <a:ea typeface="ＭＳ Ｐゴシック" charset="-128"/>
              </a:defRPr>
            </a:lvl5pPr>
            <a:lvl6pPr marL="2100263" indent="-228600" eaLnBrk="0" fontAlgn="base" hangingPunct="0">
              <a:spcBef>
                <a:spcPct val="20000"/>
              </a:spcBef>
              <a:spcAft>
                <a:spcPct val="0"/>
              </a:spcAft>
              <a:buChar char="»"/>
              <a:defRPr sz="2000">
                <a:latin typeface="+mn-lt"/>
              </a:defRPr>
            </a:lvl6pPr>
            <a:lvl7pPr marL="2557463" indent="-228600" eaLnBrk="0" fontAlgn="base" hangingPunct="0">
              <a:spcBef>
                <a:spcPct val="20000"/>
              </a:spcBef>
              <a:spcAft>
                <a:spcPct val="0"/>
              </a:spcAft>
              <a:buChar char="»"/>
              <a:defRPr sz="2000">
                <a:latin typeface="+mn-lt"/>
              </a:defRPr>
            </a:lvl7pPr>
            <a:lvl8pPr marL="3014663" indent="-228600" eaLnBrk="0" fontAlgn="base" hangingPunct="0">
              <a:spcBef>
                <a:spcPct val="20000"/>
              </a:spcBef>
              <a:spcAft>
                <a:spcPct val="0"/>
              </a:spcAft>
              <a:buChar char="»"/>
              <a:defRPr sz="2000">
                <a:latin typeface="+mn-lt"/>
              </a:defRPr>
            </a:lvl8pPr>
            <a:lvl9pPr marL="3471863" indent="-228600" eaLnBrk="0" fontAlgn="base" hangingPunct="0">
              <a:spcBef>
                <a:spcPct val="20000"/>
              </a:spcBef>
              <a:spcAft>
                <a:spcPct val="0"/>
              </a:spcAft>
              <a:buChar char="»"/>
              <a:defRPr sz="2000">
                <a:latin typeface="+mn-lt"/>
              </a:defRPr>
            </a:lvl9pPr>
          </a:lstStyle>
          <a:p>
            <a:r>
              <a:rPr lang="en-GB" dirty="0"/>
              <a:t>State diagram for a Jukebox, illustrating an activity in a state</a:t>
            </a:r>
          </a:p>
        </p:txBody>
      </p:sp>
      <p:sp>
        <p:nvSpPr>
          <p:cNvPr id="2" name="Slide Number Placeholder 1"/>
          <p:cNvSpPr>
            <a:spLocks noGrp="1"/>
          </p:cNvSpPr>
          <p:nvPr>
            <p:ph type="sldNum" sz="quarter" idx="12"/>
          </p:nvPr>
        </p:nvSpPr>
        <p:spPr/>
        <p:txBody>
          <a:bodyPr/>
          <a:lstStyle/>
          <a:p>
            <a:fld id="{14F6F305-04E4-5E4D-BE4E-D65C3C550673}"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5172" name="Rectangle 2"/>
          <p:cNvSpPr>
            <a:spLocks noGrp="1" noChangeArrowheads="1"/>
          </p:cNvSpPr>
          <p:nvPr>
            <p:ph type="title"/>
          </p:nvPr>
        </p:nvSpPr>
        <p:spPr/>
        <p:txBody>
          <a:bodyPr/>
          <a:lstStyle/>
          <a:p>
            <a:r>
              <a:rPr lang="en-GB">
                <a:latin typeface="Arial" charset="0"/>
                <a:ea typeface="ＭＳ Ｐゴシック" charset="0"/>
                <a:cs typeface="Times" charset="0"/>
              </a:rPr>
              <a:t>Actions in state diagrams</a:t>
            </a:r>
            <a:endParaRPr lang="en-US">
              <a:latin typeface="Arial" charset="0"/>
              <a:ea typeface="ＭＳ Ｐゴシック" charset="0"/>
              <a:cs typeface="ＭＳ Ｐゴシック" charset="0"/>
            </a:endParaRPr>
          </a:p>
        </p:txBody>
      </p:sp>
      <p:sp>
        <p:nvSpPr>
          <p:cNvPr id="135173"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bodyPr>
          <a:lstStyle/>
          <a:p>
            <a:r>
              <a:rPr lang="en-GB" dirty="0"/>
              <a:t>An action is something that takes place effectively instantaneously </a:t>
            </a:r>
          </a:p>
          <a:p>
            <a:pPr lvl="1"/>
            <a:r>
              <a:rPr lang="en-GB" dirty="0"/>
              <a:t>When a particular transition is taken,</a:t>
            </a:r>
            <a:r>
              <a:rPr lang="en-US" dirty="0"/>
              <a:t> </a:t>
            </a:r>
          </a:p>
          <a:p>
            <a:pPr lvl="1"/>
            <a:r>
              <a:rPr lang="en-GB" dirty="0"/>
              <a:t>Upon entry into a particular state, or</a:t>
            </a:r>
            <a:r>
              <a:rPr lang="en-US" dirty="0"/>
              <a:t> </a:t>
            </a:r>
          </a:p>
          <a:p>
            <a:pPr lvl="1"/>
            <a:r>
              <a:rPr lang="en-GB" dirty="0"/>
              <a:t>Upon exit from a particular state</a:t>
            </a:r>
          </a:p>
          <a:p>
            <a:r>
              <a:rPr lang="en-GB" dirty="0"/>
              <a:t>An action should consume no noticeable amount of time</a:t>
            </a:r>
            <a:r>
              <a:rPr lang="en-US" dirty="0"/>
              <a:t>  </a:t>
            </a:r>
          </a:p>
        </p:txBody>
      </p:sp>
      <p:sp>
        <p:nvSpPr>
          <p:cNvPr id="2" name="Slide Number Placeholder 1"/>
          <p:cNvSpPr>
            <a:spLocks noGrp="1"/>
          </p:cNvSpPr>
          <p:nvPr>
            <p:ph type="sldNum" sz="quarter" idx="12"/>
          </p:nvPr>
        </p:nvSpPr>
        <p:spPr/>
        <p:txBody>
          <a:bodyPr/>
          <a:lstStyle/>
          <a:p>
            <a:fld id="{14F6F305-04E4-5E4D-BE4E-D65C3C550673}" type="slidenum">
              <a:rPr lang="en-US" smtClean="0"/>
              <a:pPr/>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7220"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State diagram – an example with actions</a:t>
            </a:r>
          </a:p>
        </p:txBody>
      </p:sp>
      <p:pic>
        <p:nvPicPr>
          <p:cNvPr id="137221" name="Picture 7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1817688"/>
            <a:ext cx="6934200" cy="3592512"/>
          </a:xfrm>
          <a:noFill/>
        </p:spPr>
      </p:pic>
      <p:sp>
        <p:nvSpPr>
          <p:cNvPr id="137222" name="Rectangle 3"/>
          <p:cNvSpPr txBox="1">
            <a:spLocks noChangeArrowheads="1"/>
          </p:cNvSpPr>
          <p:nvPr/>
        </p:nvSpPr>
        <p:spPr bwMode="auto">
          <a:xfrm>
            <a:off x="1785938" y="5643563"/>
            <a:ext cx="7934325" cy="628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spcBef>
                <a:spcPct val="20000"/>
              </a:spcBef>
              <a:defRPr b="1">
                <a:latin typeface="+mn-lt"/>
                <a:ea typeface="ＭＳ Ｐゴシック" pitchFamily="-1" charset="-128"/>
                <a:cs typeface="ＭＳ Ｐゴシック" pitchFamily="-1" charset="-128"/>
              </a:defRPr>
            </a:lvl1pPr>
            <a:lvl2pPr marL="385763" lvl="1" indent="-195263">
              <a:spcBef>
                <a:spcPct val="20000"/>
              </a:spcBef>
              <a:buChar char="•"/>
              <a:defRPr>
                <a:latin typeface="+mn-lt"/>
                <a:ea typeface="ＭＳ Ｐゴシック" charset="-128"/>
              </a:defRPr>
            </a:lvl2pPr>
            <a:lvl3pPr marL="804863" indent="-228600">
              <a:spcBef>
                <a:spcPct val="20000"/>
              </a:spcBef>
              <a:buChar char="—"/>
              <a:defRPr>
                <a:latin typeface="+mn-lt"/>
                <a:ea typeface="ＭＳ Ｐゴシック" charset="-128"/>
              </a:defRPr>
            </a:lvl3pPr>
            <a:lvl4pPr marL="1223963" indent="-228600">
              <a:spcBef>
                <a:spcPct val="20000"/>
              </a:spcBef>
              <a:buChar char="-"/>
              <a:defRPr sz="2000">
                <a:latin typeface="+mn-lt"/>
                <a:ea typeface="ＭＳ Ｐゴシック" charset="-128"/>
              </a:defRPr>
            </a:lvl4pPr>
            <a:lvl5pPr marL="1643063" indent="-228600">
              <a:spcBef>
                <a:spcPct val="20000"/>
              </a:spcBef>
              <a:buChar char="»"/>
              <a:defRPr sz="2000">
                <a:latin typeface="+mn-lt"/>
                <a:ea typeface="ＭＳ Ｐゴシック" charset="-128"/>
              </a:defRPr>
            </a:lvl5pPr>
            <a:lvl6pPr marL="2100263" indent="-228600" eaLnBrk="0" fontAlgn="base" hangingPunct="0">
              <a:spcBef>
                <a:spcPct val="20000"/>
              </a:spcBef>
              <a:spcAft>
                <a:spcPct val="0"/>
              </a:spcAft>
              <a:buChar char="»"/>
              <a:defRPr sz="2000">
                <a:latin typeface="+mn-lt"/>
              </a:defRPr>
            </a:lvl6pPr>
            <a:lvl7pPr marL="2557463" indent="-228600" eaLnBrk="0" fontAlgn="base" hangingPunct="0">
              <a:spcBef>
                <a:spcPct val="20000"/>
              </a:spcBef>
              <a:spcAft>
                <a:spcPct val="0"/>
              </a:spcAft>
              <a:buChar char="»"/>
              <a:defRPr sz="2000">
                <a:latin typeface="+mn-lt"/>
              </a:defRPr>
            </a:lvl7pPr>
            <a:lvl8pPr marL="3014663" indent="-228600" eaLnBrk="0" fontAlgn="base" hangingPunct="0">
              <a:spcBef>
                <a:spcPct val="20000"/>
              </a:spcBef>
              <a:spcAft>
                <a:spcPct val="0"/>
              </a:spcAft>
              <a:buChar char="»"/>
              <a:defRPr sz="2000">
                <a:latin typeface="+mn-lt"/>
              </a:defRPr>
            </a:lvl8pPr>
            <a:lvl9pPr marL="3471863" indent="-228600" eaLnBrk="0" fontAlgn="base" hangingPunct="0">
              <a:spcBef>
                <a:spcPct val="20000"/>
              </a:spcBef>
              <a:spcAft>
                <a:spcPct val="0"/>
              </a:spcAft>
              <a:buChar char="»"/>
              <a:defRPr sz="2000">
                <a:latin typeface="+mn-lt"/>
              </a:defRPr>
            </a:lvl9pPr>
          </a:lstStyle>
          <a:p>
            <a:r>
              <a:rPr lang="en-GB" dirty="0"/>
              <a:t>State diagram for a garage door opener</a:t>
            </a:r>
          </a:p>
        </p:txBody>
      </p:sp>
      <p:sp>
        <p:nvSpPr>
          <p:cNvPr id="2" name="Slide Number Placeholder 1"/>
          <p:cNvSpPr>
            <a:spLocks noGrp="1"/>
          </p:cNvSpPr>
          <p:nvPr>
            <p:ph type="sldNum" sz="quarter" idx="12"/>
          </p:nvPr>
        </p:nvSpPr>
        <p:spPr/>
        <p:txBody>
          <a:bodyPr/>
          <a:lstStyle/>
          <a:p>
            <a:fld id="{14F6F305-04E4-5E4D-BE4E-D65C3C550673}" type="slidenum">
              <a:rPr lang="en-US" smtClean="0"/>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8"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State diagrams – another example</a:t>
            </a:r>
          </a:p>
        </p:txBody>
      </p:sp>
      <p:pic>
        <p:nvPicPr>
          <p:cNvPr id="139269" name="Picture 7"/>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2514600"/>
            <a:ext cx="7010400" cy="2305050"/>
          </a:xfrm>
          <a:noFill/>
        </p:spPr>
      </p:pic>
      <p:sp>
        <p:nvSpPr>
          <p:cNvPr id="139270" name="Rectangle 3"/>
          <p:cNvSpPr txBox="1">
            <a:spLocks noChangeArrowheads="1"/>
          </p:cNvSpPr>
          <p:nvPr/>
        </p:nvSpPr>
        <p:spPr bwMode="auto">
          <a:xfrm>
            <a:off x="1571625" y="5214938"/>
            <a:ext cx="7934325" cy="628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342900" indent="-342900">
              <a:spcBef>
                <a:spcPct val="20000"/>
              </a:spcBef>
              <a:defRPr b="1">
                <a:latin typeface="+mn-lt"/>
                <a:ea typeface="ＭＳ Ｐゴシック" pitchFamily="-1" charset="-128"/>
                <a:cs typeface="ＭＳ Ｐゴシック" pitchFamily="-1" charset="-128"/>
              </a:defRPr>
            </a:lvl1pPr>
            <a:lvl2pPr marL="385763" lvl="1" indent="-195263">
              <a:spcBef>
                <a:spcPct val="20000"/>
              </a:spcBef>
              <a:buChar char="•"/>
              <a:defRPr>
                <a:latin typeface="+mn-lt"/>
                <a:ea typeface="ＭＳ Ｐゴシック" charset="-128"/>
              </a:defRPr>
            </a:lvl2pPr>
            <a:lvl3pPr marL="804863" indent="-228600">
              <a:spcBef>
                <a:spcPct val="20000"/>
              </a:spcBef>
              <a:buChar char="—"/>
              <a:defRPr>
                <a:latin typeface="+mn-lt"/>
                <a:ea typeface="ＭＳ Ｐゴシック" charset="-128"/>
              </a:defRPr>
            </a:lvl3pPr>
            <a:lvl4pPr marL="1223963" indent="-228600">
              <a:spcBef>
                <a:spcPct val="20000"/>
              </a:spcBef>
              <a:buChar char="-"/>
              <a:defRPr sz="2000">
                <a:latin typeface="+mn-lt"/>
                <a:ea typeface="ＭＳ Ｐゴシック" charset="-128"/>
              </a:defRPr>
            </a:lvl4pPr>
            <a:lvl5pPr marL="1643063" indent="-228600">
              <a:spcBef>
                <a:spcPct val="20000"/>
              </a:spcBef>
              <a:buChar char="»"/>
              <a:defRPr sz="2000">
                <a:latin typeface="+mn-lt"/>
                <a:ea typeface="ＭＳ Ｐゴシック" charset="-128"/>
              </a:defRPr>
            </a:lvl5pPr>
            <a:lvl6pPr marL="2100263" indent="-228600" eaLnBrk="0" fontAlgn="base" hangingPunct="0">
              <a:spcBef>
                <a:spcPct val="20000"/>
              </a:spcBef>
              <a:spcAft>
                <a:spcPct val="0"/>
              </a:spcAft>
              <a:buChar char="»"/>
              <a:defRPr sz="2000">
                <a:latin typeface="+mn-lt"/>
              </a:defRPr>
            </a:lvl6pPr>
            <a:lvl7pPr marL="2557463" indent="-228600" eaLnBrk="0" fontAlgn="base" hangingPunct="0">
              <a:spcBef>
                <a:spcPct val="20000"/>
              </a:spcBef>
              <a:spcAft>
                <a:spcPct val="0"/>
              </a:spcAft>
              <a:buChar char="»"/>
              <a:defRPr sz="2000">
                <a:latin typeface="+mn-lt"/>
              </a:defRPr>
            </a:lvl7pPr>
            <a:lvl8pPr marL="3014663" indent="-228600" eaLnBrk="0" fontAlgn="base" hangingPunct="0">
              <a:spcBef>
                <a:spcPct val="20000"/>
              </a:spcBef>
              <a:spcAft>
                <a:spcPct val="0"/>
              </a:spcAft>
              <a:buChar char="»"/>
              <a:defRPr sz="2000">
                <a:latin typeface="+mn-lt"/>
              </a:defRPr>
            </a:lvl8pPr>
            <a:lvl9pPr marL="3471863" indent="-228600" eaLnBrk="0" fontAlgn="base" hangingPunct="0">
              <a:spcBef>
                <a:spcPct val="20000"/>
              </a:spcBef>
              <a:spcAft>
                <a:spcPct val="0"/>
              </a:spcAft>
              <a:buChar char="»"/>
              <a:defRPr sz="2000">
                <a:latin typeface="+mn-lt"/>
              </a:defRPr>
            </a:lvl9pPr>
          </a:lstStyle>
          <a:p>
            <a:r>
              <a:rPr lang="en-GB" dirty="0"/>
              <a:t>Partial state diagram for a tape recorder</a:t>
            </a:r>
          </a:p>
        </p:txBody>
      </p:sp>
      <p:sp>
        <p:nvSpPr>
          <p:cNvPr id="2" name="Slide Number Placeholder 1"/>
          <p:cNvSpPr>
            <a:spLocks noGrp="1"/>
          </p:cNvSpPr>
          <p:nvPr>
            <p:ph type="sldNum" sz="quarter" idx="12"/>
          </p:nvPr>
        </p:nvSpPr>
        <p:spPr/>
        <p:txBody>
          <a:bodyPr/>
          <a:lstStyle/>
          <a:p>
            <a:fld id="{14F6F305-04E4-5E4D-BE4E-D65C3C550673}" type="slidenum">
              <a:rPr lang="en-US" smtClean="0"/>
              <a:pPr/>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1316" name="Rectangle 2"/>
          <p:cNvSpPr>
            <a:spLocks noGrp="1" noChangeArrowheads="1"/>
          </p:cNvSpPr>
          <p:nvPr>
            <p:ph type="title"/>
          </p:nvPr>
        </p:nvSpPr>
        <p:spPr/>
        <p:txBody>
          <a:bodyPr/>
          <a:lstStyle/>
          <a:p>
            <a:r>
              <a:rPr lang="en-GB">
                <a:latin typeface="Arial" charset="0"/>
                <a:ea typeface="ＭＳ Ｐゴシック" charset="0"/>
                <a:cs typeface="Times New Roman" charset="0"/>
              </a:rPr>
              <a:t>Nested substates and guard conditions</a:t>
            </a:r>
          </a:p>
        </p:txBody>
      </p:sp>
      <p:sp>
        <p:nvSpPr>
          <p:cNvPr id="141317" name="Rectangle 3"/>
          <p:cNvSpPr>
            <a:spLocks noGrp="1" noChangeArrowheads="1"/>
          </p:cNvSpPr>
          <p:nvPr>
            <p:ph type="body" sz="half" idx="1"/>
          </p:nvPr>
        </p:nvSpPr>
        <p:spPr>
          <a:xfrm>
            <a:off x="1066800" y="1371600"/>
            <a:ext cx="7391400" cy="4800600"/>
          </a:xfrm>
          <a:noFill/>
          <a:ln>
            <a:noFill/>
          </a:ln>
        </p:spPr>
        <p:txBody>
          <a:bodyPr vert="horz" wrap="square" lIns="91440" tIns="45720" rIns="91440" bIns="45720" numCol="1" anchor="t" anchorCtr="0" compatLnSpc="1">
            <a:prstTxWarp prst="textNoShape">
              <a:avLst/>
            </a:prstTxWarp>
          </a:bodyPr>
          <a:lstStyle/>
          <a:p>
            <a:r>
              <a:rPr lang="en-GB" kern="1200" dirty="0">
                <a:highlight>
                  <a:srgbClr val="00FFFF"/>
                </a:highlight>
              </a:rPr>
              <a:t>A state diagram can be nested inside a state. </a:t>
            </a:r>
          </a:p>
          <a:p>
            <a:pPr lvl="1"/>
            <a:r>
              <a:rPr lang="en-GB" kern="1200" dirty="0">
                <a:cs typeface="ＭＳ Ｐゴシック" charset="0"/>
              </a:rPr>
              <a:t>The states of the inner diagram are called </a:t>
            </a:r>
            <a:r>
              <a:rPr lang="en-GB" kern="1200" dirty="0" err="1">
                <a:cs typeface="ＭＳ Ｐゴシック" charset="0"/>
              </a:rPr>
              <a:t>substates</a:t>
            </a:r>
            <a:r>
              <a:rPr lang="en-GB" kern="1200" dirty="0">
                <a:cs typeface="ＭＳ Ｐゴシック" charset="0"/>
              </a:rPr>
              <a:t>.</a:t>
            </a:r>
            <a:r>
              <a:rPr lang="en-US" kern="1200" dirty="0">
                <a:cs typeface="ＭＳ Ｐゴシック" charset="0"/>
              </a:rPr>
              <a:t> </a:t>
            </a:r>
          </a:p>
        </p:txBody>
      </p:sp>
      <p:pic>
        <p:nvPicPr>
          <p:cNvPr id="141318" name="Picture 100"/>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9600" y="2378075"/>
            <a:ext cx="8229600" cy="3108325"/>
          </a:xfrm>
          <a:noFill/>
        </p:spPr>
      </p:pic>
      <p:sp>
        <p:nvSpPr>
          <p:cNvPr id="141319" name="Rectangle 3"/>
          <p:cNvSpPr txBox="1">
            <a:spLocks noChangeArrowheads="1"/>
          </p:cNvSpPr>
          <p:nvPr/>
        </p:nvSpPr>
        <p:spPr bwMode="auto">
          <a:xfrm>
            <a:off x="1209675" y="5572125"/>
            <a:ext cx="7934325" cy="628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342900" indent="-342900">
              <a:spcBef>
                <a:spcPct val="20000"/>
              </a:spcBef>
              <a:defRPr b="1">
                <a:latin typeface="+mn-lt"/>
                <a:ea typeface="ＭＳ Ｐゴシック" pitchFamily="-1" charset="-128"/>
                <a:cs typeface="ＭＳ Ｐゴシック" pitchFamily="-1" charset="-128"/>
              </a:defRPr>
            </a:lvl1pPr>
            <a:lvl2pPr marL="385763" lvl="1" indent="-195263">
              <a:spcBef>
                <a:spcPct val="20000"/>
              </a:spcBef>
              <a:buChar char="•"/>
              <a:defRPr>
                <a:latin typeface="+mn-lt"/>
                <a:ea typeface="ＭＳ Ｐゴシック" charset="-128"/>
              </a:defRPr>
            </a:lvl2pPr>
            <a:lvl3pPr marL="804863" indent="-228600">
              <a:spcBef>
                <a:spcPct val="20000"/>
              </a:spcBef>
              <a:buChar char="—"/>
              <a:defRPr>
                <a:latin typeface="+mn-lt"/>
                <a:ea typeface="ＭＳ Ｐゴシック" charset="-128"/>
              </a:defRPr>
            </a:lvl3pPr>
            <a:lvl4pPr marL="1223963" indent="-228600">
              <a:spcBef>
                <a:spcPct val="20000"/>
              </a:spcBef>
              <a:buChar char="-"/>
              <a:defRPr sz="2000">
                <a:latin typeface="+mn-lt"/>
                <a:ea typeface="ＭＳ Ｐゴシック" charset="-128"/>
              </a:defRPr>
            </a:lvl4pPr>
            <a:lvl5pPr marL="1643063" indent="-228600">
              <a:spcBef>
                <a:spcPct val="20000"/>
              </a:spcBef>
              <a:buChar char="»"/>
              <a:defRPr sz="2000">
                <a:latin typeface="+mn-lt"/>
                <a:ea typeface="ＭＳ Ｐゴシック" charset="-128"/>
              </a:defRPr>
            </a:lvl5pPr>
            <a:lvl6pPr marL="2100263" indent="-228600" eaLnBrk="0" fontAlgn="base" hangingPunct="0">
              <a:spcBef>
                <a:spcPct val="20000"/>
              </a:spcBef>
              <a:spcAft>
                <a:spcPct val="0"/>
              </a:spcAft>
              <a:buChar char="»"/>
              <a:defRPr sz="2000">
                <a:latin typeface="+mn-lt"/>
              </a:defRPr>
            </a:lvl6pPr>
            <a:lvl7pPr marL="2557463" indent="-228600" eaLnBrk="0" fontAlgn="base" hangingPunct="0">
              <a:spcBef>
                <a:spcPct val="20000"/>
              </a:spcBef>
              <a:spcAft>
                <a:spcPct val="0"/>
              </a:spcAft>
              <a:buChar char="»"/>
              <a:defRPr sz="2000">
                <a:latin typeface="+mn-lt"/>
              </a:defRPr>
            </a:lvl7pPr>
            <a:lvl8pPr marL="3014663" indent="-228600" eaLnBrk="0" fontAlgn="base" hangingPunct="0">
              <a:spcBef>
                <a:spcPct val="20000"/>
              </a:spcBef>
              <a:spcAft>
                <a:spcPct val="0"/>
              </a:spcAft>
              <a:buChar char="»"/>
              <a:defRPr sz="2000">
                <a:latin typeface="+mn-lt"/>
              </a:defRPr>
            </a:lvl8pPr>
            <a:lvl9pPr marL="3471863" indent="-228600" eaLnBrk="0" fontAlgn="base" hangingPunct="0">
              <a:spcBef>
                <a:spcPct val="20000"/>
              </a:spcBef>
              <a:spcAft>
                <a:spcPct val="0"/>
              </a:spcAft>
              <a:buChar char="»"/>
              <a:defRPr sz="2000">
                <a:latin typeface="+mn-lt"/>
              </a:defRPr>
            </a:lvl9pPr>
          </a:lstStyle>
          <a:p>
            <a:r>
              <a:rPr lang="en-GB" dirty="0"/>
              <a:t>State diagram for a car’s automatic transmission</a:t>
            </a:r>
          </a:p>
        </p:txBody>
      </p:sp>
      <p:sp>
        <p:nvSpPr>
          <p:cNvPr id="2" name="Slide Number Placeholder 1"/>
          <p:cNvSpPr>
            <a:spLocks noGrp="1"/>
          </p:cNvSpPr>
          <p:nvPr>
            <p:ph type="sldNum" sz="quarter" idx="12"/>
          </p:nvPr>
        </p:nvSpPr>
        <p:spPr/>
        <p:txBody>
          <a:bodyPr/>
          <a:lstStyle/>
          <a:p>
            <a:fld id="{AC3CA339-292C-C740-99AC-8402B0A7BAED}" type="slidenum">
              <a:rPr lang="en-US" smtClean="0"/>
              <a:pPr/>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64"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State diagram – an example with substates</a:t>
            </a:r>
          </a:p>
        </p:txBody>
      </p:sp>
      <p:pic>
        <p:nvPicPr>
          <p:cNvPr id="143365" name="Picture 7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83180" y="2204864"/>
            <a:ext cx="6727420" cy="3098974"/>
          </a:xfrm>
          <a:noFill/>
        </p:spPr>
      </p:pic>
      <p:sp>
        <p:nvSpPr>
          <p:cNvPr id="143366" name="Rectangle 3"/>
          <p:cNvSpPr txBox="1">
            <a:spLocks noChangeArrowheads="1"/>
          </p:cNvSpPr>
          <p:nvPr/>
        </p:nvSpPr>
        <p:spPr bwMode="auto">
          <a:xfrm>
            <a:off x="1500188" y="5429250"/>
            <a:ext cx="7077075" cy="628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spcBef>
                <a:spcPct val="20000"/>
              </a:spcBef>
              <a:defRPr b="1">
                <a:latin typeface="+mn-lt"/>
                <a:ea typeface="ＭＳ Ｐゴシック" pitchFamily="-1" charset="-128"/>
                <a:cs typeface="ＭＳ Ｐゴシック" pitchFamily="-1" charset="-128"/>
              </a:defRPr>
            </a:lvl1pPr>
            <a:lvl2pPr marL="385763" lvl="1" indent="-195263">
              <a:spcBef>
                <a:spcPct val="20000"/>
              </a:spcBef>
              <a:buChar char="•"/>
              <a:defRPr>
                <a:latin typeface="+mn-lt"/>
                <a:ea typeface="ＭＳ Ｐゴシック" charset="-128"/>
              </a:defRPr>
            </a:lvl2pPr>
            <a:lvl3pPr marL="804863" indent="-228600">
              <a:spcBef>
                <a:spcPct val="20000"/>
              </a:spcBef>
              <a:buChar char="—"/>
              <a:defRPr>
                <a:latin typeface="+mn-lt"/>
                <a:ea typeface="ＭＳ Ｐゴシック" charset="-128"/>
              </a:defRPr>
            </a:lvl3pPr>
            <a:lvl4pPr marL="1223963" indent="-228600">
              <a:spcBef>
                <a:spcPct val="20000"/>
              </a:spcBef>
              <a:buChar char="-"/>
              <a:defRPr sz="2000">
                <a:latin typeface="+mn-lt"/>
                <a:ea typeface="ＭＳ Ｐゴシック" charset="-128"/>
              </a:defRPr>
            </a:lvl4pPr>
            <a:lvl5pPr marL="1643063" indent="-228600">
              <a:spcBef>
                <a:spcPct val="20000"/>
              </a:spcBef>
              <a:buChar char="»"/>
              <a:defRPr sz="2000">
                <a:latin typeface="+mn-lt"/>
                <a:ea typeface="ＭＳ Ｐゴシック" charset="-128"/>
              </a:defRPr>
            </a:lvl5pPr>
            <a:lvl6pPr marL="2100263" indent="-228600" eaLnBrk="0" fontAlgn="base" hangingPunct="0">
              <a:spcBef>
                <a:spcPct val="20000"/>
              </a:spcBef>
              <a:spcAft>
                <a:spcPct val="0"/>
              </a:spcAft>
              <a:buChar char="»"/>
              <a:defRPr sz="2000">
                <a:latin typeface="+mn-lt"/>
              </a:defRPr>
            </a:lvl6pPr>
            <a:lvl7pPr marL="2557463" indent="-228600" eaLnBrk="0" fontAlgn="base" hangingPunct="0">
              <a:spcBef>
                <a:spcPct val="20000"/>
              </a:spcBef>
              <a:spcAft>
                <a:spcPct val="0"/>
              </a:spcAft>
              <a:buChar char="»"/>
              <a:defRPr sz="2000">
                <a:latin typeface="+mn-lt"/>
              </a:defRPr>
            </a:lvl7pPr>
            <a:lvl8pPr marL="3014663" indent="-228600" eaLnBrk="0" fontAlgn="base" hangingPunct="0">
              <a:spcBef>
                <a:spcPct val="20000"/>
              </a:spcBef>
              <a:spcAft>
                <a:spcPct val="0"/>
              </a:spcAft>
              <a:buChar char="»"/>
              <a:defRPr sz="2000">
                <a:latin typeface="+mn-lt"/>
              </a:defRPr>
            </a:lvl8pPr>
            <a:lvl9pPr marL="3471863" indent="-228600" eaLnBrk="0" fontAlgn="base" hangingPunct="0">
              <a:spcBef>
                <a:spcPct val="20000"/>
              </a:spcBef>
              <a:spcAft>
                <a:spcPct val="0"/>
              </a:spcAft>
              <a:buChar char="»"/>
              <a:defRPr sz="2000">
                <a:latin typeface="+mn-lt"/>
              </a:defRPr>
            </a:lvl9pPr>
          </a:lstStyle>
          <a:p>
            <a:r>
              <a:rPr lang="en-GB" dirty="0"/>
              <a:t>State diagram of the </a:t>
            </a:r>
            <a:r>
              <a:rPr lang="en-GB" i="1" dirty="0" err="1"/>
              <a:t>CourseSection</a:t>
            </a:r>
            <a:r>
              <a:rPr lang="en-GB" dirty="0"/>
              <a:t> class</a:t>
            </a:r>
          </a:p>
        </p:txBody>
      </p:sp>
      <p:sp>
        <p:nvSpPr>
          <p:cNvPr id="2" name="Slide Number Placeholder 1"/>
          <p:cNvSpPr>
            <a:spLocks noGrp="1"/>
          </p:cNvSpPr>
          <p:nvPr>
            <p:ph type="sldNum" sz="quarter" idx="12"/>
          </p:nvPr>
        </p:nvSpPr>
        <p:spPr/>
        <p:txBody>
          <a:bodyPr/>
          <a:lstStyle/>
          <a:p>
            <a:fld id="{14F6F305-04E4-5E4D-BE4E-D65C3C550673}" type="slidenum">
              <a:rPr lang="en-US" smtClean="0"/>
              <a:pPr/>
              <a:t>62</a:t>
            </a:fld>
            <a:endParaRPr lang="en-US"/>
          </a:p>
        </p:txBody>
      </p:sp>
      <p:pic>
        <p:nvPicPr>
          <p:cNvPr id="6" name="Picture 62" descr="x">
            <a:extLst>
              <a:ext uri="{FF2B5EF4-FFF2-40B4-BE49-F238E27FC236}">
                <a16:creationId xmlns:a16="http://schemas.microsoft.com/office/drawing/2014/main" id="{A6C1CC08-5374-7441-89D1-85F92E6B13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7301" y="998596"/>
            <a:ext cx="4875435" cy="702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89">
            <a:extLst>
              <a:ext uri="{FF2B5EF4-FFF2-40B4-BE49-F238E27FC236}">
                <a16:creationId xmlns:a16="http://schemas.microsoft.com/office/drawing/2014/main" id="{5B2054AC-AA73-244B-B56A-776119CB5F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1264" y="998596"/>
            <a:ext cx="3516126" cy="1621004"/>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5412" name="Rectangle 2"/>
          <p:cNvSpPr>
            <a:spLocks noGrp="1" noChangeArrowheads="1"/>
          </p:cNvSpPr>
          <p:nvPr>
            <p:ph type="title"/>
          </p:nvPr>
        </p:nvSpPr>
        <p:spPr/>
        <p:txBody>
          <a:bodyPr/>
          <a:lstStyle/>
          <a:p>
            <a:r>
              <a:rPr lang="en-US" dirty="0">
                <a:latin typeface="Arial" charset="0"/>
                <a:ea typeface="ＭＳ Ｐゴシック" charset="0"/>
                <a:cs typeface="Times" charset="0"/>
              </a:rPr>
              <a:t>Behavior model: </a:t>
            </a:r>
            <a:r>
              <a:rPr lang="en-US" dirty="0">
                <a:highlight>
                  <a:srgbClr val="00FF00"/>
                </a:highlight>
                <a:latin typeface="Arial" charset="0"/>
                <a:ea typeface="ＭＳ Ｐゴシック" charset="0"/>
                <a:cs typeface="Times" charset="0"/>
              </a:rPr>
              <a:t>Activity Diagrams</a:t>
            </a:r>
            <a:r>
              <a:rPr lang="en-US" dirty="0">
                <a:highlight>
                  <a:srgbClr val="00FF00"/>
                </a:highlight>
                <a:latin typeface="Arial" charset="0"/>
                <a:ea typeface="ＭＳ Ｐゴシック" charset="0"/>
                <a:cs typeface="ＭＳ Ｐゴシック" charset="0"/>
              </a:rPr>
              <a:t> </a:t>
            </a:r>
          </a:p>
        </p:txBody>
      </p:sp>
      <p:sp>
        <p:nvSpPr>
          <p:cNvPr id="145413"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bodyPr>
          <a:lstStyle/>
          <a:p>
            <a:r>
              <a:rPr lang="en-GB" kern="1200" dirty="0">
                <a:highlight>
                  <a:srgbClr val="FFFF00"/>
                </a:highlight>
                <a:cs typeface="ＭＳ Ｐゴシック" charset="0"/>
              </a:rPr>
              <a:t>An activity diagram is like a state diagram</a:t>
            </a:r>
          </a:p>
          <a:p>
            <a:pPr lvl="1"/>
            <a:r>
              <a:rPr lang="en-GB" kern="1200" dirty="0">
                <a:cs typeface="ＭＳ Ｐゴシック" charset="0"/>
              </a:rPr>
              <a:t>Except most transitions are caused by internal events, such as the completion of a computation</a:t>
            </a:r>
          </a:p>
          <a:p>
            <a:r>
              <a:rPr lang="en-GB" kern="1200" dirty="0">
                <a:cs typeface="ＭＳ Ｐゴシック" charset="0"/>
              </a:rPr>
              <a:t>An activity diagram</a:t>
            </a:r>
          </a:p>
          <a:p>
            <a:pPr lvl="1"/>
            <a:r>
              <a:rPr lang="en-GB" kern="1200" dirty="0">
                <a:cs typeface="ＭＳ Ｐゴシック" charset="0"/>
              </a:rPr>
              <a:t>Can be used to understand the flow of work that an object or component performs </a:t>
            </a:r>
          </a:p>
          <a:p>
            <a:pPr lvl="1"/>
            <a:r>
              <a:rPr lang="en-GB" kern="1200" dirty="0">
                <a:cs typeface="ＭＳ Ｐゴシック" charset="0"/>
              </a:rPr>
              <a:t>Can also be used to visualize the interrelation and interaction between different use cases</a:t>
            </a:r>
            <a:r>
              <a:rPr lang="en-US" kern="1200" dirty="0">
                <a:cs typeface="ＭＳ Ｐゴシック" charset="0"/>
              </a:rPr>
              <a:t> </a:t>
            </a:r>
          </a:p>
          <a:p>
            <a:pPr lvl="1"/>
            <a:r>
              <a:rPr lang="en-GB" kern="1200" dirty="0">
                <a:cs typeface="ＭＳ Ｐゴシック" charset="0"/>
              </a:rPr>
              <a:t>Is most often associated with several classes</a:t>
            </a:r>
          </a:p>
          <a:p>
            <a:r>
              <a:rPr lang="en-GB" kern="1200" dirty="0">
                <a:cs typeface="ＭＳ Ｐゴシック" charset="0"/>
              </a:rPr>
              <a:t>One of the strengths of activity diagrams is the representation of concurrent activities</a:t>
            </a:r>
            <a:endParaRPr lang="en-US" kern="1200" dirty="0">
              <a:cs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60"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Representing </a:t>
            </a:r>
            <a:r>
              <a:rPr lang="en-GB">
                <a:latin typeface="Arial" charset="0"/>
                <a:ea typeface="ＭＳ Ｐゴシック" charset="0"/>
                <a:cs typeface="Times" charset="0"/>
              </a:rPr>
              <a:t>concurrency</a:t>
            </a:r>
            <a:endParaRPr lang="en-US">
              <a:latin typeface="Arial" charset="0"/>
              <a:ea typeface="ＭＳ Ｐゴシック" charset="0"/>
              <a:cs typeface="ＭＳ Ｐゴシック" charset="0"/>
            </a:endParaRPr>
          </a:p>
        </p:txBody>
      </p:sp>
      <p:sp>
        <p:nvSpPr>
          <p:cNvPr id="147461"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normAutofit lnSpcReduction="10000"/>
          </a:bodyPr>
          <a:lstStyle/>
          <a:p>
            <a:r>
              <a:rPr lang="en-GB" kern="1200" dirty="0">
                <a:highlight>
                  <a:srgbClr val="FFFF00"/>
                </a:highlight>
                <a:cs typeface="ＭＳ Ｐゴシック" charset="0"/>
              </a:rPr>
              <a:t>Concurrency is shown using forks, joins and rendezvous</a:t>
            </a:r>
          </a:p>
          <a:p>
            <a:pPr lvl="1"/>
            <a:r>
              <a:rPr lang="en-GB" dirty="0">
                <a:highlight>
                  <a:srgbClr val="00FF00"/>
                </a:highlight>
              </a:rPr>
              <a:t>A fork </a:t>
            </a:r>
            <a:r>
              <a:rPr lang="en-GB" dirty="0"/>
              <a:t>has one </a:t>
            </a:r>
            <a:r>
              <a:rPr lang="en-GB" dirty="0">
                <a:highlight>
                  <a:srgbClr val="00FF00"/>
                </a:highlight>
              </a:rPr>
              <a:t>incoming transition and multiple outgoing transitions</a:t>
            </a:r>
          </a:p>
          <a:p>
            <a:pPr lvl="2"/>
            <a:r>
              <a:rPr lang="en-GB" dirty="0"/>
              <a:t>The execution splits into multiple concurrent threads</a:t>
            </a:r>
          </a:p>
          <a:p>
            <a:pPr lvl="1"/>
            <a:r>
              <a:rPr lang="en-GB" dirty="0">
                <a:highlight>
                  <a:srgbClr val="00FF00"/>
                </a:highlight>
              </a:rPr>
              <a:t>A join </a:t>
            </a:r>
            <a:r>
              <a:rPr lang="en-GB" dirty="0"/>
              <a:t>has </a:t>
            </a:r>
            <a:r>
              <a:rPr lang="en-GB" dirty="0">
                <a:highlight>
                  <a:srgbClr val="00FF00"/>
                </a:highlight>
              </a:rPr>
              <a:t>multiple incoming </a:t>
            </a:r>
            <a:r>
              <a:rPr lang="en-GB" dirty="0"/>
              <a:t>transitions and </a:t>
            </a:r>
            <a:r>
              <a:rPr lang="en-GB" dirty="0">
                <a:highlight>
                  <a:srgbClr val="00FF00"/>
                </a:highlight>
              </a:rPr>
              <a:t>one outgoing transition </a:t>
            </a:r>
          </a:p>
          <a:p>
            <a:pPr lvl="2"/>
            <a:r>
              <a:rPr lang="en-GB" dirty="0"/>
              <a:t>The outgoing transition will be taken when all incoming transitions have been triggered </a:t>
            </a:r>
          </a:p>
          <a:p>
            <a:pPr lvl="2"/>
            <a:r>
              <a:rPr lang="en-GB" dirty="0"/>
              <a:t>The incoming transitions must be triggered in separate threads</a:t>
            </a:r>
          </a:p>
          <a:p>
            <a:pPr lvl="2"/>
            <a:r>
              <a:rPr lang="en-GB" dirty="0">
                <a:highlight>
                  <a:srgbClr val="FFFF00"/>
                </a:highlight>
              </a:rPr>
              <a:t>If one incoming transition occurs, a wait condition occurs at the join until the other transitions occur</a:t>
            </a:r>
          </a:p>
          <a:p>
            <a:pPr lvl="3"/>
            <a:endParaRPr lang="en-GB" dirty="0"/>
          </a:p>
          <a:p>
            <a:pPr lvl="2"/>
            <a:endParaRPr lang="en-GB" dirty="0"/>
          </a:p>
        </p:txBody>
      </p:sp>
      <p:sp>
        <p:nvSpPr>
          <p:cNvPr id="2" name="Slide Number Placeholder 1"/>
          <p:cNvSpPr>
            <a:spLocks noGrp="1"/>
          </p:cNvSpPr>
          <p:nvPr>
            <p:ph type="sldNum" sz="quarter" idx="12"/>
          </p:nvPr>
        </p:nvSpPr>
        <p:spPr/>
        <p:txBody>
          <a:bodyPr/>
          <a:lstStyle/>
          <a:p>
            <a:fld id="{14F6F305-04E4-5E4D-BE4E-D65C3C550673}" type="slidenum">
              <a:rPr lang="en-US" smtClean="0"/>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2"/>
          <p:cNvSpPr>
            <a:spLocks noGrp="1" noChangeArrowheads="1"/>
          </p:cNvSpPr>
          <p:nvPr>
            <p:ph type="title"/>
          </p:nvPr>
        </p:nvSpPr>
        <p:spPr/>
        <p:txBody>
          <a:bodyPr/>
          <a:lstStyle/>
          <a:p>
            <a:pPr algn="just"/>
            <a:r>
              <a:rPr lang="en-US">
                <a:latin typeface="Arial" charset="0"/>
                <a:ea typeface="ＭＳ Ｐゴシック" charset="0"/>
                <a:cs typeface="ＭＳ Ｐゴシック" charset="0"/>
              </a:rPr>
              <a:t>Representing </a:t>
            </a:r>
            <a:r>
              <a:rPr lang="en-GB">
                <a:latin typeface="Arial" charset="0"/>
                <a:ea typeface="ＭＳ Ｐゴシック" charset="0"/>
                <a:cs typeface="Times" charset="0"/>
              </a:rPr>
              <a:t>concurrency</a:t>
            </a:r>
            <a:endParaRPr lang="en-US">
              <a:latin typeface="Arial" charset="0"/>
              <a:ea typeface="ＭＳ Ｐゴシック" charset="0"/>
              <a:cs typeface="ＭＳ Ｐゴシック" charset="0"/>
            </a:endParaRPr>
          </a:p>
        </p:txBody>
      </p:sp>
      <p:sp>
        <p:nvSpPr>
          <p:cNvPr id="149509"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normAutofit/>
          </a:bodyPr>
          <a:lstStyle/>
          <a:p>
            <a:r>
              <a:rPr lang="en-GB" dirty="0">
                <a:highlight>
                  <a:srgbClr val="00FF00"/>
                </a:highlight>
              </a:rPr>
              <a:t>A rendezvous has multiple incoming and multiple outgoing transitions</a:t>
            </a:r>
          </a:p>
          <a:p>
            <a:pPr lvl="1"/>
            <a:r>
              <a:rPr lang="en-GB" dirty="0"/>
              <a:t>Once all the incoming transitions are triggered, the system takes all the outgoing transitions, each in a separate thread </a:t>
            </a:r>
            <a:endParaRPr lang="en-US" dirty="0"/>
          </a:p>
          <a:p>
            <a:pPr lvl="3"/>
            <a:endParaRPr lang="en-GB" dirty="0"/>
          </a:p>
          <a:p>
            <a:endParaRPr lang="en-US" kern="1200" dirty="0">
              <a:cs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1556" name="Rectangle 2"/>
          <p:cNvSpPr>
            <a:spLocks noGrp="1" noChangeArrowheads="1"/>
          </p:cNvSpPr>
          <p:nvPr>
            <p:ph type="title"/>
          </p:nvPr>
        </p:nvSpPr>
        <p:spPr>
          <a:xfrm>
            <a:off x="381000" y="152400"/>
            <a:ext cx="8229600" cy="914400"/>
          </a:xfrm>
        </p:spPr>
        <p:txBody>
          <a:bodyPr/>
          <a:lstStyle/>
          <a:p>
            <a:r>
              <a:rPr lang="en-US">
                <a:latin typeface="Arial" charset="0"/>
                <a:ea typeface="ＭＳ Ｐゴシック" charset="0"/>
                <a:cs typeface="ＭＳ Ｐゴシック" charset="0"/>
              </a:rPr>
              <a:t>Activity diagrams – an example</a:t>
            </a:r>
          </a:p>
        </p:txBody>
      </p:sp>
      <p:pic>
        <p:nvPicPr>
          <p:cNvPr id="151557" name="Picture 9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33600" y="1066800"/>
            <a:ext cx="4224338" cy="4891088"/>
          </a:xfrm>
          <a:noFill/>
        </p:spPr>
      </p:pic>
      <p:sp>
        <p:nvSpPr>
          <p:cNvPr id="151558" name="Rectangle 3"/>
          <p:cNvSpPr txBox="1">
            <a:spLocks noChangeArrowheads="1"/>
          </p:cNvSpPr>
          <p:nvPr/>
        </p:nvSpPr>
        <p:spPr bwMode="auto">
          <a:xfrm>
            <a:off x="1643063" y="5929313"/>
            <a:ext cx="7077075" cy="628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24161750" indent="-24161750">
              <a:defRPr sz="2400">
                <a:solidFill>
                  <a:schemeClr val="tx1"/>
                </a:solidFill>
                <a:latin typeface="Times" charset="0"/>
                <a:ea typeface="ＭＳ Ｐゴシック" charset="0"/>
                <a:cs typeface="ＭＳ Ｐゴシック" charset="0"/>
              </a:defRPr>
            </a:lvl1pPr>
            <a:lvl2pPr marL="385763" indent="-195263">
              <a:defRPr sz="2400">
                <a:solidFill>
                  <a:schemeClr val="tx1"/>
                </a:solidFill>
                <a:latin typeface="Times" charset="0"/>
                <a:ea typeface="ＭＳ Ｐゴシック" charset="0"/>
              </a:defRPr>
            </a:lvl2pPr>
            <a:lvl3pPr>
              <a:defRPr sz="2400">
                <a:solidFill>
                  <a:schemeClr val="tx1"/>
                </a:solidFill>
                <a:latin typeface="Times" charset="0"/>
                <a:ea typeface="ＭＳ Ｐゴシック" charset="0"/>
              </a:defRPr>
            </a:lvl3pPr>
            <a:lvl4pPr>
              <a:defRPr sz="2400">
                <a:solidFill>
                  <a:schemeClr val="tx1"/>
                </a:solidFill>
                <a:latin typeface="Times" charset="0"/>
                <a:ea typeface="ＭＳ Ｐゴシック" charset="0"/>
              </a:defRPr>
            </a:lvl4pPr>
            <a:lvl5pPr>
              <a:defRPr sz="2400">
                <a:solidFill>
                  <a:schemeClr val="tx1"/>
                </a:solidFill>
                <a:latin typeface="Times" charset="0"/>
                <a:ea typeface="ＭＳ Ｐゴシック" charset="0"/>
              </a:defRPr>
            </a:lvl5pPr>
            <a:lvl6pPr marL="457200" eaLnBrk="0" fontAlgn="base" hangingPunct="0">
              <a:spcBef>
                <a:spcPct val="0"/>
              </a:spcBef>
              <a:spcAft>
                <a:spcPct val="0"/>
              </a:spcAft>
              <a:defRPr sz="2400">
                <a:solidFill>
                  <a:schemeClr val="tx1"/>
                </a:solidFill>
                <a:latin typeface="Times" charset="0"/>
                <a:ea typeface="ＭＳ Ｐゴシック" charset="0"/>
              </a:defRPr>
            </a:lvl6pPr>
            <a:lvl7pPr marL="914400" eaLnBrk="0" fontAlgn="base" hangingPunct="0">
              <a:spcBef>
                <a:spcPct val="0"/>
              </a:spcBef>
              <a:spcAft>
                <a:spcPct val="0"/>
              </a:spcAft>
              <a:defRPr sz="2400">
                <a:solidFill>
                  <a:schemeClr val="tx1"/>
                </a:solidFill>
                <a:latin typeface="Times" charset="0"/>
                <a:ea typeface="ＭＳ Ｐゴシック" charset="0"/>
              </a:defRPr>
            </a:lvl7pPr>
            <a:lvl8pPr marL="1371600" eaLnBrk="0" fontAlgn="base" hangingPunct="0">
              <a:spcBef>
                <a:spcPct val="0"/>
              </a:spcBef>
              <a:spcAft>
                <a:spcPct val="0"/>
              </a:spcAft>
              <a:defRPr sz="2400">
                <a:solidFill>
                  <a:schemeClr val="tx1"/>
                </a:solidFill>
                <a:latin typeface="Times" charset="0"/>
                <a:ea typeface="ＭＳ Ｐゴシック" charset="0"/>
              </a:defRPr>
            </a:lvl8pPr>
            <a:lvl9pPr marL="1828800" eaLnBrk="0" fontAlgn="base" hangingPunct="0">
              <a:spcBef>
                <a:spcPct val="0"/>
              </a:spcBef>
              <a:spcAft>
                <a:spcPct val="0"/>
              </a:spcAft>
              <a:defRPr sz="2400">
                <a:solidFill>
                  <a:schemeClr val="tx1"/>
                </a:solidFill>
                <a:latin typeface="Times" charset="0"/>
                <a:ea typeface="ＭＳ Ｐゴシック" charset="0"/>
              </a:defRPr>
            </a:lvl9pPr>
          </a:lstStyle>
          <a:p>
            <a:pPr lvl="1">
              <a:spcBef>
                <a:spcPct val="20000"/>
              </a:spcBef>
            </a:pPr>
            <a:r>
              <a:rPr lang="en-GB">
                <a:cs typeface="Times" charset="0"/>
              </a:rPr>
              <a:t>Activity diagram of a registration process </a:t>
            </a:r>
            <a:endParaRPr lang="en-GB" sz="2000">
              <a:cs typeface="Times"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04"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Swimlanes</a:t>
            </a:r>
          </a:p>
        </p:txBody>
      </p:sp>
      <p:sp>
        <p:nvSpPr>
          <p:cNvPr id="153605"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normAutofit/>
          </a:bodyPr>
          <a:lstStyle/>
          <a:p>
            <a:r>
              <a:rPr lang="en-GB" kern="1200" dirty="0">
                <a:highlight>
                  <a:srgbClr val="FFFF00"/>
                </a:highlight>
                <a:cs typeface="ＭＳ Ｐゴシック" charset="0"/>
              </a:rPr>
              <a:t>Activity diagrams are most often associated with several classes </a:t>
            </a:r>
          </a:p>
          <a:p>
            <a:pPr lvl="1"/>
            <a:r>
              <a:rPr lang="en-GB" dirty="0"/>
              <a:t>The partition of activities among the existing classes can be explicitly shown using </a:t>
            </a:r>
            <a:r>
              <a:rPr lang="en-GB" dirty="0" err="1"/>
              <a:t>swimlanes</a:t>
            </a:r>
            <a:endParaRPr lang="en-US" dirty="0"/>
          </a:p>
        </p:txBody>
      </p:sp>
      <p:sp>
        <p:nvSpPr>
          <p:cNvPr id="2" name="Slide Number Placeholder 1"/>
          <p:cNvSpPr>
            <a:spLocks noGrp="1"/>
          </p:cNvSpPr>
          <p:nvPr>
            <p:ph type="sldNum" sz="quarter" idx="12"/>
          </p:nvPr>
        </p:nvSpPr>
        <p:spPr/>
        <p:txBody>
          <a:bodyPr/>
          <a:lstStyle/>
          <a:p>
            <a:fld id="{14F6F305-04E4-5E4D-BE4E-D65C3C550673}" type="slidenum">
              <a:rPr lang="en-US" smtClean="0"/>
              <a:pPr/>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5652"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Activity diagrams – an example with swimlanes</a:t>
            </a:r>
          </a:p>
        </p:txBody>
      </p:sp>
      <p:pic>
        <p:nvPicPr>
          <p:cNvPr id="155653" name="Picture 9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63813" y="838200"/>
            <a:ext cx="5208587" cy="5257800"/>
          </a:xfrm>
          <a:noFill/>
        </p:spPr>
      </p:pic>
      <p:sp>
        <p:nvSpPr>
          <p:cNvPr id="2" name="Slide Number Placeholder 1"/>
          <p:cNvSpPr>
            <a:spLocks noGrp="1"/>
          </p:cNvSpPr>
          <p:nvPr>
            <p:ph type="sldNum" sz="quarter" idx="12"/>
          </p:nvPr>
        </p:nvSpPr>
        <p:spPr/>
        <p:txBody>
          <a:bodyPr/>
          <a:lstStyle/>
          <a:p>
            <a:fld id="{14F6F305-04E4-5E4D-BE4E-D65C3C550673}" type="slidenum">
              <a:rPr lang="en-US" smtClean="0"/>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7700" name="Rectangle 2"/>
          <p:cNvSpPr>
            <a:spLocks noGrp="1" noChangeArrowheads="1"/>
          </p:cNvSpPr>
          <p:nvPr>
            <p:ph type="title"/>
          </p:nvPr>
        </p:nvSpPr>
        <p:spPr/>
        <p:txBody>
          <a:bodyPr/>
          <a:lstStyle/>
          <a:p>
            <a:r>
              <a:rPr lang="en-GB" dirty="0">
                <a:latin typeface="Arial" charset="0"/>
                <a:ea typeface="ＭＳ Ｐゴシック" charset="0"/>
                <a:cs typeface="Times" charset="0"/>
              </a:rPr>
              <a:t>Implementing classes based on Interaction Diagrams and </a:t>
            </a:r>
            <a:r>
              <a:rPr lang="en-GB" dirty="0" err="1">
                <a:latin typeface="Arial" charset="0"/>
                <a:ea typeface="ＭＳ Ｐゴシック" charset="0"/>
                <a:cs typeface="Times" charset="0"/>
              </a:rPr>
              <a:t>Behavior</a:t>
            </a:r>
            <a:r>
              <a:rPr lang="en-GB" dirty="0">
                <a:latin typeface="Arial" charset="0"/>
                <a:ea typeface="ＭＳ Ｐゴシック" charset="0"/>
                <a:cs typeface="Times" charset="0"/>
              </a:rPr>
              <a:t> Models</a:t>
            </a:r>
          </a:p>
        </p:txBody>
      </p:sp>
      <p:sp>
        <p:nvSpPr>
          <p:cNvPr id="157701" name="Rectangle 3"/>
          <p:cNvSpPr>
            <a:spLocks noGrp="1" noChangeArrowheads="1"/>
          </p:cNvSpPr>
          <p:nvPr>
            <p:ph type="body" idx="1"/>
          </p:nvPr>
        </p:nvSpPr>
        <p:spPr>
          <a:noFill/>
          <a:ln>
            <a:noFill/>
          </a:ln>
        </p:spPr>
        <p:txBody>
          <a:bodyPr vert="horz" wrap="square" lIns="91440" tIns="45720" rIns="91440" bIns="45720" numCol="1" anchor="t" anchorCtr="0" compatLnSpc="1">
            <a:prstTxWarp prst="textNoShape">
              <a:avLst/>
            </a:prstTxWarp>
            <a:normAutofit/>
          </a:bodyPr>
          <a:lstStyle/>
          <a:p>
            <a:r>
              <a:rPr lang="en-GB" dirty="0">
                <a:highlight>
                  <a:srgbClr val="FFFF00"/>
                </a:highlight>
              </a:rPr>
              <a:t>You should use these diagrams for the parts of your system that you find most complex</a:t>
            </a:r>
          </a:p>
          <a:p>
            <a:pPr lvl="1"/>
            <a:r>
              <a:rPr lang="en-GB" dirty="0"/>
              <a:t>I.e., not for every class</a:t>
            </a:r>
          </a:p>
          <a:p>
            <a:r>
              <a:rPr lang="en-GB" dirty="0">
                <a:highlight>
                  <a:srgbClr val="FFFF00"/>
                </a:highlight>
              </a:rPr>
              <a:t>Interaction, activity and state diagrams help you create a correct implementation</a:t>
            </a:r>
          </a:p>
          <a:p>
            <a:r>
              <a:rPr lang="en-GB" dirty="0"/>
              <a:t>This is particularly true when behaviour is distributed across several use cases</a:t>
            </a:r>
          </a:p>
          <a:p>
            <a:pPr lvl="1"/>
            <a:r>
              <a:rPr lang="en-GB" dirty="0"/>
              <a:t>E.g.. a state diagram is useful when different conditions cause instances to respond differently to the same event</a:t>
            </a:r>
          </a:p>
          <a:p>
            <a:pPr lvl="1"/>
            <a:endParaRPr lang="en-US" dirty="0"/>
          </a:p>
        </p:txBody>
      </p:sp>
      <p:sp>
        <p:nvSpPr>
          <p:cNvPr id="2" name="Slide Number Placeholder 1"/>
          <p:cNvSpPr>
            <a:spLocks noGrp="1"/>
          </p:cNvSpPr>
          <p:nvPr>
            <p:ph type="sldNum" sz="quarter" idx="12"/>
          </p:nvPr>
        </p:nvSpPr>
        <p:spPr/>
        <p:txBody>
          <a:bodyPr/>
          <a:lstStyle/>
          <a:p>
            <a:fld id="{14F6F305-04E4-5E4D-BE4E-D65C3C550673}" type="slidenum">
              <a:rPr lang="en-US" smtClean="0"/>
              <a:pPr/>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9748" name="Rectangle 2"/>
          <p:cNvSpPr>
            <a:spLocks noGrp="1" noChangeArrowheads="1"/>
          </p:cNvSpPr>
          <p:nvPr>
            <p:ph type="title"/>
          </p:nvPr>
        </p:nvSpPr>
        <p:spPr>
          <a:xfrm>
            <a:off x="381000" y="76200"/>
            <a:ext cx="8229600" cy="914400"/>
          </a:xfrm>
        </p:spPr>
        <p:txBody>
          <a:bodyPr/>
          <a:lstStyle/>
          <a:p>
            <a:r>
              <a:rPr lang="en-US">
                <a:latin typeface="Arial" charset="0"/>
                <a:ea typeface="ＭＳ Ｐゴシック" charset="0"/>
                <a:cs typeface="ＭＳ Ｐゴシック" charset="0"/>
              </a:rPr>
              <a:t>Example</a:t>
            </a:r>
          </a:p>
        </p:txBody>
      </p:sp>
      <p:pic>
        <p:nvPicPr>
          <p:cNvPr id="159749"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929063"/>
            <a:ext cx="5410200" cy="2490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9750" name="Picture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1000125"/>
            <a:ext cx="6553200" cy="2906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59751" name="Picture 62" descr="x"/>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0"/>
            <a:ext cx="5951538" cy="8572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AC3CA339-292C-C740-99AC-8402B0A7BAED}" type="slidenum">
              <a:rPr lang="en-US" smtClean="0"/>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p:nvPr>
        </p:nvSpPr>
        <p:spPr/>
        <p:txBody>
          <a:bodyPr/>
          <a:lstStyle/>
          <a:p>
            <a:r>
              <a:rPr lang="en-US">
                <a:latin typeface="Arial" charset="0"/>
                <a:ea typeface="ＭＳ Ｐゴシック" charset="0"/>
                <a:cs typeface="ＭＳ Ｐゴシック" charset="0"/>
              </a:rPr>
              <a:t>Example</a:t>
            </a:r>
            <a:endParaRPr lang="tr-TR">
              <a:latin typeface="Arial" charset="0"/>
              <a:ea typeface="ＭＳ Ｐゴシック" charset="0"/>
              <a:cs typeface="ＭＳ Ｐゴシック" charset="0"/>
            </a:endParaRPr>
          </a:p>
        </p:txBody>
      </p:sp>
      <p:sp>
        <p:nvSpPr>
          <p:cNvPr id="161795" name="Text Placeholder 2"/>
          <p:cNvSpPr>
            <a:spLocks noGrp="1"/>
          </p:cNvSpPr>
          <p:nvPr>
            <p:ph type="body" sz="half" idx="1"/>
          </p:nvPr>
        </p:nvSpPr>
        <p:spPr>
          <a:xfrm>
            <a:off x="778668" y="3021807"/>
            <a:ext cx="7969796" cy="3100387"/>
          </a:xfrm>
        </p:spPr>
        <p:txBody>
          <a:bodyPr/>
          <a:lstStyle/>
          <a:p>
            <a:pPr marL="0" indent="0"/>
            <a:r>
              <a:rPr lang="en-US" dirty="0">
                <a:latin typeface="Comic Sans MS" charset="0"/>
                <a:ea typeface="ＭＳ Ｐゴシック" charset="0"/>
                <a:cs typeface="ＭＳ Ｐゴシック" charset="0"/>
              </a:rPr>
              <a:t>public class </a:t>
            </a:r>
            <a:r>
              <a:rPr lang="en-US" dirty="0" err="1">
                <a:latin typeface="Comic Sans MS" charset="0"/>
                <a:ea typeface="ＭＳ Ｐゴシック" charset="0"/>
                <a:cs typeface="ＭＳ Ｐゴシック" charset="0"/>
              </a:rPr>
              <a:t>CourseSection</a:t>
            </a:r>
            <a:r>
              <a:rPr lang="en-US" dirty="0">
                <a:latin typeface="Comic Sans MS" charset="0"/>
                <a:ea typeface="ＭＳ Ｐゴシック" charset="0"/>
                <a:cs typeface="ＭＳ Ｐゴシック" charset="0"/>
              </a:rPr>
              <a:t>{</a:t>
            </a:r>
          </a:p>
          <a:p>
            <a:pPr marL="0" indent="0"/>
            <a:r>
              <a:rPr lang="en-US" dirty="0">
                <a:latin typeface="Comic Sans MS" charset="0"/>
                <a:ea typeface="ＭＳ Ｐゴシック" charset="0"/>
                <a:cs typeface="ＭＳ Ｐゴシック" charset="0"/>
              </a:rPr>
              <a:t>    private Course course;</a:t>
            </a:r>
          </a:p>
          <a:p>
            <a:pPr marL="0" indent="0"/>
            <a:r>
              <a:rPr lang="en-US" dirty="0">
                <a:latin typeface="Comic Sans MS" charset="0"/>
                <a:ea typeface="ＭＳ Ｐゴシック" charset="0"/>
                <a:cs typeface="ＭＳ Ｐゴシック" charset="0"/>
              </a:rPr>
              <a:t>    private Collection &lt;Registration&gt; </a:t>
            </a:r>
            <a:r>
              <a:rPr lang="en-US" dirty="0" err="1">
                <a:latin typeface="Comic Sans MS" charset="0"/>
                <a:ea typeface="ＭＳ Ｐゴシック" charset="0"/>
                <a:cs typeface="ＭＳ Ｐゴシック" charset="0"/>
              </a:rPr>
              <a:t>registrationList</a:t>
            </a:r>
            <a:r>
              <a:rPr lang="en-US" dirty="0">
                <a:latin typeface="Comic Sans MS" charset="0"/>
                <a:ea typeface="ＭＳ Ｐゴシック" charset="0"/>
                <a:cs typeface="ＭＳ Ｐゴシック" charset="0"/>
              </a:rPr>
              <a:t>;</a:t>
            </a:r>
          </a:p>
          <a:p>
            <a:pPr marL="0" indent="0"/>
            <a:endParaRPr lang="en-US" dirty="0">
              <a:latin typeface="Comic Sans MS" charset="0"/>
              <a:ea typeface="ＭＳ Ｐゴシック" charset="0"/>
              <a:cs typeface="ＭＳ Ｐゴシック" charset="0"/>
            </a:endParaRPr>
          </a:p>
          <a:p>
            <a:pPr marL="0" indent="0"/>
            <a:r>
              <a:rPr lang="en-US" dirty="0">
                <a:latin typeface="Comic Sans MS" charset="0"/>
                <a:ea typeface="ＭＳ Ｐゴシック" charset="0"/>
                <a:cs typeface="ＭＳ Ｐゴシック" charset="0"/>
              </a:rPr>
              <a:t>    public </a:t>
            </a:r>
            <a:r>
              <a:rPr lang="en-US" dirty="0" err="1">
                <a:latin typeface="Comic Sans MS" charset="0"/>
                <a:ea typeface="ＭＳ Ｐゴシック" charset="0"/>
                <a:cs typeface="ＭＳ Ｐゴシック" charset="0"/>
              </a:rPr>
              <a:t>CourseSection</a:t>
            </a:r>
            <a:r>
              <a:rPr lang="en-US" dirty="0">
                <a:latin typeface="Comic Sans MS" charset="0"/>
                <a:ea typeface="ＭＳ Ｐゴシック" charset="0"/>
                <a:cs typeface="ＭＳ Ｐゴシック" charset="0"/>
              </a:rPr>
              <a:t>(Course c){…}</a:t>
            </a:r>
          </a:p>
          <a:p>
            <a:pPr marL="0" indent="0"/>
            <a:r>
              <a:rPr lang="en-US" dirty="0">
                <a:latin typeface="Comic Sans MS" charset="0"/>
                <a:ea typeface="ＭＳ Ｐゴシック" charset="0"/>
                <a:cs typeface="ＭＳ Ｐゴシック" charset="0"/>
              </a:rPr>
              <a:t>    …</a:t>
            </a:r>
          </a:p>
          <a:p>
            <a:pPr marL="0" indent="0"/>
            <a:r>
              <a:rPr lang="en-US" dirty="0">
                <a:latin typeface="Comic Sans MS" charset="0"/>
                <a:ea typeface="ＭＳ Ｐゴシック" charset="0"/>
                <a:cs typeface="ＭＳ Ｐゴシック" charset="0"/>
              </a:rPr>
              <a:t>}</a:t>
            </a:r>
            <a:endParaRPr lang="tr-TR" dirty="0">
              <a:latin typeface="Comic Sans MS" charset="0"/>
              <a:ea typeface="ＭＳ Ｐゴシック" charset="0"/>
              <a:cs typeface="ＭＳ Ｐゴシック" charset="0"/>
            </a:endParaRPr>
          </a:p>
        </p:txBody>
      </p:sp>
      <p:pic>
        <p:nvPicPr>
          <p:cNvPr id="161798" name="Picture 62" descr="x"/>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000125" y="1285875"/>
            <a:ext cx="6942138" cy="1000125"/>
          </a:xfrm>
          <a:noFill/>
        </p:spPr>
      </p:pic>
      <p:sp>
        <p:nvSpPr>
          <p:cNvPr id="2" name="Slide Number Placeholder 1"/>
          <p:cNvSpPr>
            <a:spLocks noGrp="1"/>
          </p:cNvSpPr>
          <p:nvPr>
            <p:ph type="sldNum" sz="quarter" idx="12"/>
          </p:nvPr>
        </p:nvSpPr>
        <p:spPr/>
        <p:txBody>
          <a:bodyPr/>
          <a:lstStyle/>
          <a:p>
            <a:fld id="{AC3CA339-292C-C740-99AC-8402B0A7BAED}" type="slidenum">
              <a:rPr lang="en-US" smtClean="0"/>
              <a:pPr/>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Title 1"/>
          <p:cNvSpPr>
            <a:spLocks noGrp="1"/>
          </p:cNvSpPr>
          <p:nvPr>
            <p:ph type="title"/>
          </p:nvPr>
        </p:nvSpPr>
        <p:spPr/>
        <p:txBody>
          <a:bodyPr/>
          <a:lstStyle/>
          <a:p>
            <a:r>
              <a:rPr lang="en-US">
                <a:latin typeface="Arial" charset="0"/>
                <a:ea typeface="ＭＳ Ｐゴシック" charset="0"/>
                <a:cs typeface="ＭＳ Ｐゴシック" charset="0"/>
              </a:rPr>
              <a:t>Example</a:t>
            </a:r>
            <a:endParaRPr lang="tr-TR">
              <a:latin typeface="Arial" charset="0"/>
              <a:ea typeface="ＭＳ Ｐゴシック" charset="0"/>
              <a:cs typeface="ＭＳ Ｐゴシック" charset="0"/>
            </a:endParaRPr>
          </a:p>
        </p:txBody>
      </p:sp>
      <p:sp>
        <p:nvSpPr>
          <p:cNvPr id="163843" name="Text Placeholder 2"/>
          <p:cNvSpPr>
            <a:spLocks noGrp="1"/>
          </p:cNvSpPr>
          <p:nvPr>
            <p:ph type="body" sz="half" idx="1"/>
          </p:nvPr>
        </p:nvSpPr>
        <p:spPr>
          <a:xfrm>
            <a:off x="737750" y="3068960"/>
            <a:ext cx="7539037" cy="3100387"/>
          </a:xfrm>
        </p:spPr>
        <p:txBody>
          <a:bodyPr/>
          <a:lstStyle/>
          <a:p>
            <a:pPr marL="0" indent="0"/>
            <a:r>
              <a:rPr lang="en-US" dirty="0">
                <a:latin typeface="Comic Sans MS" charset="0"/>
                <a:ea typeface="ＭＳ Ｐゴシック" charset="0"/>
                <a:cs typeface="ＭＳ Ｐゴシック" charset="0"/>
              </a:rPr>
              <a:t>public class </a:t>
            </a:r>
            <a:r>
              <a:rPr lang="en-US" dirty="0" err="1">
                <a:latin typeface="Comic Sans MS" charset="0"/>
                <a:ea typeface="ＭＳ Ｐゴシック" charset="0"/>
                <a:cs typeface="ＭＳ Ｐゴシック" charset="0"/>
              </a:rPr>
              <a:t>CourseSection</a:t>
            </a:r>
            <a:r>
              <a:rPr lang="en-US" dirty="0">
                <a:latin typeface="Comic Sans MS" charset="0"/>
                <a:ea typeface="ＭＳ Ｐゴシック" charset="0"/>
                <a:cs typeface="ＭＳ Ｐゴシック" charset="0"/>
              </a:rPr>
              <a:t>{</a:t>
            </a:r>
          </a:p>
          <a:p>
            <a:pPr marL="0" indent="0"/>
            <a:r>
              <a:rPr lang="en-US" dirty="0">
                <a:latin typeface="Comic Sans MS" charset="0"/>
                <a:ea typeface="ＭＳ Ｐゴシック" charset="0"/>
                <a:cs typeface="ＭＳ Ｐゴシック" charset="0"/>
              </a:rPr>
              <a:t>   private Course course;</a:t>
            </a:r>
          </a:p>
          <a:p>
            <a:pPr marL="0" indent="0"/>
            <a:r>
              <a:rPr lang="en-US" dirty="0">
                <a:latin typeface="Comic Sans MS" charset="0"/>
                <a:ea typeface="ＭＳ Ｐゴシック" charset="0"/>
                <a:cs typeface="ＭＳ Ｐゴシック" charset="0"/>
              </a:rPr>
              <a:t>   private Collection &lt;Registration&gt; </a:t>
            </a:r>
            <a:r>
              <a:rPr lang="en-US" dirty="0" err="1">
                <a:latin typeface="Comic Sans MS" charset="0"/>
                <a:ea typeface="ＭＳ Ｐゴシック" charset="0"/>
                <a:cs typeface="ＭＳ Ｐゴシック" charset="0"/>
              </a:rPr>
              <a:t>registrationList</a:t>
            </a:r>
            <a:r>
              <a:rPr lang="en-US" dirty="0">
                <a:latin typeface="Comic Sans MS" charset="0"/>
                <a:ea typeface="ＭＳ Ｐゴシック" charset="0"/>
                <a:cs typeface="ＭＳ Ｐゴシック" charset="0"/>
              </a:rPr>
              <a:t>;</a:t>
            </a:r>
          </a:p>
          <a:p>
            <a:pPr marL="0" indent="0"/>
            <a:r>
              <a:rPr lang="en-US" dirty="0">
                <a:latin typeface="Comic Sans MS" charset="0"/>
                <a:ea typeface="ＭＳ Ｐゴシック" charset="0"/>
                <a:cs typeface="ＭＳ Ｐゴシック" charset="0"/>
              </a:rPr>
              <a:t>   </a:t>
            </a:r>
            <a:r>
              <a:rPr lang="en-US" dirty="0">
                <a:solidFill>
                  <a:srgbClr val="FF0000"/>
                </a:solidFill>
                <a:latin typeface="Comic Sans MS" charset="0"/>
                <a:ea typeface="ＭＳ Ｐゴシック" charset="0"/>
                <a:cs typeface="ＭＳ Ｐゴシック" charset="0"/>
              </a:rPr>
              <a:t>private boolean open = false;</a:t>
            </a:r>
          </a:p>
          <a:p>
            <a:pPr marL="0" indent="0"/>
            <a:r>
              <a:rPr lang="en-US" dirty="0">
                <a:solidFill>
                  <a:srgbClr val="FF0000"/>
                </a:solidFill>
                <a:latin typeface="Comic Sans MS" charset="0"/>
                <a:ea typeface="ＭＳ Ｐゴシック" charset="0"/>
                <a:cs typeface="ＭＳ Ｐゴシック" charset="0"/>
              </a:rPr>
              <a:t>   private boolean </a:t>
            </a:r>
            <a:r>
              <a:rPr lang="en-US" dirty="0" err="1">
                <a:solidFill>
                  <a:srgbClr val="FF0000"/>
                </a:solidFill>
                <a:latin typeface="Comic Sans MS" charset="0"/>
                <a:ea typeface="ＭＳ Ｐゴシック" charset="0"/>
                <a:cs typeface="ＭＳ Ｐゴシック" charset="0"/>
              </a:rPr>
              <a:t>closedOrCanceled</a:t>
            </a:r>
            <a:r>
              <a:rPr lang="en-US" dirty="0">
                <a:solidFill>
                  <a:srgbClr val="FF0000"/>
                </a:solidFill>
                <a:latin typeface="Comic Sans MS" charset="0"/>
                <a:ea typeface="ＭＳ Ｐゴシック" charset="0"/>
                <a:cs typeface="ＭＳ Ｐゴシック" charset="0"/>
              </a:rPr>
              <a:t> = false;</a:t>
            </a:r>
          </a:p>
          <a:p>
            <a:pPr marL="0" indent="0"/>
            <a:r>
              <a:rPr lang="en-US" dirty="0">
                <a:latin typeface="Comic Sans MS" charset="0"/>
                <a:ea typeface="ＭＳ Ｐゴシック" charset="0"/>
                <a:cs typeface="ＭＳ Ｐゴシック" charset="0"/>
              </a:rPr>
              <a:t>    ….</a:t>
            </a:r>
          </a:p>
          <a:p>
            <a:pPr marL="0" indent="0"/>
            <a:r>
              <a:rPr lang="en-US" dirty="0">
                <a:latin typeface="Comic Sans MS" charset="0"/>
                <a:ea typeface="ＭＳ Ｐゴシック" charset="0"/>
                <a:cs typeface="ＭＳ Ｐゴシック" charset="0"/>
              </a:rPr>
              <a:t>}</a:t>
            </a:r>
            <a:endParaRPr lang="tr-TR" dirty="0">
              <a:latin typeface="Comic Sans MS" charset="0"/>
              <a:ea typeface="ＭＳ Ｐゴシック" charset="0"/>
              <a:cs typeface="ＭＳ Ｐゴシック" charset="0"/>
            </a:endParaRPr>
          </a:p>
        </p:txBody>
      </p:sp>
      <p:pic>
        <p:nvPicPr>
          <p:cNvPr id="163846"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5" y="285750"/>
            <a:ext cx="5410200" cy="2490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AC3CA339-292C-C740-99AC-8402B0A7BAED}" type="slidenum">
              <a:rPr lang="en-US" smtClean="0"/>
              <a:pPr/>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5892"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Example</a:t>
            </a:r>
          </a:p>
        </p:txBody>
      </p:sp>
      <p:sp>
        <p:nvSpPr>
          <p:cNvPr id="165893" name="Rectangle 3"/>
          <p:cNvSpPr>
            <a:spLocks noGrp="1" noChangeArrowheads="1"/>
          </p:cNvSpPr>
          <p:nvPr>
            <p:ph type="body" idx="1"/>
          </p:nvPr>
        </p:nvSpPr>
        <p:spPr>
          <a:xfrm>
            <a:off x="1071562" y="3000375"/>
            <a:ext cx="8072437" cy="2957513"/>
          </a:xfrm>
        </p:spPr>
        <p:txBody>
          <a:bodyPr/>
          <a:lstStyle/>
          <a:p>
            <a:pPr marL="0" indent="0">
              <a:tabLst>
                <a:tab pos="520700" algn="l"/>
              </a:tabLst>
            </a:pPr>
            <a:r>
              <a:rPr lang="en-US" sz="2000" dirty="0">
                <a:latin typeface="Times" charset="0"/>
                <a:ea typeface="ＭＳ Ｐゴシック" charset="0"/>
                <a:cs typeface="ＭＳ Ｐゴシック" charset="0"/>
              </a:rPr>
              <a:t>States: </a:t>
            </a:r>
          </a:p>
          <a:p>
            <a:pPr marL="342900" lvl="1" indent="-152400">
              <a:tabLst>
                <a:tab pos="520700" algn="l"/>
              </a:tabLst>
            </a:pPr>
            <a:r>
              <a:rPr lang="en-GB" sz="2000" dirty="0">
                <a:latin typeface="Times" charset="0"/>
                <a:ea typeface="ＭＳ Ｐゴシック" charset="0"/>
                <a:cs typeface="Times" charset="0"/>
              </a:rPr>
              <a:t>‘Planned’:</a:t>
            </a:r>
          </a:p>
          <a:p>
            <a:pPr marL="571500" lvl="2" indent="4763">
              <a:buFontTx/>
              <a:buNone/>
              <a:tabLst>
                <a:tab pos="520700" algn="l"/>
              </a:tabLst>
            </a:pPr>
            <a:r>
              <a:rPr lang="en-GB" sz="2000" b="1" dirty="0" err="1">
                <a:latin typeface="Comic Sans MS" charset="0"/>
                <a:ea typeface="Comic Sans MS" charset="0"/>
                <a:cs typeface="Comic Sans MS" charset="0"/>
              </a:rPr>
              <a:t>closedOrCancelled</a:t>
            </a:r>
            <a:r>
              <a:rPr lang="en-GB" sz="2000" b="1" dirty="0">
                <a:latin typeface="Comic Sans MS" charset="0"/>
                <a:ea typeface="Comic Sans MS" charset="0"/>
                <a:cs typeface="Comic Sans MS" charset="0"/>
              </a:rPr>
              <a:t> == false &amp;&amp; open == false</a:t>
            </a:r>
            <a:endParaRPr lang="en-GB" sz="2000" dirty="0">
              <a:latin typeface="Comic Sans MS" charset="0"/>
              <a:ea typeface="Comic Sans MS" charset="0"/>
              <a:cs typeface="Comic Sans MS" charset="0"/>
            </a:endParaRPr>
          </a:p>
          <a:p>
            <a:pPr marL="342900" lvl="1" indent="-152400">
              <a:tabLst>
                <a:tab pos="520700" algn="l"/>
              </a:tabLst>
            </a:pPr>
            <a:r>
              <a:rPr lang="en-GB" sz="2000" dirty="0">
                <a:latin typeface="Times" charset="0"/>
                <a:ea typeface="ＭＳ Ｐゴシック" charset="0"/>
                <a:cs typeface="Times" charset="0"/>
              </a:rPr>
              <a:t>‘Cancelled’:</a:t>
            </a:r>
          </a:p>
          <a:p>
            <a:pPr marL="571500" lvl="2" indent="4763">
              <a:buFontTx/>
              <a:buNone/>
              <a:tabLst>
                <a:tab pos="520700" algn="l"/>
              </a:tabLst>
            </a:pPr>
            <a:r>
              <a:rPr lang="en-GB" sz="2000" b="1" dirty="0" err="1">
                <a:latin typeface="Comic Sans MS" charset="0"/>
                <a:ea typeface="Comic Sans MS" charset="0"/>
                <a:cs typeface="Comic Sans MS" charset="0"/>
              </a:rPr>
              <a:t>closedOrCancelled</a:t>
            </a:r>
            <a:r>
              <a:rPr lang="en-GB" sz="2000" b="1" dirty="0">
                <a:latin typeface="Comic Sans MS" charset="0"/>
                <a:ea typeface="Comic Sans MS" charset="0"/>
                <a:cs typeface="Comic Sans MS" charset="0"/>
              </a:rPr>
              <a:t> == true &amp;&amp; </a:t>
            </a:r>
            <a:r>
              <a:rPr lang="en-GB" sz="2000" b="1" dirty="0" err="1">
                <a:latin typeface="Comic Sans MS" charset="0"/>
                <a:ea typeface="Comic Sans MS" charset="0"/>
                <a:cs typeface="Comic Sans MS" charset="0"/>
              </a:rPr>
              <a:t>registrationList.size</a:t>
            </a:r>
            <a:r>
              <a:rPr lang="en-GB" sz="2000" b="1" dirty="0">
                <a:latin typeface="Comic Sans MS" charset="0"/>
                <a:ea typeface="Comic Sans MS" charset="0"/>
                <a:cs typeface="Comic Sans MS" charset="0"/>
              </a:rPr>
              <a:t>() == 0</a:t>
            </a:r>
            <a:endParaRPr lang="en-US" sz="2000" dirty="0">
              <a:latin typeface="Comic Sans MS" charset="0"/>
              <a:ea typeface="Comic Sans MS" charset="0"/>
              <a:cs typeface="Comic Sans MS" charset="0"/>
            </a:endParaRPr>
          </a:p>
          <a:p>
            <a:pPr marL="342900" lvl="1" indent="-152400" algn="just">
              <a:tabLst>
                <a:tab pos="520700" algn="l"/>
              </a:tabLst>
            </a:pPr>
            <a:r>
              <a:rPr lang="en-GB" sz="2000" dirty="0">
                <a:latin typeface="Times" charset="0"/>
                <a:ea typeface="ＭＳ Ｐゴシック" charset="0"/>
                <a:cs typeface="Times" charset="0"/>
              </a:rPr>
              <a:t>‘Closed’ (course section is too full, or being taught):</a:t>
            </a:r>
          </a:p>
          <a:p>
            <a:pPr marL="571500" lvl="2" indent="4763">
              <a:buFontTx/>
              <a:buNone/>
              <a:tabLst>
                <a:tab pos="520700" algn="l"/>
              </a:tabLst>
            </a:pPr>
            <a:r>
              <a:rPr lang="en-GB" sz="2000" b="1" dirty="0" err="1">
                <a:latin typeface="Comic Sans MS" charset="0"/>
                <a:ea typeface="Comic Sans MS" charset="0"/>
                <a:cs typeface="Comic Sans MS" charset="0"/>
              </a:rPr>
              <a:t>closedOrCancelled</a:t>
            </a:r>
            <a:r>
              <a:rPr lang="en-GB" sz="2000" b="1" dirty="0">
                <a:latin typeface="Comic Sans MS" charset="0"/>
                <a:ea typeface="Comic Sans MS" charset="0"/>
                <a:cs typeface="Comic Sans MS" charset="0"/>
              </a:rPr>
              <a:t> == true &amp;&amp; </a:t>
            </a:r>
            <a:r>
              <a:rPr lang="en-GB" sz="2000" b="1" dirty="0" err="1">
                <a:latin typeface="Comic Sans MS" charset="0"/>
                <a:ea typeface="Comic Sans MS" charset="0"/>
                <a:cs typeface="Comic Sans MS" charset="0"/>
              </a:rPr>
              <a:t>registrationList.size</a:t>
            </a:r>
            <a:r>
              <a:rPr lang="en-GB" sz="2000" b="1" dirty="0">
                <a:latin typeface="Comic Sans MS" charset="0"/>
                <a:ea typeface="Comic Sans MS" charset="0"/>
                <a:cs typeface="Comic Sans MS" charset="0"/>
              </a:rPr>
              <a:t>() &gt; 0</a:t>
            </a:r>
            <a:endParaRPr lang="en-US" sz="2000" dirty="0">
              <a:latin typeface="Comic Sans MS" charset="0"/>
              <a:ea typeface="Comic Sans MS" charset="0"/>
              <a:cs typeface="Comic Sans MS" charset="0"/>
            </a:endParaRPr>
          </a:p>
        </p:txBody>
      </p:sp>
      <p:pic>
        <p:nvPicPr>
          <p:cNvPr id="165894"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25" y="357188"/>
            <a:ext cx="5410200" cy="2490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14F6F305-04E4-5E4D-BE4E-D65C3C550673}" type="slidenum">
              <a:rPr lang="en-US" smtClean="0"/>
              <a:pPr/>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7940"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Example</a:t>
            </a:r>
          </a:p>
        </p:txBody>
      </p:sp>
      <p:sp>
        <p:nvSpPr>
          <p:cNvPr id="167941" name="Rectangle 3"/>
          <p:cNvSpPr>
            <a:spLocks noGrp="1" noChangeArrowheads="1"/>
          </p:cNvSpPr>
          <p:nvPr>
            <p:ph type="body" idx="1"/>
          </p:nvPr>
        </p:nvSpPr>
        <p:spPr>
          <a:xfrm>
            <a:off x="1071563" y="3000374"/>
            <a:ext cx="7543800" cy="3452961"/>
          </a:xfrm>
        </p:spPr>
        <p:txBody>
          <a:bodyPr/>
          <a:lstStyle/>
          <a:p>
            <a:pPr marL="0" indent="0"/>
            <a:r>
              <a:rPr lang="en-US" sz="2000" dirty="0">
                <a:latin typeface="Times" charset="0"/>
                <a:ea typeface="ＭＳ Ｐゴシック" charset="0"/>
                <a:cs typeface="ＭＳ Ｐゴシック" charset="0"/>
              </a:rPr>
              <a:t>States: </a:t>
            </a:r>
          </a:p>
          <a:p>
            <a:pPr lvl="1"/>
            <a:r>
              <a:rPr lang="en-GB" sz="2000" dirty="0">
                <a:latin typeface="Times" charset="0"/>
                <a:ea typeface="ＭＳ Ｐゴシック" charset="0"/>
                <a:cs typeface="Times" charset="0"/>
              </a:rPr>
              <a:t>‘Open’  (accepting registrations):</a:t>
            </a:r>
          </a:p>
          <a:p>
            <a:pPr lvl="2" algn="just">
              <a:buFontTx/>
              <a:buNone/>
            </a:pPr>
            <a:r>
              <a:rPr lang="en-GB" sz="2000" b="1" dirty="0">
                <a:latin typeface="Comic Sans MS" charset="0"/>
                <a:ea typeface="Comic Sans MS" charset="0"/>
                <a:cs typeface="Comic Sans MS" charset="0"/>
              </a:rPr>
              <a:t>open == true</a:t>
            </a:r>
            <a:endParaRPr lang="en-GB" sz="2000" dirty="0">
              <a:latin typeface="Comic Sans MS" charset="0"/>
              <a:ea typeface="Comic Sans MS" charset="0"/>
              <a:cs typeface="Comic Sans MS" charset="0"/>
            </a:endParaRPr>
          </a:p>
          <a:p>
            <a:pPr lvl="1" algn="just"/>
            <a:r>
              <a:rPr lang="en-GB" sz="2000" dirty="0">
                <a:latin typeface="Times" charset="0"/>
                <a:ea typeface="ＭＳ Ｐゴシック" charset="0"/>
                <a:cs typeface="Times" charset="0"/>
              </a:rPr>
              <a:t>‘</a:t>
            </a:r>
            <a:r>
              <a:rPr lang="en-GB" sz="2000" dirty="0" err="1">
                <a:latin typeface="Times" charset="0"/>
                <a:ea typeface="ＭＳ Ｐゴシック" charset="0"/>
                <a:cs typeface="Times" charset="0"/>
              </a:rPr>
              <a:t>NotEnoughStudents</a:t>
            </a:r>
            <a:r>
              <a:rPr lang="en-GB" sz="2000" dirty="0">
                <a:latin typeface="Times" charset="0"/>
                <a:ea typeface="ＭＳ Ｐゴシック" charset="0"/>
                <a:cs typeface="Times" charset="0"/>
              </a:rPr>
              <a:t>’ (</a:t>
            </a:r>
            <a:r>
              <a:rPr lang="en-GB" sz="2000" dirty="0" err="1">
                <a:latin typeface="Times" charset="0"/>
                <a:ea typeface="ＭＳ Ｐゴシック" charset="0"/>
                <a:cs typeface="Times" charset="0"/>
              </a:rPr>
              <a:t>substate</a:t>
            </a:r>
            <a:r>
              <a:rPr lang="en-GB" sz="2000" dirty="0">
                <a:latin typeface="Times" charset="0"/>
                <a:ea typeface="ＭＳ Ｐゴシック" charset="0"/>
                <a:cs typeface="Times" charset="0"/>
              </a:rPr>
              <a:t> of ‘Open’):</a:t>
            </a:r>
          </a:p>
          <a:p>
            <a:pPr lvl="2">
              <a:buFontTx/>
              <a:buNone/>
            </a:pPr>
            <a:r>
              <a:rPr lang="en-GB" sz="2000" b="1" dirty="0">
                <a:latin typeface="Comic Sans MS" charset="0"/>
                <a:ea typeface="Comic Sans MS" charset="0"/>
                <a:cs typeface="Comic Sans MS" charset="0"/>
              </a:rPr>
              <a:t>open == true &amp;&amp; </a:t>
            </a:r>
          </a:p>
          <a:p>
            <a:pPr lvl="2">
              <a:buFontTx/>
              <a:buNone/>
            </a:pPr>
            <a:r>
              <a:rPr lang="en-US" sz="2000" b="1" dirty="0">
                <a:latin typeface="Comic Sans MS" charset="0"/>
                <a:ea typeface="Comic Sans MS" charset="0"/>
                <a:cs typeface="Comic Sans MS" charset="0"/>
              </a:rPr>
              <a:t>		</a:t>
            </a:r>
            <a:r>
              <a:rPr lang="en-GB" sz="2000" b="1" dirty="0" err="1">
                <a:latin typeface="Comic Sans MS" charset="0"/>
                <a:ea typeface="Comic Sans MS" charset="0"/>
                <a:cs typeface="Comic Sans MS" charset="0"/>
              </a:rPr>
              <a:t>registrationList.size</a:t>
            </a:r>
            <a:r>
              <a:rPr lang="en-GB" sz="2000" b="1" dirty="0">
                <a:latin typeface="Comic Sans MS" charset="0"/>
                <a:ea typeface="Comic Sans MS" charset="0"/>
                <a:cs typeface="Comic Sans MS" charset="0"/>
              </a:rPr>
              <a:t>() &lt; </a:t>
            </a:r>
            <a:r>
              <a:rPr lang="en-GB" sz="2000" b="1" dirty="0" err="1">
                <a:latin typeface="Comic Sans MS" charset="0"/>
                <a:ea typeface="Comic Sans MS" charset="0"/>
                <a:cs typeface="Comic Sans MS" charset="0"/>
              </a:rPr>
              <a:t>course.getMinimum</a:t>
            </a:r>
            <a:r>
              <a:rPr lang="en-GB" sz="2000" b="1" dirty="0">
                <a:latin typeface="Comic Sans MS" charset="0"/>
                <a:ea typeface="Comic Sans MS" charset="0"/>
                <a:cs typeface="Comic Sans MS" charset="0"/>
              </a:rPr>
              <a:t>()</a:t>
            </a:r>
            <a:endParaRPr lang="en-GB" sz="2000" dirty="0">
              <a:latin typeface="Comic Sans MS" charset="0"/>
              <a:ea typeface="Comic Sans MS" charset="0"/>
              <a:cs typeface="Comic Sans MS" charset="0"/>
            </a:endParaRPr>
          </a:p>
          <a:p>
            <a:pPr lvl="1" algn="just"/>
            <a:r>
              <a:rPr lang="en-GB" sz="2000" dirty="0">
                <a:latin typeface="Times" charset="0"/>
                <a:ea typeface="ＭＳ Ｐゴシック" charset="0"/>
                <a:cs typeface="Times" charset="0"/>
              </a:rPr>
              <a:t>‘</a:t>
            </a:r>
            <a:r>
              <a:rPr lang="en-GB" sz="2000" dirty="0" err="1">
                <a:latin typeface="Times" charset="0"/>
                <a:ea typeface="ＭＳ Ｐゴシック" charset="0"/>
                <a:cs typeface="Times" charset="0"/>
              </a:rPr>
              <a:t>EnoughStudents</a:t>
            </a:r>
            <a:r>
              <a:rPr lang="en-GB" sz="2000" dirty="0">
                <a:latin typeface="Times" charset="0"/>
                <a:ea typeface="ＭＳ Ｐゴシック" charset="0"/>
                <a:cs typeface="Times" charset="0"/>
              </a:rPr>
              <a:t>’  (</a:t>
            </a:r>
            <a:r>
              <a:rPr lang="en-GB" sz="2000" dirty="0" err="1">
                <a:latin typeface="Times" charset="0"/>
                <a:ea typeface="ＭＳ Ｐゴシック" charset="0"/>
                <a:cs typeface="Times" charset="0"/>
              </a:rPr>
              <a:t>substate</a:t>
            </a:r>
            <a:r>
              <a:rPr lang="en-GB" sz="2000" dirty="0">
                <a:latin typeface="Times" charset="0"/>
                <a:ea typeface="ＭＳ Ｐゴシック" charset="0"/>
                <a:cs typeface="Times" charset="0"/>
              </a:rPr>
              <a:t> of ‘Open’):</a:t>
            </a:r>
          </a:p>
          <a:p>
            <a:pPr lvl="2">
              <a:buFontTx/>
              <a:buNone/>
            </a:pPr>
            <a:r>
              <a:rPr lang="en-GB" sz="2000" b="1" dirty="0">
                <a:latin typeface="Comic Sans MS" charset="0"/>
                <a:ea typeface="Comic Sans MS" charset="0"/>
                <a:cs typeface="Comic Sans MS" charset="0"/>
              </a:rPr>
              <a:t>open == true &amp;&amp; </a:t>
            </a:r>
          </a:p>
          <a:p>
            <a:pPr lvl="2">
              <a:buFontTx/>
              <a:buNone/>
            </a:pPr>
            <a:r>
              <a:rPr lang="en-GB" sz="2000" b="1" dirty="0">
                <a:latin typeface="Comic Sans MS" charset="0"/>
                <a:ea typeface="Comic Sans MS" charset="0"/>
                <a:cs typeface="Comic Sans MS" charset="0"/>
              </a:rPr>
              <a:t>   </a:t>
            </a:r>
            <a:r>
              <a:rPr lang="en-GB" sz="2000" b="1" dirty="0" err="1">
                <a:latin typeface="Comic Sans MS" charset="0"/>
                <a:ea typeface="Comic Sans MS" charset="0"/>
                <a:cs typeface="Comic Sans MS" charset="0"/>
              </a:rPr>
              <a:t>registrationList.size</a:t>
            </a:r>
            <a:r>
              <a:rPr lang="en-GB" sz="2000" b="1" dirty="0">
                <a:latin typeface="Comic Sans MS" charset="0"/>
                <a:ea typeface="Comic Sans MS" charset="0"/>
                <a:cs typeface="Comic Sans MS" charset="0"/>
              </a:rPr>
              <a:t>() &gt;=   </a:t>
            </a:r>
            <a:r>
              <a:rPr lang="en-GB" sz="2000" b="1" dirty="0" err="1">
                <a:latin typeface="Comic Sans MS" charset="0"/>
                <a:ea typeface="Comic Sans MS" charset="0"/>
                <a:cs typeface="Comic Sans MS" charset="0"/>
              </a:rPr>
              <a:t>course.getMinimum</a:t>
            </a:r>
            <a:r>
              <a:rPr lang="en-GB" sz="2000" b="1" dirty="0">
                <a:latin typeface="Comic Sans MS" charset="0"/>
                <a:ea typeface="Comic Sans MS" charset="0"/>
                <a:cs typeface="Comic Sans MS" charset="0"/>
              </a:rPr>
              <a:t>()</a:t>
            </a:r>
          </a:p>
          <a:p>
            <a:pPr lvl="1"/>
            <a:endParaRPr lang="en-US" sz="2000" dirty="0">
              <a:latin typeface="Arial" charset="0"/>
              <a:ea typeface="ＭＳ Ｐゴシック" charset="0"/>
            </a:endParaRPr>
          </a:p>
        </p:txBody>
      </p:sp>
      <p:pic>
        <p:nvPicPr>
          <p:cNvPr id="167942"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25" y="357188"/>
            <a:ext cx="5410200" cy="2490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14F6F305-04E4-5E4D-BE4E-D65C3C550673}"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9988"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Example: the </a:t>
            </a:r>
            <a:r>
              <a:rPr lang="en-US" dirty="0" err="1">
                <a:latin typeface="Arial" charset="0"/>
                <a:ea typeface="ＭＳ Ｐゴシック" charset="0"/>
                <a:cs typeface="ＭＳ Ｐゴシック" charset="0"/>
              </a:rPr>
              <a:t>CourseSection</a:t>
            </a:r>
            <a:r>
              <a:rPr lang="en-US" dirty="0">
                <a:latin typeface="Arial" charset="0"/>
                <a:ea typeface="ＭＳ Ｐゴシック" charset="0"/>
                <a:cs typeface="ＭＳ Ｐゴシック" charset="0"/>
              </a:rPr>
              <a:t> class</a:t>
            </a:r>
          </a:p>
        </p:txBody>
      </p:sp>
      <p:sp>
        <p:nvSpPr>
          <p:cNvPr id="169989" name="Rectangle 3"/>
          <p:cNvSpPr>
            <a:spLocks noChangeArrowheads="1"/>
          </p:cNvSpPr>
          <p:nvPr/>
        </p:nvSpPr>
        <p:spPr bwMode="auto">
          <a:xfrm>
            <a:off x="827584" y="3501008"/>
            <a:ext cx="7162800" cy="41960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GB" sz="1700" b="1" dirty="0">
                <a:latin typeface="Comic Sans MS" charset="0"/>
              </a:rPr>
              <a:t>public </a:t>
            </a:r>
            <a:r>
              <a:rPr lang="en-GB" sz="1700" b="1" dirty="0" err="1">
                <a:latin typeface="Comic Sans MS" charset="0"/>
              </a:rPr>
              <a:t>CourseSection</a:t>
            </a:r>
            <a:r>
              <a:rPr lang="en-GB" sz="1700" b="1" dirty="0">
                <a:latin typeface="Comic Sans MS" charset="0"/>
              </a:rPr>
              <a:t>(Course course){</a:t>
            </a:r>
          </a:p>
          <a:p>
            <a:r>
              <a:rPr lang="en-GB" sz="1700" b="1" dirty="0">
                <a:latin typeface="Comic Sans MS" charset="0"/>
              </a:rPr>
              <a:t>      </a:t>
            </a:r>
            <a:r>
              <a:rPr lang="en-GB" sz="1700" b="1" dirty="0" err="1">
                <a:latin typeface="Comic Sans MS" charset="0"/>
              </a:rPr>
              <a:t>this.course</a:t>
            </a:r>
            <a:r>
              <a:rPr lang="en-GB" sz="1700" b="1" dirty="0">
                <a:latin typeface="Comic Sans MS" charset="0"/>
              </a:rPr>
              <a:t> = course;</a:t>
            </a:r>
          </a:p>
          <a:p>
            <a:r>
              <a:rPr lang="en-GB" sz="1700" b="1" dirty="0">
                <a:latin typeface="Comic Sans MS" charset="0"/>
              </a:rPr>
              <a:t>      </a:t>
            </a:r>
            <a:r>
              <a:rPr lang="en-GB" sz="1700" b="1" dirty="0" err="1">
                <a:latin typeface="Comic Sans MS" charset="0"/>
              </a:rPr>
              <a:t>registrationList</a:t>
            </a:r>
            <a:r>
              <a:rPr lang="en-GB" sz="1700" b="1" dirty="0">
                <a:latin typeface="Comic Sans MS" charset="0"/>
              </a:rPr>
              <a:t> = new LinkedList&lt;Registration&gt;();</a:t>
            </a:r>
          </a:p>
          <a:p>
            <a:r>
              <a:rPr lang="en-GB" sz="1700" b="1" dirty="0">
                <a:latin typeface="Comic Sans MS" charset="0"/>
              </a:rPr>
              <a:t>      …</a:t>
            </a:r>
          </a:p>
          <a:p>
            <a:r>
              <a:rPr lang="en-GB" sz="1700" b="1" dirty="0">
                <a:latin typeface="Comic Sans MS" charset="0"/>
              </a:rPr>
              <a:t>}</a:t>
            </a:r>
          </a:p>
          <a:p>
            <a:endParaRPr lang="en-GB" sz="1700" b="1" dirty="0">
              <a:latin typeface="Comic Sans MS" charset="0"/>
            </a:endParaRPr>
          </a:p>
          <a:p>
            <a:r>
              <a:rPr lang="en-GB" sz="1700" b="1" dirty="0">
                <a:latin typeface="Comic Sans MS" charset="0"/>
              </a:rPr>
              <a:t>public void </a:t>
            </a:r>
            <a:r>
              <a:rPr lang="en-GB" sz="1700" b="1" dirty="0" err="1">
                <a:latin typeface="Comic Sans MS" charset="0"/>
              </a:rPr>
              <a:t>openRegistration</a:t>
            </a:r>
            <a:r>
              <a:rPr lang="en-GB" sz="1700" b="1" dirty="0">
                <a:latin typeface="Comic Sans MS" charset="0"/>
              </a:rPr>
              <a:t>(){</a:t>
            </a:r>
          </a:p>
          <a:p>
            <a:r>
              <a:rPr lang="en-US" sz="1700" b="1" dirty="0">
                <a:latin typeface="Comic Sans MS" charset="0"/>
              </a:rPr>
              <a:t>     </a:t>
            </a:r>
            <a:r>
              <a:rPr lang="en-GB" sz="1700" b="1" dirty="0">
                <a:latin typeface="Comic Sans MS" charset="0"/>
              </a:rPr>
              <a:t>if(!</a:t>
            </a:r>
            <a:r>
              <a:rPr lang="en-GB" sz="1700" b="1" dirty="0" err="1">
                <a:latin typeface="Comic Sans MS" charset="0"/>
              </a:rPr>
              <a:t>closedOrCanceled</a:t>
            </a:r>
            <a:r>
              <a:rPr lang="en-GB" sz="1700" b="1" dirty="0">
                <a:latin typeface="Comic Sans MS" charset="0"/>
              </a:rPr>
              <a:t> &amp;&amp; !open) // must be in 'Planned' state</a:t>
            </a:r>
          </a:p>
          <a:p>
            <a:r>
              <a:rPr lang="en-GB" sz="1700" b="1" dirty="0">
                <a:latin typeface="Comic Sans MS" charset="0"/>
              </a:rPr>
              <a:t>     {</a:t>
            </a:r>
          </a:p>
          <a:p>
            <a:r>
              <a:rPr lang="en-GB" sz="1700" b="1" dirty="0">
                <a:latin typeface="Comic Sans MS" charset="0"/>
              </a:rPr>
              <a:t>          open = true; // to '</a:t>
            </a:r>
            <a:r>
              <a:rPr lang="en-GB" sz="1700" b="1" dirty="0" err="1">
                <a:latin typeface="Comic Sans MS" charset="0"/>
              </a:rPr>
              <a:t>NotEnoughStudents</a:t>
            </a:r>
            <a:r>
              <a:rPr lang="en-GB" sz="1700" b="1" dirty="0">
                <a:latin typeface="Comic Sans MS" charset="0"/>
              </a:rPr>
              <a:t>' state</a:t>
            </a:r>
          </a:p>
          <a:p>
            <a:r>
              <a:rPr lang="en-GB" sz="1700" b="1" dirty="0">
                <a:latin typeface="Comic Sans MS" charset="0"/>
              </a:rPr>
              <a:t>     }</a:t>
            </a:r>
          </a:p>
          <a:p>
            <a:r>
              <a:rPr lang="en-GB" sz="1700" b="1" dirty="0">
                <a:latin typeface="Comic Sans MS" charset="0"/>
              </a:rPr>
              <a:t>}</a:t>
            </a:r>
          </a:p>
          <a:p>
            <a:r>
              <a:rPr lang="en-GB" b="1" dirty="0"/>
              <a:t> </a:t>
            </a:r>
            <a:endParaRPr lang="en-US" b="1" dirty="0"/>
          </a:p>
          <a:p>
            <a:pPr>
              <a:lnSpc>
                <a:spcPct val="50000"/>
              </a:lnSpc>
              <a:spcBef>
                <a:spcPct val="50000"/>
              </a:spcBef>
            </a:pPr>
            <a:endParaRPr lang="en-GB" sz="1700" b="1" dirty="0">
              <a:latin typeface="Arial" charset="0"/>
              <a:cs typeface="Times" charset="0"/>
            </a:endParaRPr>
          </a:p>
          <a:p>
            <a:pPr algn="just">
              <a:lnSpc>
                <a:spcPct val="50000"/>
              </a:lnSpc>
              <a:spcBef>
                <a:spcPct val="50000"/>
              </a:spcBef>
            </a:pPr>
            <a:r>
              <a:rPr lang="en-GB" sz="2000" b="1" dirty="0">
                <a:latin typeface="Courier" charset="0"/>
                <a:cs typeface="Times" charset="0"/>
              </a:rPr>
              <a:t> </a:t>
            </a:r>
          </a:p>
        </p:txBody>
      </p:sp>
      <p:pic>
        <p:nvPicPr>
          <p:cNvPr id="169990"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0188" y="928688"/>
            <a:ext cx="5410200" cy="24907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0D50EF59-C54D-494E-9E64-A925CFB0FF59}" type="slidenum">
              <a:rPr lang="en-US" smtClean="0"/>
              <a:pPr/>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2035"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Example: The CourseSection class</a:t>
            </a:r>
          </a:p>
        </p:txBody>
      </p:sp>
      <p:sp>
        <p:nvSpPr>
          <p:cNvPr id="172036" name="Rectangle 3"/>
          <p:cNvSpPr>
            <a:spLocks noGrp="1" noChangeArrowheads="1"/>
          </p:cNvSpPr>
          <p:nvPr>
            <p:ph type="body" idx="1"/>
          </p:nvPr>
        </p:nvSpPr>
        <p:spPr>
          <a:xfrm>
            <a:off x="1066800" y="2492896"/>
            <a:ext cx="7543800" cy="3386138"/>
          </a:xfrm>
        </p:spPr>
        <p:txBody>
          <a:bodyPr/>
          <a:lstStyle/>
          <a:p>
            <a:pPr marL="0" indent="0">
              <a:lnSpc>
                <a:spcPct val="80000"/>
              </a:lnSpc>
            </a:pPr>
            <a:r>
              <a:rPr lang="en-GB" sz="1600" dirty="0">
                <a:latin typeface="Comic Sans MS" charset="0"/>
                <a:ea typeface="ＭＳ Ｐゴシック" charset="0"/>
                <a:cs typeface="ＭＳ Ｐゴシック" charset="0"/>
              </a:rPr>
              <a:t>public void </a:t>
            </a:r>
            <a:r>
              <a:rPr lang="en-GB" sz="1600" dirty="0" err="1">
                <a:latin typeface="Comic Sans MS" charset="0"/>
                <a:ea typeface="ＭＳ Ｐゴシック" charset="0"/>
                <a:cs typeface="ＭＳ Ｐゴシック" charset="0"/>
              </a:rPr>
              <a:t>closeRegistration</a:t>
            </a:r>
            <a:r>
              <a:rPr lang="en-GB" sz="1600" dirty="0">
                <a:latin typeface="Comic Sans MS" charset="0"/>
                <a:ea typeface="ＭＳ Ｐゴシック" charset="0"/>
                <a:cs typeface="ＭＳ Ｐゴシック" charset="0"/>
              </a:rPr>
              <a:t>(){</a:t>
            </a:r>
          </a:p>
          <a:p>
            <a:pPr marL="0" indent="0">
              <a:lnSpc>
                <a:spcPct val="80000"/>
              </a:lnSpc>
            </a:pPr>
            <a:r>
              <a:rPr lang="en-GB" sz="1600" dirty="0">
                <a:latin typeface="Comic Sans MS" charset="0"/>
                <a:ea typeface="ＭＳ Ｐゴシック" charset="0"/>
                <a:cs typeface="ＭＳ Ｐゴシック" charset="0"/>
              </a:rPr>
              <a:t>     if (open) {     </a:t>
            </a:r>
          </a:p>
          <a:p>
            <a:pPr marL="0" indent="0">
              <a:lnSpc>
                <a:spcPct val="80000"/>
              </a:lnSpc>
            </a:pPr>
            <a:r>
              <a:rPr lang="en-GB" sz="1600" dirty="0">
                <a:latin typeface="Comic Sans MS" charset="0"/>
                <a:ea typeface="ＭＳ Ｐゴシック" charset="0"/>
                <a:cs typeface="ＭＳ Ｐゴシック" charset="0"/>
              </a:rPr>
              <a:t>        open = false;</a:t>
            </a:r>
          </a:p>
          <a:p>
            <a:pPr marL="0" indent="0">
              <a:lnSpc>
                <a:spcPct val="80000"/>
              </a:lnSpc>
            </a:pPr>
            <a:r>
              <a:rPr lang="en-GB" sz="1600" dirty="0">
                <a:latin typeface="Comic Sans MS" charset="0"/>
                <a:ea typeface="ＭＳ Ｐゴシック" charset="0"/>
                <a:cs typeface="ＭＳ Ｐゴシック" charset="0"/>
              </a:rPr>
              <a:t>        </a:t>
            </a:r>
            <a:r>
              <a:rPr lang="en-GB" sz="1600" dirty="0" err="1">
                <a:latin typeface="Comic Sans MS" charset="0"/>
                <a:ea typeface="ＭＳ Ｐゴシック" charset="0"/>
                <a:cs typeface="ＭＳ Ｐゴシック" charset="0"/>
              </a:rPr>
              <a:t>closedOrCanceled</a:t>
            </a:r>
            <a:r>
              <a:rPr lang="en-GB" sz="1600" dirty="0">
                <a:latin typeface="Comic Sans MS" charset="0"/>
                <a:ea typeface="ＭＳ Ｐゴシック" charset="0"/>
                <a:cs typeface="ＭＳ Ｐゴシック" charset="0"/>
              </a:rPr>
              <a:t> = true;</a:t>
            </a:r>
          </a:p>
          <a:p>
            <a:pPr marL="0" indent="0">
              <a:lnSpc>
                <a:spcPct val="80000"/>
              </a:lnSpc>
            </a:pPr>
            <a:r>
              <a:rPr lang="en-GB" sz="1600" dirty="0">
                <a:latin typeface="Comic Sans MS" charset="0"/>
                <a:ea typeface="ＭＳ Ｐゴシック" charset="0"/>
                <a:cs typeface="ＭＳ Ｐゴシック" charset="0"/>
              </a:rPr>
              <a:t>        if (</a:t>
            </a:r>
            <a:r>
              <a:rPr lang="en-GB" sz="1600" dirty="0" err="1">
                <a:latin typeface="Comic Sans MS" charset="0"/>
                <a:ea typeface="ＭＳ Ｐゴシック" charset="0"/>
                <a:cs typeface="ＭＳ Ｐゴシック" charset="0"/>
              </a:rPr>
              <a:t>registrationList.size</a:t>
            </a:r>
            <a:r>
              <a:rPr lang="en-GB" sz="1600" dirty="0">
                <a:latin typeface="Comic Sans MS" charset="0"/>
                <a:ea typeface="ＭＳ Ｐゴシック" charset="0"/>
                <a:cs typeface="ＭＳ Ｐゴシック" charset="0"/>
              </a:rPr>
              <a:t>() &lt; </a:t>
            </a:r>
            <a:r>
              <a:rPr lang="en-GB" sz="1600" dirty="0" err="1">
                <a:latin typeface="Comic Sans MS" charset="0"/>
                <a:ea typeface="ＭＳ Ｐゴシック" charset="0"/>
                <a:cs typeface="ＭＳ Ｐゴシック" charset="0"/>
              </a:rPr>
              <a:t>course.getMinimum</a:t>
            </a:r>
            <a:r>
              <a:rPr lang="en-GB" sz="1600" dirty="0">
                <a:latin typeface="Comic Sans MS" charset="0"/>
                <a:ea typeface="ＭＳ Ｐゴシック" charset="0"/>
                <a:cs typeface="ＭＳ Ｐゴシック" charset="0"/>
              </a:rPr>
              <a:t>()){     </a:t>
            </a:r>
          </a:p>
          <a:p>
            <a:pPr marL="0" indent="0">
              <a:lnSpc>
                <a:spcPct val="80000"/>
              </a:lnSpc>
            </a:pPr>
            <a:r>
              <a:rPr lang="en-GB" sz="1600" dirty="0">
                <a:latin typeface="Comic Sans MS" charset="0"/>
                <a:ea typeface="ＭＳ Ｐゴシック" charset="0"/>
                <a:cs typeface="ＭＳ Ｐゴシック" charset="0"/>
              </a:rPr>
              <a:t>	</a:t>
            </a:r>
            <a:r>
              <a:rPr lang="en-GB" sz="1600" dirty="0" err="1">
                <a:latin typeface="Comic Sans MS" charset="0"/>
                <a:ea typeface="ＭＳ Ｐゴシック" charset="0"/>
                <a:cs typeface="ＭＳ Ｐゴシック" charset="0"/>
              </a:rPr>
              <a:t>unregisterStudents</a:t>
            </a:r>
            <a:r>
              <a:rPr lang="en-GB" sz="1600" dirty="0">
                <a:latin typeface="Comic Sans MS" charset="0"/>
                <a:ea typeface="ＭＳ Ｐゴシック" charset="0"/>
                <a:cs typeface="ＭＳ Ｐゴシック" charset="0"/>
              </a:rPr>
              <a:t>(); // to '</a:t>
            </a:r>
            <a:r>
              <a:rPr lang="en-GB" sz="1600" dirty="0" err="1">
                <a:latin typeface="Comic Sans MS" charset="0"/>
                <a:ea typeface="ＭＳ Ｐゴシック" charset="0"/>
                <a:cs typeface="ＭＳ Ｐゴシック" charset="0"/>
              </a:rPr>
              <a:t>Canceled</a:t>
            </a:r>
            <a:r>
              <a:rPr lang="en-GB" sz="1600" dirty="0">
                <a:latin typeface="Comic Sans MS" charset="0"/>
                <a:ea typeface="ＭＳ Ｐゴシック" charset="0"/>
                <a:cs typeface="ＭＳ Ｐゴシック" charset="0"/>
              </a:rPr>
              <a:t>' state</a:t>
            </a:r>
          </a:p>
          <a:p>
            <a:pPr marL="0" indent="0">
              <a:lnSpc>
                <a:spcPct val="80000"/>
              </a:lnSpc>
            </a:pPr>
            <a:r>
              <a:rPr lang="en-GB" sz="1600" dirty="0">
                <a:latin typeface="Comic Sans MS" charset="0"/>
                <a:ea typeface="ＭＳ Ｐゴシック" charset="0"/>
                <a:cs typeface="ＭＳ Ｐゴシック" charset="0"/>
              </a:rPr>
              <a:t>        }</a:t>
            </a:r>
          </a:p>
          <a:p>
            <a:pPr marL="0" indent="0">
              <a:lnSpc>
                <a:spcPct val="80000"/>
              </a:lnSpc>
            </a:pPr>
            <a:r>
              <a:rPr lang="en-GB" sz="1600" dirty="0">
                <a:latin typeface="Comic Sans MS" charset="0"/>
                <a:ea typeface="ＭＳ Ｐゴシック" charset="0"/>
                <a:cs typeface="ＭＳ Ｐゴシック" charset="0"/>
              </a:rPr>
              <a:t>     }</a:t>
            </a:r>
          </a:p>
          <a:p>
            <a:pPr marL="0" indent="0">
              <a:lnSpc>
                <a:spcPct val="80000"/>
              </a:lnSpc>
            </a:pPr>
            <a:r>
              <a:rPr lang="en-GB" sz="1600" dirty="0">
                <a:latin typeface="Comic Sans MS" charset="0"/>
                <a:ea typeface="ＭＳ Ｐゴシック" charset="0"/>
                <a:cs typeface="ＭＳ Ｐゴシック" charset="0"/>
              </a:rPr>
              <a:t>}</a:t>
            </a:r>
          </a:p>
          <a:p>
            <a:pPr marL="0" indent="0">
              <a:lnSpc>
                <a:spcPct val="80000"/>
              </a:lnSpc>
            </a:pPr>
            <a:endParaRPr lang="en-GB" sz="1600" dirty="0">
              <a:latin typeface="Comic Sans MS" charset="0"/>
              <a:ea typeface="ＭＳ Ｐゴシック" charset="0"/>
              <a:cs typeface="ＭＳ Ｐゴシック" charset="0"/>
            </a:endParaRPr>
          </a:p>
          <a:p>
            <a:pPr marL="0" indent="0">
              <a:lnSpc>
                <a:spcPct val="80000"/>
              </a:lnSpc>
            </a:pPr>
            <a:r>
              <a:rPr lang="en-GB" sz="1600" dirty="0">
                <a:latin typeface="Comic Sans MS" charset="0"/>
                <a:ea typeface="ＭＳ Ｐゴシック" charset="0"/>
                <a:cs typeface="ＭＳ Ｐゴシック" charset="0"/>
              </a:rPr>
              <a:t>public void cancel(){</a:t>
            </a:r>
          </a:p>
          <a:p>
            <a:pPr marL="0" indent="0">
              <a:lnSpc>
                <a:spcPct val="80000"/>
              </a:lnSpc>
            </a:pPr>
            <a:r>
              <a:rPr lang="en-GB" sz="1600" dirty="0">
                <a:latin typeface="Comic Sans MS" charset="0"/>
                <a:ea typeface="ＭＳ Ｐゴシック" charset="0"/>
                <a:cs typeface="ＭＳ Ｐゴシック" charset="0"/>
              </a:rPr>
              <a:t>      if (open){</a:t>
            </a:r>
          </a:p>
          <a:p>
            <a:pPr marL="0" indent="0">
              <a:lnSpc>
                <a:spcPct val="80000"/>
              </a:lnSpc>
            </a:pPr>
            <a:r>
              <a:rPr lang="en-GB" sz="1600" dirty="0">
                <a:latin typeface="Comic Sans MS" charset="0"/>
                <a:ea typeface="ＭＳ Ｐゴシック" charset="0"/>
                <a:cs typeface="ＭＳ Ｐゴシック" charset="0"/>
              </a:rPr>
              <a:t>	open = false;</a:t>
            </a:r>
          </a:p>
          <a:p>
            <a:pPr marL="0" indent="0">
              <a:lnSpc>
                <a:spcPct val="80000"/>
              </a:lnSpc>
            </a:pPr>
            <a:r>
              <a:rPr lang="en-GB" sz="1600" dirty="0">
                <a:latin typeface="Comic Sans MS" charset="0"/>
                <a:ea typeface="ＭＳ Ｐゴシック" charset="0"/>
                <a:cs typeface="ＭＳ Ｐゴシック" charset="0"/>
              </a:rPr>
              <a:t>      	</a:t>
            </a:r>
            <a:r>
              <a:rPr lang="en-GB" sz="1600" dirty="0" err="1">
                <a:latin typeface="Comic Sans MS" charset="0"/>
                <a:ea typeface="ＭＳ Ｐゴシック" charset="0"/>
                <a:cs typeface="ＭＳ Ｐゴシック" charset="0"/>
              </a:rPr>
              <a:t>closedOrCanceled</a:t>
            </a:r>
            <a:r>
              <a:rPr lang="en-GB" sz="1600" dirty="0">
                <a:latin typeface="Comic Sans MS" charset="0"/>
                <a:ea typeface="ＭＳ Ｐゴシック" charset="0"/>
                <a:cs typeface="ＭＳ Ｐゴシック" charset="0"/>
              </a:rPr>
              <a:t> = true;</a:t>
            </a:r>
          </a:p>
          <a:p>
            <a:pPr marL="0" indent="0">
              <a:lnSpc>
                <a:spcPct val="80000"/>
              </a:lnSpc>
            </a:pPr>
            <a:r>
              <a:rPr lang="en-GB" sz="1600" dirty="0">
                <a:latin typeface="Comic Sans MS" charset="0"/>
                <a:ea typeface="ＭＳ Ｐゴシック" charset="0"/>
                <a:cs typeface="ＭＳ Ｐゴシック" charset="0"/>
              </a:rPr>
              <a:t>      	</a:t>
            </a:r>
            <a:r>
              <a:rPr lang="en-GB" sz="1600" dirty="0" err="1">
                <a:latin typeface="Comic Sans MS" charset="0"/>
                <a:ea typeface="ＭＳ Ｐゴシック" charset="0"/>
                <a:cs typeface="ＭＳ Ｐゴシック" charset="0"/>
              </a:rPr>
              <a:t>unregisterStudents</a:t>
            </a:r>
            <a:r>
              <a:rPr lang="en-GB" sz="1600" dirty="0">
                <a:latin typeface="Comic Sans MS" charset="0"/>
                <a:ea typeface="ＭＳ Ｐゴシック" charset="0"/>
                <a:cs typeface="ＭＳ Ｐゴシック" charset="0"/>
              </a:rPr>
              <a:t>();</a:t>
            </a:r>
          </a:p>
          <a:p>
            <a:pPr marL="0" indent="0">
              <a:lnSpc>
                <a:spcPct val="80000"/>
              </a:lnSpc>
            </a:pPr>
            <a:r>
              <a:rPr lang="en-GB" sz="1600" dirty="0">
                <a:latin typeface="Comic Sans MS" charset="0"/>
                <a:ea typeface="ＭＳ Ｐゴシック" charset="0"/>
                <a:cs typeface="ＭＳ Ｐゴシック" charset="0"/>
              </a:rPr>
              <a:t>      }</a:t>
            </a:r>
          </a:p>
          <a:p>
            <a:pPr marL="0" indent="0">
              <a:lnSpc>
                <a:spcPct val="80000"/>
              </a:lnSpc>
            </a:pPr>
            <a:r>
              <a:rPr lang="en-GB" sz="1600" dirty="0">
                <a:latin typeface="Comic Sans MS" charset="0"/>
                <a:ea typeface="ＭＳ Ｐゴシック" charset="0"/>
                <a:cs typeface="ＭＳ Ｐゴシック" charset="0"/>
              </a:rPr>
              <a:t>}</a:t>
            </a:r>
          </a:p>
        </p:txBody>
      </p:sp>
      <p:pic>
        <p:nvPicPr>
          <p:cNvPr id="172037" name="Picture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44624"/>
            <a:ext cx="5410200" cy="2490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14F6F305-04E4-5E4D-BE4E-D65C3C550673}" type="slidenum">
              <a:rPr lang="en-US" smtClean="0"/>
              <a:pPr/>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084"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Example</a:t>
            </a:r>
          </a:p>
        </p:txBody>
      </p:sp>
      <p:sp>
        <p:nvSpPr>
          <p:cNvPr id="174085" name="Rectangle 4"/>
          <p:cNvSpPr>
            <a:spLocks noChangeArrowheads="1"/>
          </p:cNvSpPr>
          <p:nvPr/>
        </p:nvSpPr>
        <p:spPr bwMode="auto">
          <a:xfrm>
            <a:off x="714375" y="2643188"/>
            <a:ext cx="8153400" cy="433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GB" sz="1600" b="1" dirty="0">
                <a:latin typeface="Comic Sans MS" charset="0"/>
              </a:rPr>
              <a:t>public void </a:t>
            </a:r>
            <a:r>
              <a:rPr lang="en-GB" sz="1600" b="1" dirty="0" err="1">
                <a:latin typeface="Comic Sans MS" charset="0"/>
              </a:rPr>
              <a:t>requestToRegister</a:t>
            </a:r>
            <a:r>
              <a:rPr lang="en-GB" sz="1600" b="1" dirty="0">
                <a:latin typeface="Comic Sans MS" charset="0"/>
              </a:rPr>
              <a:t>(Student </a:t>
            </a:r>
            <a:r>
              <a:rPr lang="en-GB" sz="1600" b="1" dirty="0" err="1">
                <a:latin typeface="Comic Sans MS" charset="0"/>
              </a:rPr>
              <a:t>aStudent</a:t>
            </a:r>
            <a:r>
              <a:rPr lang="en-GB" sz="1600" b="1" dirty="0">
                <a:latin typeface="Comic Sans MS" charset="0"/>
              </a:rPr>
              <a:t>) {</a:t>
            </a:r>
          </a:p>
          <a:p>
            <a:r>
              <a:rPr lang="en-GB" sz="1600" b="1" dirty="0">
                <a:latin typeface="Comic Sans MS" charset="0"/>
              </a:rPr>
              <a:t>    if (open) { // must be in one of the two 'Open' states </a:t>
            </a:r>
          </a:p>
          <a:p>
            <a:r>
              <a:rPr lang="en-GB" sz="1600" b="1" dirty="0">
                <a:latin typeface="Comic Sans MS" charset="0"/>
              </a:rPr>
              <a:t>         Course </a:t>
            </a:r>
            <a:r>
              <a:rPr lang="en-GB" sz="1600" b="1" dirty="0" err="1">
                <a:latin typeface="Comic Sans MS" charset="0"/>
              </a:rPr>
              <a:t>prereq</a:t>
            </a:r>
            <a:r>
              <a:rPr lang="en-GB" sz="1600" b="1" dirty="0">
                <a:latin typeface="Comic Sans MS" charset="0"/>
              </a:rPr>
              <a:t> = </a:t>
            </a:r>
            <a:r>
              <a:rPr lang="en-GB" sz="1600" b="1" dirty="0" err="1">
                <a:latin typeface="Comic Sans MS" charset="0"/>
              </a:rPr>
              <a:t>course.getPrerequisite</a:t>
            </a:r>
            <a:r>
              <a:rPr lang="en-GB" sz="1600" b="1" dirty="0">
                <a:latin typeface="Comic Sans MS" charset="0"/>
              </a:rPr>
              <a:t>();</a:t>
            </a:r>
          </a:p>
          <a:p>
            <a:r>
              <a:rPr lang="en-GB" sz="1600" b="1" dirty="0">
                <a:latin typeface="Comic Sans MS" charset="0"/>
              </a:rPr>
              <a:t>         bool </a:t>
            </a:r>
            <a:r>
              <a:rPr lang="en-GB" sz="1600" b="1" dirty="0" err="1">
                <a:latin typeface="Comic Sans MS" charset="0"/>
              </a:rPr>
              <a:t>hasPrerequisite</a:t>
            </a:r>
            <a:r>
              <a:rPr lang="en-GB" sz="1600" b="1" dirty="0">
                <a:latin typeface="Comic Sans MS" charset="0"/>
              </a:rPr>
              <a:t> = </a:t>
            </a:r>
            <a:r>
              <a:rPr lang="en-GB" sz="1600" b="1" dirty="0" err="1">
                <a:latin typeface="Comic Sans MS" charset="0"/>
              </a:rPr>
              <a:t>aStudent.hasPassedCourse</a:t>
            </a:r>
            <a:r>
              <a:rPr lang="en-GB" sz="1600" b="1" dirty="0">
                <a:latin typeface="Comic Sans MS" charset="0"/>
              </a:rPr>
              <a:t>(</a:t>
            </a:r>
            <a:r>
              <a:rPr lang="en-GB" sz="1600" b="1" dirty="0" err="1">
                <a:latin typeface="Comic Sans MS" charset="0"/>
              </a:rPr>
              <a:t>prereq</a:t>
            </a:r>
            <a:r>
              <a:rPr lang="en-GB" sz="1600" b="1" dirty="0">
                <a:latin typeface="Comic Sans MS" charset="0"/>
              </a:rPr>
              <a:t>);</a:t>
            </a:r>
          </a:p>
          <a:p>
            <a:r>
              <a:rPr lang="en-GB" sz="1600" b="1" dirty="0">
                <a:latin typeface="Comic Sans MS" charset="0"/>
              </a:rPr>
              <a:t>         if (</a:t>
            </a:r>
            <a:r>
              <a:rPr lang="en-GB" sz="1600" b="1" dirty="0" err="1">
                <a:latin typeface="Comic Sans MS" charset="0"/>
              </a:rPr>
              <a:t>hasPrerequisite</a:t>
            </a:r>
            <a:r>
              <a:rPr lang="en-GB" sz="1600" b="1" dirty="0">
                <a:latin typeface="Comic Sans MS" charset="0"/>
              </a:rPr>
              <a:t>) {</a:t>
            </a:r>
          </a:p>
          <a:p>
            <a:r>
              <a:rPr lang="en-GB" sz="1600" b="1" dirty="0">
                <a:latin typeface="Comic Sans MS" charset="0"/>
              </a:rPr>
              <a:t>             // Indirectly calls </a:t>
            </a:r>
            <a:r>
              <a:rPr lang="en-GB" sz="1600" b="1" dirty="0" err="1">
                <a:latin typeface="Comic Sans MS" charset="0"/>
              </a:rPr>
              <a:t>addToRegistrationList</a:t>
            </a:r>
            <a:endParaRPr lang="en-GB" sz="1600" b="1" dirty="0">
              <a:latin typeface="Comic Sans MS" charset="0"/>
            </a:endParaRPr>
          </a:p>
          <a:p>
            <a:r>
              <a:rPr lang="en-GB" sz="1600" b="1" dirty="0">
                <a:latin typeface="Comic Sans MS" charset="0"/>
              </a:rPr>
              <a:t>             new Registration(this, </a:t>
            </a:r>
            <a:r>
              <a:rPr lang="en-GB" sz="1600" b="1" dirty="0" err="1">
                <a:latin typeface="Comic Sans MS" charset="0"/>
              </a:rPr>
              <a:t>aStudent</a:t>
            </a:r>
            <a:r>
              <a:rPr lang="en-GB" sz="1600" b="1" dirty="0">
                <a:latin typeface="Comic Sans MS" charset="0"/>
              </a:rPr>
              <a:t>);</a:t>
            </a:r>
          </a:p>
          <a:p>
            <a:r>
              <a:rPr lang="en-GB" sz="1600" b="1" dirty="0">
                <a:latin typeface="Comic Sans MS" charset="0"/>
              </a:rPr>
              <a:t>        }</a:t>
            </a:r>
          </a:p>
          <a:p>
            <a:r>
              <a:rPr lang="en-GB" sz="1600" b="1" dirty="0">
                <a:latin typeface="Comic Sans MS" charset="0"/>
              </a:rPr>
              <a:t>       // Check for automatic transition to 'Closed' state</a:t>
            </a:r>
          </a:p>
          <a:p>
            <a:r>
              <a:rPr lang="en-GB" sz="1600" b="1" dirty="0">
                <a:latin typeface="Comic Sans MS" charset="0"/>
              </a:rPr>
              <a:t>       if (</a:t>
            </a:r>
            <a:r>
              <a:rPr lang="en-GB" sz="1600" b="1" dirty="0" err="1">
                <a:latin typeface="Comic Sans MS" charset="0"/>
              </a:rPr>
              <a:t>registrationList.size</a:t>
            </a:r>
            <a:r>
              <a:rPr lang="en-GB" sz="1600" b="1" dirty="0">
                <a:latin typeface="Comic Sans MS" charset="0"/>
              </a:rPr>
              <a:t>() &gt;= </a:t>
            </a:r>
            <a:r>
              <a:rPr lang="en-GB" sz="1600" b="1" dirty="0" err="1">
                <a:latin typeface="Comic Sans MS" charset="0"/>
              </a:rPr>
              <a:t>course.getMaximum</a:t>
            </a:r>
            <a:r>
              <a:rPr lang="en-GB" sz="1600" b="1" dirty="0">
                <a:latin typeface="Comic Sans MS" charset="0"/>
              </a:rPr>
              <a:t>()) {</a:t>
            </a:r>
          </a:p>
          <a:p>
            <a:r>
              <a:rPr lang="en-GB" sz="1600" b="1" dirty="0">
                <a:latin typeface="Comic Sans MS" charset="0"/>
              </a:rPr>
              <a:t>           // to 'Closed' state</a:t>
            </a:r>
          </a:p>
          <a:p>
            <a:r>
              <a:rPr lang="en-GB" sz="1600" b="1" dirty="0">
                <a:latin typeface="Comic Sans MS" charset="0"/>
              </a:rPr>
              <a:t>           open = false;</a:t>
            </a:r>
          </a:p>
          <a:p>
            <a:r>
              <a:rPr lang="en-GB" sz="1600" b="1" dirty="0">
                <a:latin typeface="Comic Sans MS" charset="0"/>
              </a:rPr>
              <a:t>           </a:t>
            </a:r>
            <a:r>
              <a:rPr lang="en-GB" sz="1600" b="1" dirty="0" err="1">
                <a:latin typeface="Comic Sans MS" charset="0"/>
              </a:rPr>
              <a:t>closedOrCanceled</a:t>
            </a:r>
            <a:r>
              <a:rPr lang="en-GB" sz="1600" b="1" dirty="0">
                <a:latin typeface="Comic Sans MS" charset="0"/>
              </a:rPr>
              <a:t> = true;</a:t>
            </a:r>
          </a:p>
          <a:p>
            <a:r>
              <a:rPr lang="en-GB" sz="1600" b="1" dirty="0">
                <a:latin typeface="Comic Sans MS" charset="0"/>
              </a:rPr>
              <a:t>       } </a:t>
            </a:r>
          </a:p>
          <a:p>
            <a:r>
              <a:rPr lang="en-GB" sz="1600" b="1" dirty="0">
                <a:latin typeface="Comic Sans MS" charset="0"/>
              </a:rPr>
              <a:t>    }</a:t>
            </a:r>
          </a:p>
          <a:p>
            <a:r>
              <a:rPr lang="en-GB" sz="1600" b="1" dirty="0">
                <a:latin typeface="Comic Sans MS" charset="0"/>
              </a:rPr>
              <a:t>}</a:t>
            </a:r>
          </a:p>
          <a:p>
            <a:pPr>
              <a:lnSpc>
                <a:spcPct val="50000"/>
              </a:lnSpc>
              <a:spcBef>
                <a:spcPct val="50000"/>
              </a:spcBef>
            </a:pPr>
            <a:r>
              <a:rPr lang="en-GB" sz="1800" b="1" dirty="0">
                <a:latin typeface="Comic Sans MS" charset="0"/>
                <a:cs typeface="Times" charset="0"/>
              </a:rPr>
              <a:t> </a:t>
            </a:r>
            <a:endParaRPr lang="en-US" sz="1800" b="1" dirty="0">
              <a:latin typeface="Comic Sans MS" charset="0"/>
              <a:cs typeface="Times" charset="0"/>
            </a:endParaRPr>
          </a:p>
        </p:txBody>
      </p:sp>
      <p:pic>
        <p:nvPicPr>
          <p:cNvPr id="174086" name="Picture 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0313" y="214313"/>
            <a:ext cx="5548312" cy="2460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Slide Number Placeholder 1"/>
          <p:cNvSpPr>
            <a:spLocks noGrp="1"/>
          </p:cNvSpPr>
          <p:nvPr>
            <p:ph type="sldNum" sz="quarter" idx="12"/>
          </p:nvPr>
        </p:nvSpPr>
        <p:spPr/>
        <p:txBody>
          <a:bodyPr/>
          <a:lstStyle/>
          <a:p>
            <a:fld id="{14F6F305-04E4-5E4D-BE4E-D65C3C550673}" type="slidenum">
              <a:rPr lang="en-US" smtClean="0"/>
              <a:p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6132" name="Rectangle 2"/>
          <p:cNvSpPr>
            <a:spLocks noGrp="1" noChangeArrowheads="1"/>
          </p:cNvSpPr>
          <p:nvPr>
            <p:ph type="title"/>
          </p:nvPr>
        </p:nvSpPr>
        <p:spPr/>
        <p:txBody>
          <a:bodyPr/>
          <a:lstStyle/>
          <a:p>
            <a:r>
              <a:rPr lang="en-US" dirty="0">
                <a:latin typeface="Arial" charset="0"/>
                <a:ea typeface="ＭＳ Ｐゴシック" charset="0"/>
                <a:cs typeface="ＭＳ Ｐゴシック" charset="0"/>
              </a:rPr>
              <a:t>Example: the </a:t>
            </a:r>
            <a:r>
              <a:rPr lang="en-US" dirty="0" err="1">
                <a:latin typeface="Arial" charset="0"/>
                <a:ea typeface="ＭＳ Ｐゴシック" charset="0"/>
                <a:cs typeface="ＭＳ Ｐゴシック" charset="0"/>
              </a:rPr>
              <a:t>CourseSection</a:t>
            </a:r>
            <a:r>
              <a:rPr lang="en-US" dirty="0">
                <a:latin typeface="Arial" charset="0"/>
                <a:ea typeface="ＭＳ Ｐゴシック" charset="0"/>
                <a:cs typeface="ＭＳ Ｐゴシック" charset="0"/>
              </a:rPr>
              <a:t> class</a:t>
            </a:r>
          </a:p>
        </p:txBody>
      </p:sp>
      <p:sp>
        <p:nvSpPr>
          <p:cNvPr id="176133" name="Rectangle 4"/>
          <p:cNvSpPr>
            <a:spLocks noChangeArrowheads="1"/>
          </p:cNvSpPr>
          <p:nvPr/>
        </p:nvSpPr>
        <p:spPr bwMode="auto">
          <a:xfrm>
            <a:off x="1066800" y="1206500"/>
            <a:ext cx="7391400" cy="50165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GB" sz="1600" b="1">
                <a:latin typeface="Comic Sans MS" charset="0"/>
              </a:rPr>
              <a:t>  // Private method to remove all registrations</a:t>
            </a:r>
          </a:p>
          <a:p>
            <a:r>
              <a:rPr lang="en-GB" sz="1600" b="1">
                <a:latin typeface="Comic Sans MS" charset="0"/>
              </a:rPr>
              <a:t>  // Activity associated with 'Canceled' state.</a:t>
            </a:r>
          </a:p>
          <a:p>
            <a:r>
              <a:rPr lang="en-GB" sz="1600" b="1">
                <a:latin typeface="Comic Sans MS" charset="0"/>
              </a:rPr>
              <a:t>  private void unregisterStudents()</a:t>
            </a:r>
          </a:p>
          <a:p>
            <a:r>
              <a:rPr lang="en-GB" sz="1600" b="1">
                <a:latin typeface="Comic Sans MS" charset="0"/>
              </a:rPr>
              <a:t> {</a:t>
            </a:r>
          </a:p>
          <a:p>
            <a:r>
              <a:rPr lang="en-GB" sz="1600" b="1">
                <a:latin typeface="Comic Sans MS" charset="0"/>
              </a:rPr>
              <a:t>   Iterator it = registrationList.iterator();</a:t>
            </a:r>
          </a:p>
          <a:p>
            <a:r>
              <a:rPr lang="en-GB" sz="1600" b="1">
                <a:latin typeface="Comic Sans MS" charset="0"/>
              </a:rPr>
              <a:t>   while (it.hasNext())</a:t>
            </a:r>
          </a:p>
          <a:p>
            <a:r>
              <a:rPr lang="en-GB" sz="1600" b="1">
                <a:latin typeface="Comic Sans MS" charset="0"/>
              </a:rPr>
              <a:t>   {  </a:t>
            </a:r>
          </a:p>
          <a:p>
            <a:r>
              <a:rPr lang="en-GB" sz="1600" b="1">
                <a:latin typeface="Comic Sans MS" charset="0"/>
              </a:rPr>
              <a:t>       Registration r = (Registration)it.next();</a:t>
            </a:r>
          </a:p>
          <a:p>
            <a:r>
              <a:rPr lang="en-GB" sz="1600" b="1">
                <a:latin typeface="Comic Sans MS" charset="0"/>
              </a:rPr>
              <a:t>       r.unregisterStudent();</a:t>
            </a:r>
          </a:p>
          <a:p>
            <a:r>
              <a:rPr lang="en-GB" sz="1600" b="1">
                <a:latin typeface="Comic Sans MS" charset="0"/>
              </a:rPr>
              <a:t>       it.remove();</a:t>
            </a:r>
          </a:p>
          <a:p>
            <a:r>
              <a:rPr lang="en-GB" sz="1600" b="1">
                <a:latin typeface="Comic Sans MS" charset="0"/>
              </a:rPr>
              <a:t>    }</a:t>
            </a:r>
          </a:p>
          <a:p>
            <a:r>
              <a:rPr lang="en-GB" sz="1600" b="1">
                <a:latin typeface="Comic Sans MS" charset="0"/>
              </a:rPr>
              <a:t> }</a:t>
            </a:r>
          </a:p>
          <a:p>
            <a:endParaRPr lang="en-GB" sz="1600" b="1">
              <a:latin typeface="Comic Sans MS" charset="0"/>
            </a:endParaRPr>
          </a:p>
          <a:p>
            <a:r>
              <a:rPr lang="en-GB" sz="1600" b="1">
                <a:latin typeface="Comic Sans MS" charset="0"/>
              </a:rPr>
              <a:t> // Called within this package only, by the constructor of</a:t>
            </a:r>
          </a:p>
          <a:p>
            <a:r>
              <a:rPr lang="en-GB" sz="1600" b="1">
                <a:latin typeface="Comic Sans MS" charset="0"/>
              </a:rPr>
              <a:t> // Registration to ensure the link is bi-directional</a:t>
            </a:r>
          </a:p>
          <a:p>
            <a:r>
              <a:rPr lang="en-GB" sz="1600" b="1">
                <a:latin typeface="Comic Sans MS" charset="0"/>
              </a:rPr>
              <a:t> void addToRegistrationList(Registration newRegistration)</a:t>
            </a:r>
          </a:p>
          <a:p>
            <a:r>
              <a:rPr lang="en-GB" sz="1600" b="1">
                <a:latin typeface="Comic Sans MS" charset="0"/>
              </a:rPr>
              <a:t> {</a:t>
            </a:r>
          </a:p>
          <a:p>
            <a:r>
              <a:rPr lang="en-GB" sz="1600" b="1">
                <a:latin typeface="Comic Sans MS" charset="0"/>
              </a:rPr>
              <a:t>    registrationList.add(newRegistration);</a:t>
            </a:r>
          </a:p>
          <a:p>
            <a:r>
              <a:rPr lang="en-GB" sz="1600" b="1">
                <a:latin typeface="Comic Sans MS" charset="0"/>
              </a:rPr>
              <a:t>  }</a:t>
            </a:r>
          </a:p>
          <a:p>
            <a:r>
              <a:rPr lang="en-GB" sz="1600" b="1">
                <a:latin typeface="Comic Sans MS" charset="0"/>
              </a:rPr>
              <a:t>} </a:t>
            </a:r>
          </a:p>
        </p:txBody>
      </p:sp>
      <p:sp>
        <p:nvSpPr>
          <p:cNvPr id="2" name="Slide Number Placeholder 1"/>
          <p:cNvSpPr>
            <a:spLocks noGrp="1"/>
          </p:cNvSpPr>
          <p:nvPr>
            <p:ph type="sldNum" sz="quarter" idx="12"/>
          </p:nvPr>
        </p:nvSpPr>
        <p:spPr/>
        <p:txBody>
          <a:bodyPr/>
          <a:lstStyle/>
          <a:p>
            <a:fld id="{14F6F305-04E4-5E4D-BE4E-D65C3C550673}" type="slidenum">
              <a:rPr lang="en-US" smtClean="0"/>
              <a:pPr/>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8180" name="Rectangle 2"/>
          <p:cNvSpPr>
            <a:spLocks noGrp="1" noChangeArrowheads="1"/>
          </p:cNvSpPr>
          <p:nvPr>
            <p:ph type="title"/>
          </p:nvPr>
        </p:nvSpPr>
        <p:spPr/>
        <p:txBody>
          <a:bodyPr/>
          <a:lstStyle/>
          <a:p>
            <a:r>
              <a:rPr lang="en-GB" dirty="0">
                <a:latin typeface="Arial" charset="0"/>
                <a:ea typeface="ＭＳ Ｐゴシック" charset="0"/>
                <a:cs typeface="Times" charset="0"/>
              </a:rPr>
              <a:t>Difficulties and risks in </a:t>
            </a:r>
            <a:r>
              <a:rPr lang="en-GB" dirty="0" err="1">
                <a:latin typeface="Arial" charset="0"/>
                <a:ea typeface="ＭＳ Ｐゴシック" charset="0"/>
                <a:cs typeface="Times" charset="0"/>
              </a:rPr>
              <a:t>modeling</a:t>
            </a:r>
            <a:r>
              <a:rPr lang="en-GB" dirty="0">
                <a:latin typeface="Arial" charset="0"/>
                <a:ea typeface="ＭＳ Ｐゴシック" charset="0"/>
                <a:cs typeface="Times" charset="0"/>
              </a:rPr>
              <a:t> interactions and behaviour</a:t>
            </a:r>
            <a:r>
              <a:rPr lang="en-US" dirty="0">
                <a:latin typeface="Arial" charset="0"/>
                <a:ea typeface="ＭＳ Ｐゴシック" charset="0"/>
                <a:cs typeface="ＭＳ Ｐゴシック" charset="0"/>
              </a:rPr>
              <a:t> </a:t>
            </a:r>
          </a:p>
        </p:txBody>
      </p:sp>
      <p:sp>
        <p:nvSpPr>
          <p:cNvPr id="178181" name="Rectangle 3"/>
          <p:cNvSpPr>
            <a:spLocks noGrp="1" noChangeArrowheads="1"/>
          </p:cNvSpPr>
          <p:nvPr>
            <p:ph type="body" idx="1"/>
          </p:nvPr>
        </p:nvSpPr>
        <p:spPr/>
        <p:txBody>
          <a:bodyPr/>
          <a:lstStyle/>
          <a:p>
            <a:pPr marL="0" indent="0"/>
            <a:r>
              <a:rPr lang="en-GB" sz="2000" dirty="0">
                <a:latin typeface="Times" charset="0"/>
                <a:ea typeface="ＭＳ Ｐゴシック" charset="0"/>
                <a:cs typeface="Times" charset="0"/>
              </a:rPr>
              <a:t>Dynamic modelling is a difficult skill </a:t>
            </a:r>
          </a:p>
          <a:p>
            <a:pPr lvl="1"/>
            <a:r>
              <a:rPr lang="en-GB" sz="2000" dirty="0">
                <a:highlight>
                  <a:srgbClr val="FFFF00"/>
                </a:highlight>
                <a:latin typeface="Times" charset="0"/>
                <a:ea typeface="ＭＳ Ｐゴシック" charset="0"/>
                <a:cs typeface="Times" charset="0"/>
              </a:rPr>
              <a:t>In a large system there are a very large number of possible paths a system can take.</a:t>
            </a:r>
          </a:p>
          <a:p>
            <a:pPr lvl="1"/>
            <a:r>
              <a:rPr lang="en-GB" sz="2000" dirty="0">
                <a:latin typeface="Times" charset="0"/>
                <a:ea typeface="ＭＳ Ｐゴシック" charset="0"/>
                <a:cs typeface="Times" charset="0"/>
              </a:rPr>
              <a:t>It is hard to choose the classes to which to allocate each behaviour:</a:t>
            </a:r>
          </a:p>
          <a:p>
            <a:pPr lvl="2"/>
            <a:r>
              <a:rPr lang="en-GB" sz="2000" i="1" dirty="0">
                <a:latin typeface="Times" charset="0"/>
                <a:ea typeface="ＭＳ Ｐゴシック" charset="0"/>
                <a:cs typeface="Times" charset="0"/>
              </a:rPr>
              <a:t>Ensure that skilled developers lead the process, and ensure that all aspects of your models are properly reviewed.  </a:t>
            </a:r>
          </a:p>
          <a:p>
            <a:pPr lvl="2"/>
            <a:r>
              <a:rPr lang="en-GB" sz="2000" i="1" dirty="0">
                <a:latin typeface="Times" charset="0"/>
                <a:ea typeface="ＭＳ Ｐゴシック" charset="0"/>
                <a:cs typeface="Times" charset="0"/>
              </a:rPr>
              <a:t>Work iteratively: </a:t>
            </a:r>
          </a:p>
          <a:p>
            <a:pPr lvl="3"/>
            <a:r>
              <a:rPr lang="en-GB" sz="1800" i="1" dirty="0">
                <a:highlight>
                  <a:srgbClr val="00FFFF"/>
                </a:highlight>
                <a:latin typeface="Times" charset="0"/>
                <a:ea typeface="ＭＳ Ｐゴシック" charset="0"/>
                <a:cs typeface="Times" charset="0"/>
              </a:rPr>
              <a:t>Develop initial class diagrams, use cases, responsibilities, interaction diagrams and state diagrams;</a:t>
            </a:r>
          </a:p>
          <a:p>
            <a:pPr lvl="3"/>
            <a:r>
              <a:rPr lang="en-GB" sz="1800" i="1" dirty="0">
                <a:highlight>
                  <a:srgbClr val="00FFFF"/>
                </a:highlight>
                <a:latin typeface="Times" charset="0"/>
                <a:ea typeface="ＭＳ Ｐゴシック" charset="0"/>
                <a:cs typeface="Times" charset="0"/>
              </a:rPr>
              <a:t>Then go back and verify that all of these are consistent, modifying them as necessary. </a:t>
            </a:r>
          </a:p>
          <a:p>
            <a:pPr lvl="2"/>
            <a:r>
              <a:rPr lang="en-GB" sz="2000" i="1" dirty="0">
                <a:latin typeface="Times" charset="0"/>
                <a:ea typeface="ＭＳ Ｐゴシック" charset="0"/>
                <a:cs typeface="Times" charset="0"/>
              </a:rPr>
              <a:t>Drawing different diagrams that capture related, but distinct, information will often highlight problems. </a:t>
            </a:r>
            <a:endParaRPr lang="en-US" sz="2000" dirty="0">
              <a:latin typeface="Times" charset="0"/>
              <a:ea typeface="ＭＳ Ｐゴシック" charset="0"/>
            </a:endParaRPr>
          </a:p>
        </p:txBody>
      </p:sp>
      <p:sp>
        <p:nvSpPr>
          <p:cNvPr id="2" name="Slide Number Placeholder 1"/>
          <p:cNvSpPr>
            <a:spLocks noGrp="1"/>
          </p:cNvSpPr>
          <p:nvPr>
            <p:ph type="sldNum" sz="quarter" idx="12"/>
          </p:nvPr>
        </p:nvSpPr>
        <p:spPr/>
        <p:txBody>
          <a:bodyPr/>
          <a:lstStyle/>
          <a:p>
            <a:fld id="{14F6F305-04E4-5E4D-BE4E-D65C3C550673}" type="slidenum">
              <a:rPr lang="en-US" smtClean="0"/>
              <a:pPr/>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0228" name="Rectangle 2"/>
          <p:cNvSpPr>
            <a:spLocks noGrp="1" noChangeArrowheads="1"/>
          </p:cNvSpPr>
          <p:nvPr>
            <p:ph type="title"/>
          </p:nvPr>
        </p:nvSpPr>
        <p:spPr/>
        <p:txBody>
          <a:bodyPr/>
          <a:lstStyle/>
          <a:p>
            <a:r>
              <a:rPr lang="en-US">
                <a:latin typeface="Arial" charset="0"/>
                <a:ea typeface="ＭＳ Ｐゴシック" charset="0"/>
                <a:cs typeface="ＭＳ Ｐゴシック" charset="0"/>
              </a:rPr>
              <a:t>For More Information	</a:t>
            </a:r>
          </a:p>
        </p:txBody>
      </p:sp>
      <p:sp>
        <p:nvSpPr>
          <p:cNvPr id="180229" name="Rectangle 3"/>
          <p:cNvSpPr>
            <a:spLocks noGrp="1" noChangeArrowheads="1"/>
          </p:cNvSpPr>
          <p:nvPr>
            <p:ph type="body" idx="1"/>
          </p:nvPr>
        </p:nvSpPr>
        <p:spPr/>
        <p:txBody>
          <a:bodyPr/>
          <a:lstStyle/>
          <a:p>
            <a:pPr marL="0" indent="0"/>
            <a:r>
              <a:rPr lang="en-US" sz="2000" dirty="0">
                <a:latin typeface="Times" charset="0"/>
                <a:ea typeface="ＭＳ Ｐゴシック" charset="0"/>
                <a:cs typeface="ＭＳ Ｐゴシック" charset="0"/>
              </a:rPr>
              <a:t>Pleas find the following book in the </a:t>
            </a:r>
            <a:r>
              <a:rPr lang="ja-JP" altLang="en-US" sz="2000">
                <a:latin typeface="Times" charset="0"/>
                <a:ea typeface="ＭＳ Ｐゴシック" charset="0"/>
                <a:cs typeface="ＭＳ Ｐゴシック" charset="0"/>
              </a:rPr>
              <a:t>‘</a:t>
            </a:r>
            <a:r>
              <a:rPr lang="en-US" sz="2000" dirty="0" err="1">
                <a:latin typeface="Times" charset="0"/>
                <a:ea typeface="ＭＳ Ｐゴシック" charset="0"/>
                <a:cs typeface="ＭＳ Ｐゴシック" charset="0"/>
              </a:rPr>
              <a:t>ebooks</a:t>
            </a:r>
            <a:r>
              <a:rPr lang="ja-JP" altLang="en-US" sz="2000">
                <a:latin typeface="Times" charset="0"/>
                <a:ea typeface="ＭＳ Ｐゴシック" charset="0"/>
                <a:cs typeface="ＭＳ Ｐゴシック" charset="0"/>
              </a:rPr>
              <a:t>’</a:t>
            </a:r>
            <a:r>
              <a:rPr lang="en-US" sz="2000" dirty="0">
                <a:latin typeface="Times" charset="0"/>
                <a:ea typeface="ＭＳ Ｐゴシック" charset="0"/>
                <a:cs typeface="ＭＳ Ｐゴシック" charset="0"/>
              </a:rPr>
              <a:t> section of the library</a:t>
            </a:r>
          </a:p>
          <a:p>
            <a:pPr lvl="1"/>
            <a:r>
              <a:rPr lang="ja-JP" altLang="en-US" sz="2000">
                <a:latin typeface="Times" charset="0"/>
                <a:ea typeface="ＭＳ Ｐゴシック" charset="0"/>
              </a:rPr>
              <a:t>“</a:t>
            </a:r>
            <a:r>
              <a:rPr lang="en-US" sz="2000" dirty="0">
                <a:latin typeface="Times" charset="0"/>
                <a:ea typeface="ＭＳ Ｐゴシック" charset="0"/>
              </a:rPr>
              <a:t>Applying UML and Patterns: An Introduction to Object-Oriented Analysis and Design and Iterative Development, Third Edition, Craig </a:t>
            </a:r>
            <a:r>
              <a:rPr lang="en-US" sz="2000" dirty="0" err="1">
                <a:latin typeface="Times" charset="0"/>
                <a:ea typeface="ＭＳ Ｐゴシック" charset="0"/>
              </a:rPr>
              <a:t>Larman</a:t>
            </a:r>
            <a:r>
              <a:rPr lang="en-US" sz="2000" dirty="0">
                <a:latin typeface="Times" charset="0"/>
                <a:ea typeface="ＭＳ Ｐゴシック" charset="0"/>
              </a:rPr>
              <a:t>, Prentice Hall, 0-13-148906-6</a:t>
            </a:r>
          </a:p>
          <a:p>
            <a:pPr marL="0" indent="0"/>
            <a:r>
              <a:rPr lang="en-US" sz="2000" dirty="0">
                <a:latin typeface="Times" charset="0"/>
                <a:ea typeface="ＭＳ Ｐゴシック" charset="0"/>
                <a:cs typeface="ＭＳ Ｐゴシック" charset="0"/>
              </a:rPr>
              <a:t>AND</a:t>
            </a:r>
          </a:p>
          <a:p>
            <a:pPr marL="0" indent="0">
              <a:buFontTx/>
              <a:buAutoNum type="arabicPeriod"/>
            </a:pPr>
            <a:r>
              <a:rPr lang="en-US" sz="2000" dirty="0">
                <a:latin typeface="Times" charset="0"/>
                <a:ea typeface="ＭＳ Ｐゴシック" charset="0"/>
                <a:cs typeface="ＭＳ Ｐゴシック" charset="0"/>
              </a:rPr>
              <a:t> Read Chapter 14 for UML Interaction Diagrams</a:t>
            </a:r>
          </a:p>
          <a:p>
            <a:pPr marL="0" indent="0">
              <a:buFontTx/>
              <a:buAutoNum type="arabicPeriod"/>
            </a:pPr>
            <a:r>
              <a:rPr lang="en-US" sz="2000" dirty="0">
                <a:latin typeface="Times" charset="0"/>
                <a:ea typeface="ＭＳ Ｐゴシック" charset="0"/>
                <a:cs typeface="ＭＳ Ｐゴシック" charset="0"/>
              </a:rPr>
              <a:t> Read Chapter 28 for UML Activity Diagrams</a:t>
            </a:r>
          </a:p>
          <a:p>
            <a:pPr marL="0" indent="0">
              <a:buFontTx/>
              <a:buAutoNum type="arabicPeriod"/>
            </a:pPr>
            <a:r>
              <a:rPr lang="en-US" sz="2000" dirty="0">
                <a:latin typeface="Times" charset="0"/>
                <a:ea typeface="ＭＳ Ｐゴシック" charset="0"/>
                <a:cs typeface="ＭＳ Ｐゴシック" charset="0"/>
              </a:rPr>
              <a:t> Read Chapter 30 for UML State Diagrams</a:t>
            </a:r>
          </a:p>
        </p:txBody>
      </p:sp>
      <p:sp>
        <p:nvSpPr>
          <p:cNvPr id="2" name="Slide Number Placeholder 1"/>
          <p:cNvSpPr>
            <a:spLocks noGrp="1"/>
          </p:cNvSpPr>
          <p:nvPr>
            <p:ph type="sldNum" sz="quarter" idx="12"/>
          </p:nvPr>
        </p:nvSpPr>
        <p:spPr/>
        <p:txBody>
          <a:bodyPr/>
          <a:lstStyle/>
          <a:p>
            <a:fld id="{14F6F305-04E4-5E4D-BE4E-D65C3C550673}" type="slidenum">
              <a:rPr lang="en-US" smtClean="0"/>
              <a:pPr/>
              <a:t>80</a:t>
            </a:fld>
            <a:endParaRPr lang="en-US"/>
          </a:p>
        </p:txBody>
      </p:sp>
    </p:spTree>
  </p:cSld>
  <p:clrMapOvr>
    <a:masterClrMapping/>
  </p:clrMapOvr>
</p:sld>
</file>

<file path=ppt/theme/theme1.xml><?xml version="1.0" encoding="utf-8"?>
<a:theme xmlns:a="http://schemas.openxmlformats.org/drawingml/2006/main" name="LlosengMaster">
  <a:themeElements>
    <a:clrScheme name="LlosengMaster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losengMaster">
      <a:majorFont>
        <a:latin typeface="Arial"/>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 charset="0"/>
          </a:defRPr>
        </a:defPPr>
      </a:lstStyle>
    </a:lnDef>
  </a:objectDefaults>
  <a:extraClrSchemeLst>
    <a:extraClrScheme>
      <a:clrScheme name="LlosengMaster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losengMaster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losengMaster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losengMaster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losengMaster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losengMaster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losengMaster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C:\documents\prof\oo\livre\slides\LlosengMaster.pot</Template>
  <TotalTime>29028</TotalTime>
  <Words>11467</Words>
  <Application>Microsoft Macintosh PowerPoint</Application>
  <PresentationFormat>On-screen Show (4:3)</PresentationFormat>
  <Paragraphs>1406</Paragraphs>
  <Slides>80</Slides>
  <Notes>80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88" baseType="lpstr">
      <vt:lpstr>ＭＳ Ｐゴシック</vt:lpstr>
      <vt:lpstr>Arial</vt:lpstr>
      <vt:lpstr>Comic Sans MS</vt:lpstr>
      <vt:lpstr>Courier</vt:lpstr>
      <vt:lpstr>Times</vt:lpstr>
      <vt:lpstr>Times New Roman</vt:lpstr>
      <vt:lpstr>LlosengMaster</vt:lpstr>
      <vt:lpstr>Visio</vt:lpstr>
      <vt:lpstr>Modeling Interactions and Behavior</vt:lpstr>
      <vt:lpstr>Class Diagrams </vt:lpstr>
      <vt:lpstr>Modeling interactions and behavior</vt:lpstr>
      <vt:lpstr>Creating interaction diagrams</vt:lpstr>
      <vt:lpstr>Sequence Diagrams </vt:lpstr>
      <vt:lpstr>An example Sequence diagram</vt:lpstr>
      <vt:lpstr>Common interaction diagram notations: Classes and instances of classes</vt:lpstr>
      <vt:lpstr>Common interaction diagram notations: Actors</vt:lpstr>
      <vt:lpstr>Common interaction diagram notations: Messages</vt:lpstr>
      <vt:lpstr>Lifelines, messages, “found” or “starting” messages</vt:lpstr>
      <vt:lpstr>Illustrating replies or return Values</vt:lpstr>
      <vt:lpstr>Messages to “self” or “this”</vt:lpstr>
      <vt:lpstr>Instance creation</vt:lpstr>
      <vt:lpstr>Yet another example</vt:lpstr>
      <vt:lpstr>Object destruction</vt:lpstr>
      <vt:lpstr>Frames in UML sequence diagrams  </vt:lpstr>
      <vt:lpstr>UML supports different types of frames</vt:lpstr>
      <vt:lpstr>A conditional message</vt:lpstr>
      <vt:lpstr>A sequence diagram showing a student registration process</vt:lpstr>
      <vt:lpstr>UML Version 1 notation for conditional messages</vt:lpstr>
      <vt:lpstr>Mutually exclusive conditional messages</vt:lpstr>
      <vt:lpstr>Looping notation</vt:lpstr>
      <vt:lpstr>Looping notation</vt:lpstr>
      <vt:lpstr>Nested frames</vt:lpstr>
      <vt:lpstr>How to relate interaction diagrams (hierarchical notation)</vt:lpstr>
      <vt:lpstr>Polymorphic messages and cases</vt:lpstr>
      <vt:lpstr>Polymorphic messages and cases</vt:lpstr>
      <vt:lpstr>Asynchronous vs. synchronous messages</vt:lpstr>
      <vt:lpstr>Asynchronous vs. synchronous calls</vt:lpstr>
      <vt:lpstr>Sequence Diagrams </vt:lpstr>
      <vt:lpstr>Communication Diagrams </vt:lpstr>
      <vt:lpstr>Communication Diagrams</vt:lpstr>
      <vt:lpstr>Communication Diagrams –    same example, more details</vt:lpstr>
      <vt:lpstr>Communication Diagrams –    same example, more details</vt:lpstr>
      <vt:lpstr>Communication Diagrams –    same example, more details</vt:lpstr>
      <vt:lpstr>Communication Diagrams –    same example, more details</vt:lpstr>
      <vt:lpstr>Messages to “self” or “this”</vt:lpstr>
      <vt:lpstr>Instance creation in communication diagrams</vt:lpstr>
      <vt:lpstr>Sequence numbering</vt:lpstr>
      <vt:lpstr>Sequence numbering</vt:lpstr>
      <vt:lpstr>Sequence numbering</vt:lpstr>
      <vt:lpstr>Conditional messages</vt:lpstr>
      <vt:lpstr>Mutually exclusive conditional messages</vt:lpstr>
      <vt:lpstr>Iteration in communication diagrams</vt:lpstr>
      <vt:lpstr>Static method invocation (message to a class)</vt:lpstr>
      <vt:lpstr>Modeling polymorphic cases in communication diagrams</vt:lpstr>
      <vt:lpstr>Asynchronous messages in communication diagrams</vt:lpstr>
      <vt:lpstr>How to choose between using a sequence or communication diagram </vt:lpstr>
      <vt:lpstr>How to choose between using a sequence or communication diagram</vt:lpstr>
      <vt:lpstr>Behavior Model: State Diagrams </vt:lpstr>
      <vt:lpstr>State diagrams – an example</vt:lpstr>
      <vt:lpstr>States</vt:lpstr>
      <vt:lpstr>Transitions</vt:lpstr>
      <vt:lpstr>PowerPoint Presentation</vt:lpstr>
      <vt:lpstr>State diagrams – an example with conditional transitions   </vt:lpstr>
      <vt:lpstr>Activities in state diagrams </vt:lpstr>
      <vt:lpstr>State diagram – an example with activity </vt:lpstr>
      <vt:lpstr>Actions in state diagrams</vt:lpstr>
      <vt:lpstr>State diagram – an example with actions</vt:lpstr>
      <vt:lpstr>State diagrams – another example</vt:lpstr>
      <vt:lpstr>Nested substates and guard conditions</vt:lpstr>
      <vt:lpstr>State diagram – an example with substates</vt:lpstr>
      <vt:lpstr>Behavior model: Activity Diagrams </vt:lpstr>
      <vt:lpstr>Representing concurrency</vt:lpstr>
      <vt:lpstr>Representing concurrency</vt:lpstr>
      <vt:lpstr>Activity diagrams – an example</vt:lpstr>
      <vt:lpstr>Swimlanes</vt:lpstr>
      <vt:lpstr>Activity diagrams – an example with swimlanes</vt:lpstr>
      <vt:lpstr>Implementing classes based on Interaction Diagrams and Behavior Models</vt:lpstr>
      <vt:lpstr>Example</vt:lpstr>
      <vt:lpstr>Example</vt:lpstr>
      <vt:lpstr>Example</vt:lpstr>
      <vt:lpstr>Example</vt:lpstr>
      <vt:lpstr>Example</vt:lpstr>
      <vt:lpstr>Example: the CourseSection class</vt:lpstr>
      <vt:lpstr>Example: The CourseSection class</vt:lpstr>
      <vt:lpstr>Example</vt:lpstr>
      <vt:lpstr>Example: the CourseSection class</vt:lpstr>
      <vt:lpstr>Difficulties and risks in modeling interactions and behaviour </vt:lpstr>
      <vt:lpstr>For More Information </vt:lpstr>
    </vt:vector>
  </TitlesOfParts>
  <Company>University of Ottawa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 2100 Software Design II</dc:title>
  <dc:creator>Timothy C. Lethbridge</dc:creator>
  <cp:lastModifiedBy>Beste Bayhan</cp:lastModifiedBy>
  <cp:revision>425</cp:revision>
  <dcterms:created xsi:type="dcterms:W3CDTF">2012-04-17T08:33:00Z</dcterms:created>
  <dcterms:modified xsi:type="dcterms:W3CDTF">2024-11-21T12:20:57Z</dcterms:modified>
</cp:coreProperties>
</file>